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77" r:id="rId5"/>
    <p:sldId id="258" r:id="rId6"/>
    <p:sldId id="270" r:id="rId7"/>
    <p:sldId id="261" r:id="rId8"/>
    <p:sldId id="271" r:id="rId9"/>
    <p:sldId id="278" r:id="rId10"/>
    <p:sldId id="272" r:id="rId11"/>
    <p:sldId id="273" r:id="rId12"/>
    <p:sldId id="265" r:id="rId13"/>
    <p:sldId id="274" r:id="rId14"/>
    <p:sldId id="275" r:id="rId15"/>
    <p:sldId id="276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48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05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4D8"/>
                </a:solidFill>
              </a:rPr>
              <a:t>MÉMOIRE DE PROJET DE FIN D'ÉTUDES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14173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A5C"/>
                </a:solidFill>
              </a:rPr>
              <a:t>Automatisation de la Supervision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B3A5C"/>
                </a:solidFill>
              </a:rPr>
              <a:t>et de la Détection des Pannes Réseau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3291840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34564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</a:rPr>
              <a:t>PRÉSENTÉ PAR 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3675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</a:rPr>
              <a:t>Kouassi Yoo Nyong Kra Espérance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34564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</a:rPr>
              <a:t>Sous la direction de 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36758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</a:rPr>
              <a:t>Dr Alain CAPO-CHICHI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3931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3A5C"/>
                </a:solidFill>
              </a:rPr>
              <a:t>Maître assistant des Universités du CAMES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B3A5C"/>
                </a:solidFill>
              </a:rPr>
              <a:t>en Génie Informatique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4617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</a:rPr>
              <a:t>Master 2 Réseaux Informatique et Télécommunication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</a:rPr>
              <a:t>Année académique 2025 – 2026</a:t>
            </a:r>
            <a:endParaRPr lang="en-US" sz="1000" dirty="0"/>
          </a:p>
        </p:txBody>
      </p:sp>
      <p:pic>
        <p:nvPicPr>
          <p:cNvPr id="14" name="Image 13" descr="Une image contenant clipart, Graphique, conceptio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316975BC-3AB2-62E6-0D8C-3E5B6B7FE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03" y="79738"/>
            <a:ext cx="798086" cy="798086"/>
          </a:xfrm>
          <a:prstGeom prst="rect">
            <a:avLst/>
          </a:prstGeom>
        </p:spPr>
      </p:pic>
      <p:pic>
        <p:nvPicPr>
          <p:cNvPr id="16" name="Image 15" descr="Une image contenant logo, Graphique, clipart, symbole&#10;&#10;Le contenu généré par l’IA peut être incorrect.">
            <a:extLst>
              <a:ext uri="{FF2B5EF4-FFF2-40B4-BE49-F238E27FC236}">
                <a16:creationId xmlns:a16="http://schemas.microsoft.com/office/drawing/2014/main" id="{40085CD2-EFD3-ECE2-9125-9B5280988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673" y="97917"/>
            <a:ext cx="798087" cy="7980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pPr algn="ctr"/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274320" y="82296"/>
            <a:ext cx="8412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Introduction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54864" cy="4636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8BAAC5"/>
                </a:solidFill>
              </a:rPr>
              <a:t>Automatisation</a:t>
            </a:r>
            <a:r>
              <a:rPr lang="en-US" sz="800" dirty="0">
                <a:solidFill>
                  <a:srgbClr val="8BAAC5"/>
                </a:solidFill>
              </a:rPr>
              <a:t> de la Supervision et de la </a:t>
            </a:r>
            <a:r>
              <a:rPr lang="en-US" sz="800" dirty="0" err="1">
                <a:solidFill>
                  <a:srgbClr val="8BAAC5"/>
                </a:solidFill>
              </a:rPr>
              <a:t>Détection</a:t>
            </a:r>
            <a:r>
              <a:rPr lang="en-US" sz="800" dirty="0">
                <a:solidFill>
                  <a:srgbClr val="8BAAC5"/>
                </a:solidFill>
              </a:rPr>
              <a:t> des </a:t>
            </a:r>
            <a:r>
              <a:rPr lang="en-US" sz="800" dirty="0" err="1">
                <a:solidFill>
                  <a:srgbClr val="8BAAC5"/>
                </a:solidFill>
              </a:rPr>
              <a:t>Pannes</a:t>
            </a:r>
            <a:r>
              <a:rPr lang="en-US" sz="800" dirty="0">
                <a:solidFill>
                  <a:srgbClr val="8BAAC5"/>
                </a:solidFill>
              </a:rPr>
              <a:t> Réseau — OPEN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2880" y="1232154"/>
            <a:ext cx="8686800" cy="2679192"/>
          </a:xfrm>
          <a:prstGeom prst="rect">
            <a:avLst/>
          </a:prstGeom>
          <a:noFill/>
          <a:ln>
            <a:solidFill>
              <a:srgbClr val="D1DCE8"/>
            </a:solidFill>
          </a:ln>
        </p:spPr>
        <p:txBody>
          <a:bodyPr wrap="square" rtlCol="0" anchor="ctr"/>
          <a:lstStyle/>
          <a:p>
            <a:pPr marL="0" indent="0" algn="just">
              <a:spcAft>
                <a:spcPts val="400"/>
              </a:spcAft>
              <a:buNone/>
            </a:pPr>
            <a:r>
              <a:rPr lang="en-US" sz="2000" dirty="0">
                <a:solidFill>
                  <a:srgbClr val="111827"/>
                </a:solidFill>
              </a:rPr>
              <a:t>Le réseau </a:t>
            </a:r>
            <a:r>
              <a:rPr lang="en-US" sz="2000" dirty="0" err="1">
                <a:solidFill>
                  <a:srgbClr val="111827"/>
                </a:solidFill>
              </a:rPr>
              <a:t>est</a:t>
            </a:r>
            <a:r>
              <a:rPr lang="en-US" sz="2000" dirty="0">
                <a:solidFill>
                  <a:srgbClr val="111827"/>
                </a:solidFill>
              </a:rPr>
              <a:t> le </a:t>
            </a:r>
            <a:r>
              <a:rPr lang="en-US" sz="2000" dirty="0" err="1">
                <a:solidFill>
                  <a:srgbClr val="111827"/>
                </a:solidFill>
              </a:rPr>
              <a:t>système</a:t>
            </a:r>
            <a:r>
              <a:rPr lang="en-US" sz="2000" dirty="0">
                <a:solidFill>
                  <a:srgbClr val="111827"/>
                </a:solidFill>
              </a:rPr>
              <a:t> </a:t>
            </a:r>
            <a:r>
              <a:rPr lang="en-US" sz="2000" dirty="0" err="1">
                <a:solidFill>
                  <a:srgbClr val="111827"/>
                </a:solidFill>
              </a:rPr>
              <a:t>nerveux</a:t>
            </a:r>
            <a:r>
              <a:rPr lang="en-US" sz="2000" dirty="0">
                <a:solidFill>
                  <a:srgbClr val="111827"/>
                </a:solidFill>
              </a:rPr>
              <a:t> </a:t>
            </a:r>
            <a:r>
              <a:rPr lang="en-US" sz="2000" dirty="0" err="1">
                <a:solidFill>
                  <a:srgbClr val="111827"/>
                </a:solidFill>
              </a:rPr>
              <a:t>d'OPEN</a:t>
            </a:r>
            <a:r>
              <a:rPr lang="en-US" sz="2000" dirty="0">
                <a:solidFill>
                  <a:srgbClr val="111827"/>
                </a:solidFill>
              </a:rPr>
              <a:t> . </a:t>
            </a:r>
            <a:r>
              <a:rPr lang="fr-FR" sz="2000" dirty="0"/>
              <a:t>Le service client, la comptabilité, ainsi que plusieurs autres départements et la chaîne de production des smartphones OPEN G et OPEN PRO en dépendent en continu, 24h/24.</a:t>
            </a:r>
            <a:r>
              <a:rPr lang="en-US" sz="2000" dirty="0">
                <a:solidFill>
                  <a:srgbClr val="111827"/>
                </a:solidFill>
              </a:rPr>
              <a:t> </a:t>
            </a:r>
            <a:r>
              <a:rPr lang="en-US" sz="2000" dirty="0" err="1">
                <a:solidFill>
                  <a:srgbClr val="111827"/>
                </a:solidFill>
              </a:rPr>
              <a:t>Pourtant</a:t>
            </a:r>
            <a:r>
              <a:rPr lang="en-US" sz="2000" dirty="0">
                <a:solidFill>
                  <a:srgbClr val="111827"/>
                </a:solidFill>
              </a:rPr>
              <a:t>, la supervision réseau </a:t>
            </a:r>
            <a:r>
              <a:rPr lang="en-US" sz="2000" dirty="0" err="1">
                <a:solidFill>
                  <a:srgbClr val="111827"/>
                </a:solidFill>
              </a:rPr>
              <a:t>est</a:t>
            </a:r>
            <a:r>
              <a:rPr lang="en-US" sz="2000" dirty="0">
                <a:solidFill>
                  <a:srgbClr val="111827"/>
                </a:solidFill>
              </a:rPr>
              <a:t> encore </a:t>
            </a:r>
            <a:r>
              <a:rPr lang="en-US" sz="2000" dirty="0" err="1">
                <a:solidFill>
                  <a:srgbClr val="111827"/>
                </a:solidFill>
              </a:rPr>
              <a:t>majoritairement</a:t>
            </a:r>
            <a:r>
              <a:rPr lang="en-US" sz="2000" dirty="0">
                <a:solidFill>
                  <a:srgbClr val="111827"/>
                </a:solidFill>
              </a:rPr>
              <a:t> </a:t>
            </a:r>
            <a:r>
              <a:rPr lang="en-US" sz="2000" dirty="0" err="1">
                <a:solidFill>
                  <a:srgbClr val="111827"/>
                </a:solidFill>
              </a:rPr>
              <a:t>réalisée</a:t>
            </a:r>
            <a:r>
              <a:rPr lang="en-US" sz="2000" dirty="0">
                <a:solidFill>
                  <a:srgbClr val="111827"/>
                </a:solidFill>
              </a:rPr>
              <a:t> de manière </a:t>
            </a:r>
            <a:r>
              <a:rPr lang="en-US" sz="2000" dirty="0" err="1">
                <a:solidFill>
                  <a:srgbClr val="111827"/>
                </a:solidFill>
              </a:rPr>
              <a:t>manuelle</a:t>
            </a:r>
            <a:r>
              <a:rPr lang="en-US" sz="2000" dirty="0">
                <a:solidFill>
                  <a:srgbClr val="111827"/>
                </a:solidFill>
              </a:rPr>
              <a:t>. </a:t>
            </a:r>
            <a:r>
              <a:rPr lang="fr-FR" sz="2000" dirty="0"/>
              <a:t>Les pannes sont généralement détectées après leur survenue.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" y="0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" name="Text 2"/>
          <p:cNvSpPr/>
          <p:nvPr/>
        </p:nvSpPr>
        <p:spPr>
          <a:xfrm>
            <a:off x="182880" y="64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82296"/>
            <a:ext cx="7772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err="1">
                <a:solidFill>
                  <a:srgbClr val="FFFFFF"/>
                </a:solidFill>
              </a:rPr>
              <a:t>Problématique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502920"/>
            <a:ext cx="54864" cy="4636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89204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8BAAC5"/>
                </a:solidFill>
              </a:rPr>
              <a:t>Automatisation</a:t>
            </a:r>
            <a:r>
              <a:rPr lang="en-US" sz="800" dirty="0">
                <a:solidFill>
                  <a:srgbClr val="8BAAC5"/>
                </a:solidFill>
              </a:rPr>
              <a:t> de la Supervision et de la </a:t>
            </a:r>
            <a:r>
              <a:rPr lang="en-US" sz="800" dirty="0" err="1">
                <a:solidFill>
                  <a:srgbClr val="8BAAC5"/>
                </a:solidFill>
              </a:rPr>
              <a:t>Détection</a:t>
            </a:r>
            <a:r>
              <a:rPr lang="en-US" sz="800" dirty="0">
                <a:solidFill>
                  <a:srgbClr val="8BAAC5"/>
                </a:solidFill>
              </a:rPr>
              <a:t> des </a:t>
            </a:r>
            <a:r>
              <a:rPr lang="en-US" sz="800" dirty="0" err="1">
                <a:solidFill>
                  <a:srgbClr val="8BAAC5"/>
                </a:solidFill>
              </a:rPr>
              <a:t>Pannes</a:t>
            </a:r>
            <a:r>
              <a:rPr lang="en-US" sz="800" dirty="0">
                <a:solidFill>
                  <a:srgbClr val="8BAAC5"/>
                </a:solidFill>
              </a:rPr>
              <a:t> Réseau — OPEN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F3F6F9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645920"/>
            <a:ext cx="7863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500" b="1" dirty="0">
                <a:solidFill>
                  <a:srgbClr val="1B3A5C"/>
                </a:solidFill>
              </a:rPr>
              <a:t>« </a:t>
            </a:r>
            <a:r>
              <a:rPr lang="en-US" sz="2400" b="1" dirty="0">
                <a:solidFill>
                  <a:srgbClr val="1B3A5C"/>
                </a:solidFill>
              </a:rPr>
              <a:t>Comment OPEN  peut-elle automatiser la supervision de son réseau pour détecter les pannes en temps réel, réduire le temps d'intervention et assurer la traçabilité du service? »</a:t>
            </a:r>
            <a:endParaRPr lang="en-US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164592" y="96012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73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7315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Contexte &amp; Identification du problème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BAAC5"/>
                </a:solidFill>
              </a:rPr>
              <a:t>Automatisation</a:t>
            </a:r>
            <a:r>
              <a:rPr lang="en-US" sz="1000" dirty="0">
                <a:solidFill>
                  <a:srgbClr val="8BAAC5"/>
                </a:solidFill>
              </a:rPr>
              <a:t> de la Supervision et de la </a:t>
            </a:r>
            <a:r>
              <a:rPr lang="en-US" sz="1000" dirty="0" err="1">
                <a:solidFill>
                  <a:srgbClr val="8BAAC5"/>
                </a:solidFill>
              </a:rPr>
              <a:t>Détection</a:t>
            </a:r>
            <a:r>
              <a:rPr lang="en-US" sz="1000" dirty="0">
                <a:solidFill>
                  <a:srgbClr val="8BAAC5"/>
                </a:solidFill>
              </a:rPr>
              <a:t> des </a:t>
            </a:r>
            <a:r>
              <a:rPr lang="en-US" sz="1000" dirty="0" err="1">
                <a:solidFill>
                  <a:srgbClr val="8BAAC5"/>
                </a:solidFill>
              </a:rPr>
              <a:t>Pannes</a:t>
            </a:r>
            <a:r>
              <a:rPr lang="en-US" sz="1000" dirty="0">
                <a:solidFill>
                  <a:srgbClr val="8BAAC5"/>
                </a:solidFill>
              </a:rPr>
              <a:t> Réseau — OPEN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6858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</a:rPr>
              <a:t>OPEN &amp; le réseau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4114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20700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Première entreprise ivoirienne de production de smartphones (Groupe CERCO)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" y="2057400"/>
            <a:ext cx="4114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8541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2093976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Marketplace vocale MOISE, système OpenPay, superphones Open 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20040" y="2944368"/>
            <a:ext cx="4114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7238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" y="2980944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Usine VITIB Grand-Bassam + bureaux Abidjan + filiales régionales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20040" y="3831336"/>
            <a:ext cx="4114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5935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" y="386791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Toute panne réseau = transactions bloquées + image dégradée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800600" y="685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</a:rPr>
              <a:t>Le problème constaté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4800600" y="1170432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4983480" y="12801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1B3A5C"/>
                </a:solidFill>
              </a:rPr>
              <a:t>« La surveillance des pannes</a:t>
            </a:r>
            <a:endParaRPr lang="en-US" dirty="0"/>
          </a:p>
          <a:p>
            <a:pPr marL="0" indent="0" algn="ctr">
              <a:buNone/>
            </a:pPr>
            <a:r>
              <a:rPr lang="en-US" b="1" i="1" dirty="0">
                <a:solidFill>
                  <a:srgbClr val="1B3A5C"/>
                </a:solidFill>
              </a:rPr>
              <a:t>réseau se fait encore</a:t>
            </a:r>
            <a:endParaRPr lang="en-US" dirty="0"/>
          </a:p>
          <a:p>
            <a:pPr marL="0" indent="0" algn="ctr">
              <a:buNone/>
            </a:pPr>
            <a:r>
              <a:rPr lang="en-US" b="1" i="1" dirty="0">
                <a:solidFill>
                  <a:srgbClr val="1B3A5C"/>
                </a:solidFill>
              </a:rPr>
              <a:t>manuellement chez OPEN »</a:t>
            </a:r>
            <a:endParaRPr lang="en-US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48716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21808" y="245059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</a:rPr>
              <a:t>Détection tardive </a:t>
            </a:r>
            <a:r>
              <a:rPr lang="en-US" sz="1100" dirty="0">
                <a:solidFill>
                  <a:srgbClr val="444444"/>
                </a:solidFill>
              </a:rPr>
              <a:t>Panne signalée par l'utilisateur, MTTD &gt; 30 min</a:t>
            </a:r>
            <a:endParaRPr lang="en-US" sz="14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980944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21808" y="294436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</a:rPr>
              <a:t>Pas de traçabilité </a:t>
            </a:r>
            <a:r>
              <a:rPr lang="en-US" sz="1100" dirty="0">
                <a:solidFill>
                  <a:srgbClr val="444444"/>
                </a:solidFill>
              </a:rPr>
              <a:t>Aucun historique exploitable pour les SLA</a:t>
            </a:r>
            <a:endParaRPr lang="en-US" sz="14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474720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21808" y="343814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</a:rPr>
              <a:t>Charge humaine </a:t>
            </a:r>
            <a:r>
              <a:rPr lang="en-US" sz="1100" dirty="0">
                <a:solidFill>
                  <a:srgbClr val="444444"/>
                </a:solidFill>
              </a:rPr>
              <a:t>Vérifications ponctuelles, non scalables</a:t>
            </a:r>
            <a:endParaRPr lang="en-US" sz="14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968496"/>
            <a:ext cx="256032" cy="25603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321808" y="393192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</a:rPr>
              <a:t>MTTR élevé </a:t>
            </a:r>
            <a:r>
              <a:rPr lang="en-US" sz="1100" dirty="0">
                <a:solidFill>
                  <a:srgbClr val="444444"/>
                </a:solidFill>
              </a:rPr>
              <a:t>Temps de réaction rallongé, service dégradé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670560" y="82296"/>
            <a:ext cx="8016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Objectifs du projet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54864" cy="4636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BAAC5"/>
                </a:solidFill>
              </a:rPr>
              <a:t>Automatisation</a:t>
            </a:r>
            <a:r>
              <a:rPr lang="en-US" sz="1000" dirty="0">
                <a:solidFill>
                  <a:srgbClr val="8BAAC5"/>
                </a:solidFill>
              </a:rPr>
              <a:t> de la Supervision et de la </a:t>
            </a:r>
            <a:r>
              <a:rPr lang="en-US" sz="1000" dirty="0" err="1">
                <a:solidFill>
                  <a:srgbClr val="8BAAC5"/>
                </a:solidFill>
              </a:rPr>
              <a:t>Détection</a:t>
            </a:r>
            <a:r>
              <a:rPr lang="en-US" sz="1000" dirty="0">
                <a:solidFill>
                  <a:srgbClr val="8BAAC5"/>
                </a:solidFill>
              </a:rPr>
              <a:t> des </a:t>
            </a:r>
            <a:r>
              <a:rPr lang="en-US" sz="1000" dirty="0" err="1">
                <a:solidFill>
                  <a:srgbClr val="8BAAC5"/>
                </a:solidFill>
              </a:rPr>
              <a:t>Pannes</a:t>
            </a:r>
            <a:r>
              <a:rPr lang="en-US" sz="1000" dirty="0">
                <a:solidFill>
                  <a:srgbClr val="8BAAC5"/>
                </a:solidFill>
              </a:rPr>
              <a:t> Réseau — OPEN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</a:rPr>
              <a:t>Objectif général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8686800" cy="228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042416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11827"/>
                </a:solidFill>
              </a:rPr>
              <a:t>Concevoir, réaliser et </a:t>
            </a:r>
            <a:r>
              <a:rPr lang="en-US" sz="1600" dirty="0" err="1">
                <a:solidFill>
                  <a:srgbClr val="111827"/>
                </a:solidFill>
              </a:rPr>
              <a:t>déployer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 err="1">
                <a:solidFill>
                  <a:srgbClr val="111827"/>
                </a:solidFill>
              </a:rPr>
              <a:t>Awali</a:t>
            </a:r>
            <a:r>
              <a:rPr lang="en-US" sz="1600" dirty="0">
                <a:solidFill>
                  <a:srgbClr val="111827"/>
                </a:solidFill>
              </a:rPr>
              <a:t> au sein </a:t>
            </a:r>
            <a:r>
              <a:rPr lang="en-US" sz="1600" dirty="0" err="1">
                <a:solidFill>
                  <a:srgbClr val="111827"/>
                </a:solidFill>
              </a:rPr>
              <a:t>d'OPEN</a:t>
            </a:r>
            <a:r>
              <a:rPr lang="en-US" sz="1600" dirty="0">
                <a:solidFill>
                  <a:srgbClr val="111827"/>
                </a:solidFill>
              </a:rPr>
              <a:t>  — un système automatisé de supervision et de détection des pannes réseau, fondé exclusivement sur des outils open-source, capable de détecter les pannes en temps réel, d'alerter instantanément les équipes et de réduire le temps d'intervention.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" y="1993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</a:rPr>
              <a:t>Objectifs spécifiques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28600" y="2304288"/>
            <a:ext cx="8686800" cy="22860"/>
          </a:xfrm>
          <a:prstGeom prst="rect">
            <a:avLst/>
          </a:prstGeom>
          <a:solidFill>
            <a:srgbClr val="D1DCE8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" y="2496312"/>
            <a:ext cx="50292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4780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OS1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697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Analyser l'existant — comparer Nagios, Zabbix, PRTG, SolarWinds et positionner Awali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496312"/>
            <a:ext cx="50292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4780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OS2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697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Concevoir l'architecture — UML &amp; MERISE, stack Python · MySQL · Flask · Telegram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3319272"/>
            <a:ext cx="50292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009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OS3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520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Développer les modules — sondes ICMP/TCP, journalisation, découverte automatique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319272"/>
            <a:ext cx="50292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3009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OS4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520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Alertes multi-canal — e-mail SMTP + Telegram Bot, anti-spam, confirmation rétablissement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4142232"/>
            <a:ext cx="50292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1239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OS5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343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Tableau de bord — interface Flask, KPI temps réel, historique, rapports SLA exportables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4142232"/>
            <a:ext cx="50292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41239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OS6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4343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Évaluer — mesurer MTTD, MTTR et taux de disponibilité pour valider l'automatisation</a:t>
            </a:r>
            <a:endParaRPr lang="en-US" sz="1200" dirty="0"/>
          </a:p>
        </p:txBody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1F030757-08F4-8DFF-7647-BC7466B9D0AF}"/>
              </a:ext>
            </a:extLst>
          </p:cNvPr>
          <p:cNvSpPr/>
          <p:nvPr/>
        </p:nvSpPr>
        <p:spPr>
          <a:xfrm>
            <a:off x="182880" y="64008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algn="ctr"/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E81D541C-7C0F-A733-BB6B-6F1F2CFA1236}"/>
              </a:ext>
            </a:extLst>
          </p:cNvPr>
          <p:cNvSpPr/>
          <p:nvPr/>
        </p:nvSpPr>
        <p:spPr>
          <a:xfrm>
            <a:off x="164592" y="73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164592" y="73152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73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7315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Démarche méthodologique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AC5"/>
                </a:solidFill>
              </a:rPr>
              <a:t>Automatisation de la Supervision et de la Détection des Pannes Réseau — OPEN MOISE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583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</a:rPr>
              <a:t>Cycle itératif &amp; incrémental inspiré DevOps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1325880" cy="333756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1353312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353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084832"/>
            <a:ext cx="475488" cy="4754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0040" y="2651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Analyse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des besoins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20040" y="3310128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Recueil exigences,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équipements, métriques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600200" y="2468880"/>
            <a:ext cx="1554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55648" y="1234440"/>
            <a:ext cx="1325880" cy="333756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103120" y="1353312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4"/>
          <p:cNvSpPr/>
          <p:nvPr/>
        </p:nvSpPr>
        <p:spPr>
          <a:xfrm>
            <a:off x="2103120" y="1353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5416" y="2084832"/>
            <a:ext cx="475488" cy="4754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801368" y="2651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Étude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de l'existant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1801368" y="3310128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Benchmark outils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et leurs limites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081528" y="2468880"/>
            <a:ext cx="1554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236976" y="1234440"/>
            <a:ext cx="1325880" cy="333756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584448" y="1353312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0"/>
          <p:cNvSpPr/>
          <p:nvPr/>
        </p:nvSpPr>
        <p:spPr>
          <a:xfrm>
            <a:off x="3584448" y="1353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6744" y="2084832"/>
            <a:ext cx="475488" cy="4754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282696" y="2651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Conception</a:t>
            </a: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3282696" y="3310128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Architecture UML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MERISE, choix techno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562856" y="2468880"/>
            <a:ext cx="1554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718304" y="1234440"/>
            <a:ext cx="1325880" cy="333756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065776" y="1353312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1" name="Text 26"/>
          <p:cNvSpPr/>
          <p:nvPr/>
        </p:nvSpPr>
        <p:spPr>
          <a:xfrm>
            <a:off x="5065776" y="1353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4</a:t>
            </a:r>
            <a:endParaRPr lang="en-US" sz="32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072" y="2084832"/>
            <a:ext cx="475488" cy="47548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764024" y="2651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Implémentation</a:t>
            </a: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4764024" y="3310128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Collecte, stockage,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alertes, dashboard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6044184" y="2468880"/>
            <a:ext cx="1554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199632" y="1234440"/>
            <a:ext cx="1325880" cy="333756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6547104" y="1353312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8" name="Text 32"/>
          <p:cNvSpPr/>
          <p:nvPr/>
        </p:nvSpPr>
        <p:spPr>
          <a:xfrm>
            <a:off x="6547104" y="1353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5</a:t>
            </a:r>
            <a:endParaRPr lang="en-US" sz="32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2084832"/>
            <a:ext cx="475488" cy="47548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245352" y="2651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Tests &amp;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validation</a:t>
            </a: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6245352" y="3310128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Simulation pannes,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tests de charge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7525512" y="2468880"/>
            <a:ext cx="1554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7680960" y="1234440"/>
            <a:ext cx="1325880" cy="333756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8028432" y="1353312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5" name="Text 38"/>
          <p:cNvSpPr/>
          <p:nvPr/>
        </p:nvSpPr>
        <p:spPr>
          <a:xfrm>
            <a:off x="8028432" y="1353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6</a:t>
            </a:r>
            <a:endParaRPr lang="en-US" sz="32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0728" y="2084832"/>
            <a:ext cx="475488" cy="47548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7726680" y="2651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Déploiement</a:t>
            </a: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7726680" y="3310128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Mise en prod,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doc, transfert</a:t>
            </a:r>
            <a:endParaRPr lang="en-US" sz="1200" dirty="0"/>
          </a:p>
        </p:txBody>
      </p:sp>
      <p:sp>
        <p:nvSpPr>
          <p:cNvPr id="49" name="Shape 41"/>
          <p:cNvSpPr/>
          <p:nvPr/>
        </p:nvSpPr>
        <p:spPr>
          <a:xfrm>
            <a:off x="274320" y="4645152"/>
            <a:ext cx="8595360" cy="475488"/>
          </a:xfrm>
          <a:prstGeom prst="roundRect">
            <a:avLst>
              <a:gd name="adj" fmla="val 19048"/>
            </a:avLst>
          </a:prstGeom>
          <a:solidFill>
            <a:srgbClr val="1B3A5C"/>
          </a:solidFill>
          <a:ln/>
        </p:spPr>
      </p:sp>
      <p:sp>
        <p:nvSpPr>
          <p:cNvPr id="50" name="Text 4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Outils : Python 3 · MySQL 8 · Flask · Bootstrap 5 · Telegram Bot API · Ubuntu 22.04 · PlantUML · MERISE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64008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64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4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8368" y="82296"/>
            <a:ext cx="7772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État des lieux — Solutions existantes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502920"/>
            <a:ext cx="54864" cy="4636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89204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BAAC5"/>
                </a:solidFill>
              </a:rPr>
              <a:t>Automatisation</a:t>
            </a:r>
            <a:r>
              <a:rPr lang="en-US" sz="1000" dirty="0">
                <a:solidFill>
                  <a:srgbClr val="8BAAC5"/>
                </a:solidFill>
              </a:rPr>
              <a:t> de la Supervision et de la </a:t>
            </a:r>
            <a:r>
              <a:rPr lang="en-US" sz="1000" dirty="0" err="1">
                <a:solidFill>
                  <a:srgbClr val="8BAAC5"/>
                </a:solidFill>
              </a:rPr>
              <a:t>Détection</a:t>
            </a:r>
            <a:r>
              <a:rPr lang="en-US" sz="1000" dirty="0">
                <a:solidFill>
                  <a:srgbClr val="8BAAC5"/>
                </a:solidFill>
              </a:rPr>
              <a:t> des </a:t>
            </a:r>
            <a:r>
              <a:rPr lang="en-US" sz="1000" dirty="0" err="1">
                <a:solidFill>
                  <a:srgbClr val="8BAAC5"/>
                </a:solidFill>
              </a:rPr>
              <a:t>Pannes</a:t>
            </a:r>
            <a:r>
              <a:rPr lang="en-US" sz="1000" dirty="0">
                <a:solidFill>
                  <a:srgbClr val="8BAAC5"/>
                </a:solidFill>
              </a:rPr>
              <a:t> Réseau — OPEN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6217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</a:rPr>
              <a:t>Pourquoi ne pas utiliser un outil existant ?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28600" y="1024128"/>
            <a:ext cx="8686800" cy="38404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" y="10515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Outil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9344" y="10515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Type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43784" y="10515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Alerte mobile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32504" y="10515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Légèreté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38344" y="10515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Coût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98464" y="10515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Limite principale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600" y="1408176"/>
            <a:ext cx="8686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" y="15361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Nagios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9344" y="15361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Open source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43784" y="15361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Plugin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32504" y="15361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Faible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38344" y="15361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Gratuit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98464" y="15361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Config. lourde, surtout réactif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8600" y="2029968"/>
            <a:ext cx="8686800" cy="594360"/>
          </a:xfrm>
          <a:prstGeom prst="rect">
            <a:avLst/>
          </a:prstGeom>
          <a:solidFill>
            <a:srgbClr val="F3F6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" y="21579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Zabbix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215798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Open source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843784" y="21579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Plugin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32504" y="21579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Moyenne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38344" y="21579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Gratuit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98464" y="21579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Courbe d'apprentissage élevée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28600" y="2651760"/>
            <a:ext cx="8686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" y="27797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PRTG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609344" y="277977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Propriétaire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843784" y="27797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032504" y="27797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Moyenne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38344" y="27797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2626"/>
                </a:solidFill>
              </a:rPr>
              <a:t>Élevé $$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998464" y="27797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Licence par capteur, coûteux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28600" y="3273552"/>
            <a:ext cx="8686800" cy="594360"/>
          </a:xfrm>
          <a:prstGeom prst="rect">
            <a:avLst/>
          </a:prstGeom>
          <a:solidFill>
            <a:srgbClr val="F3F6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" y="34015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SolarWinds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609344" y="340156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Propriétaire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843784" y="34015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032504" y="34015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Faible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038344" y="34015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Très élevé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998464" y="34015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Inadapté aux structures moyennes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85184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" name="Text 2"/>
          <p:cNvSpPr/>
          <p:nvPr/>
        </p:nvSpPr>
        <p:spPr>
          <a:xfrm>
            <a:off x="164592" y="73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7315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AWALI — Architecture &amp; Différenciation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AC5"/>
                </a:solidFill>
              </a:rPr>
              <a:t>Automatisation de la Supervision et de la Détection des Pannes Réseau — OPEN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</a:rPr>
              <a:t>Une plateforme 100 % open-source, conçue pour OPEN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7B6"/>
                </a:solidFill>
              </a:rPr>
              <a:t>Architecture en 5 couches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0077B6">
              <a:alpha val="12000"/>
            </a:srgbClr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508760"/>
            <a:ext cx="164592" cy="56692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54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7B6"/>
                </a:solidFill>
              </a:rPr>
              <a:t>Présentation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6928" y="18105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Flask · Bootstrap 5 · Chart.js · API REST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155096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0EA5E9">
              <a:alpha val="12000"/>
            </a:srgbClr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167128"/>
            <a:ext cx="164592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212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EA5E9"/>
                </a:solidFill>
              </a:rPr>
              <a:t>Notification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6928" y="24688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E-mail SMTP · Telegram Bot (push natif)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825496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6366F1">
              <a:alpha val="12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25496"/>
            <a:ext cx="164592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8712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366F1"/>
                </a:solidFill>
              </a:rPr>
              <a:t>Traitement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6928" y="31272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Python 3 · Cron · Sondes ICMP / TCP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483864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8B5CF6">
              <a:alpha val="12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483864"/>
            <a:ext cx="164592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529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B5CF6"/>
                </a:solidFill>
              </a:rPr>
              <a:t>Données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6928" y="3785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MySQL 8 — équipements, journaux, alertes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142232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64748B">
              <a:alpha val="12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142232"/>
            <a:ext cx="164592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187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</a:rPr>
              <a:t>Système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66928" y="44439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Ubuntu Server 22.04 LTS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11155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7B6"/>
                </a:solidFill>
              </a:rPr>
              <a:t>Facteurs de différenciation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709160" y="1508760"/>
            <a:ext cx="4114800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609344"/>
            <a:ext cx="347472" cy="34747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321808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</a:rPr>
              <a:t>Telegram natif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5321808" y="18470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</a:rPr>
              <a:t>Astreinte alertée partout en &lt; 2 min, sans surcoût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709160" y="2377440"/>
            <a:ext cx="4114800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478024"/>
            <a:ext cx="347472" cy="34747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321808" y="2441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</a:rPr>
              <a:t>Légèreté</a:t>
            </a:r>
            <a:endParaRPr lang="en-US" sz="2000" dirty="0"/>
          </a:p>
        </p:txBody>
      </p:sp>
      <p:sp>
        <p:nvSpPr>
          <p:cNvPr id="37" name="Text 33"/>
          <p:cNvSpPr/>
          <p:nvPr/>
        </p:nvSpPr>
        <p:spPr>
          <a:xfrm>
            <a:off x="5321808" y="2715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</a:rPr>
              <a:t>Simple VM · 0 FCFA de licence · 100 % open-source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4709160" y="3246120"/>
            <a:ext cx="4114800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346704"/>
            <a:ext cx="347472" cy="34747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321808" y="3310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</a:rPr>
              <a:t>Traçabilité totale</a:t>
            </a:r>
            <a:endParaRPr lang="en-US" sz="2000" dirty="0"/>
          </a:p>
        </p:txBody>
      </p:sp>
      <p:sp>
        <p:nvSpPr>
          <p:cNvPr id="41" name="Text 36"/>
          <p:cNvSpPr/>
          <p:nvPr/>
        </p:nvSpPr>
        <p:spPr>
          <a:xfrm>
            <a:off x="5321808" y="3584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</a:rPr>
              <a:t>Seuil anti-faux positif · historique = preuve SLA</a:t>
            </a:r>
            <a:endParaRPr lang="en-US" sz="1400" dirty="0"/>
          </a:p>
        </p:txBody>
      </p:sp>
      <p:sp>
        <p:nvSpPr>
          <p:cNvPr id="42" name="Shape 37"/>
          <p:cNvSpPr/>
          <p:nvPr/>
        </p:nvSpPr>
        <p:spPr>
          <a:xfrm>
            <a:off x="4709160" y="4114800"/>
            <a:ext cx="4114800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4215384"/>
            <a:ext cx="347472" cy="347472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5321808" y="4178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</a:rPr>
              <a:t>Code maîtrisé</a:t>
            </a:r>
            <a:endParaRPr lang="en-US" sz="2000" dirty="0"/>
          </a:p>
        </p:txBody>
      </p:sp>
      <p:sp>
        <p:nvSpPr>
          <p:cNvPr id="45" name="Text 39"/>
          <p:cNvSpPr/>
          <p:nvPr/>
        </p:nvSpPr>
        <p:spPr>
          <a:xfrm>
            <a:off x="5321808" y="44531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</a:rPr>
              <a:t>Sur mesure OPEN MOISE · zéro vendor lock-in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54864" cy="463600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667512" y="-10149"/>
            <a:ext cx="7255384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Calibri"/>
              </a:rPr>
              <a:t>Étude de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faisabilité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et conception de la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92040"/>
            <a:ext cx="455605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buNone/>
            </a:pPr>
            <a:r>
              <a:rPr lang="en-US" sz="1050" dirty="0" err="1">
                <a:solidFill>
                  <a:srgbClr val="8BAAC5"/>
                </a:solidFill>
              </a:rPr>
              <a:t>Automatisation</a:t>
            </a:r>
            <a:r>
              <a:rPr lang="en-US" sz="1050" dirty="0">
                <a:solidFill>
                  <a:srgbClr val="8BAAC5"/>
                </a:solidFill>
              </a:rPr>
              <a:t> de la Supervision et de la </a:t>
            </a:r>
            <a:r>
              <a:rPr lang="en-US" sz="1050" dirty="0" err="1">
                <a:solidFill>
                  <a:srgbClr val="8BAAC5"/>
                </a:solidFill>
              </a:rPr>
              <a:t>Détection</a:t>
            </a:r>
            <a:r>
              <a:rPr lang="en-US" sz="1050" dirty="0">
                <a:solidFill>
                  <a:srgbClr val="8BAAC5"/>
                </a:solidFill>
              </a:rPr>
              <a:t> des </a:t>
            </a:r>
            <a:r>
              <a:rPr lang="en-US" sz="1050" dirty="0" err="1">
                <a:solidFill>
                  <a:srgbClr val="8BAAC5"/>
                </a:solidFill>
              </a:rPr>
              <a:t>Pannes</a:t>
            </a:r>
            <a:r>
              <a:rPr lang="en-US" sz="1050" dirty="0">
                <a:solidFill>
                  <a:srgbClr val="8BAAC5"/>
                </a:solidFill>
              </a:rPr>
              <a:t> Réseau — OPEN</a:t>
            </a:r>
            <a:endParaRPr lang="en-US" sz="1050" dirty="0"/>
          </a:p>
        </p:txBody>
      </p:sp>
      <p:sp>
        <p:nvSpPr>
          <p:cNvPr id="7" name="TextBox 6"/>
          <p:cNvSpPr txBox="1"/>
          <p:nvPr/>
        </p:nvSpPr>
        <p:spPr>
          <a:xfrm>
            <a:off x="228600" y="578858"/>
            <a:ext cx="2010166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b="1">
                <a:solidFill>
                  <a:srgbClr val="1B3A5C"/>
                </a:solidFill>
                <a:latin typeface="Calibri"/>
              </a:rPr>
              <a:t>Étude de faisabilité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950976"/>
            <a:ext cx="868680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ectangle 8"/>
          <p:cNvSpPr/>
          <p:nvPr/>
        </p:nvSpPr>
        <p:spPr>
          <a:xfrm>
            <a:off x="365760" y="1252728"/>
            <a:ext cx="54864" cy="5669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29862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B4D8"/>
                </a:solidFill>
                <a:latin typeface="Calibri"/>
              </a:rPr>
              <a:t>Technique 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90472"/>
            <a:ext cx="8046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111827"/>
                </a:solidFill>
                <a:latin typeface="Calibri"/>
              </a:rPr>
              <a:t>Briques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open-source matures,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compétences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disponibles</a:t>
            </a:r>
            <a:r>
              <a:rPr sz="1600" dirty="0">
                <a:solidFill>
                  <a:srgbClr val="111827"/>
                </a:solidFill>
                <a:latin typeface="Calibri"/>
              </a:rPr>
              <a:t>, prototype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réalisé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et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testé</a:t>
            </a:r>
            <a:endParaRPr sz="1600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2093976"/>
            <a:ext cx="54864" cy="5669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502920" y="2075688"/>
            <a:ext cx="148598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B4D8"/>
                </a:solidFill>
                <a:latin typeface="Calibri"/>
              </a:rPr>
              <a:t>Économique 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31720"/>
            <a:ext cx="8046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111827"/>
                </a:solidFill>
                <a:latin typeface="Calibri"/>
              </a:rPr>
              <a:t>Investissement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faible</a:t>
            </a:r>
            <a:r>
              <a:rPr sz="1600" dirty="0">
                <a:solidFill>
                  <a:srgbClr val="111827"/>
                </a:solidFill>
                <a:latin typeface="Calibri"/>
              </a:rPr>
              <a:t> (≈ 130 000 FCFA), 0 FCFA de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licence</a:t>
            </a:r>
            <a:r>
              <a:rPr sz="1600" dirty="0">
                <a:solidFill>
                  <a:srgbClr val="111827"/>
                </a:solidFill>
                <a:latin typeface="Calibri"/>
              </a:rPr>
              <a:t>, retour </a:t>
            </a:r>
            <a:r>
              <a:rPr sz="1600" dirty="0" err="1">
                <a:solidFill>
                  <a:srgbClr val="111827"/>
                </a:solidFill>
                <a:latin typeface="Calibri"/>
              </a:rPr>
              <a:t>rapide</a:t>
            </a:r>
            <a:endParaRPr sz="1600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2935224"/>
            <a:ext cx="54864" cy="5669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502920" y="2916936"/>
            <a:ext cx="19352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B4D8"/>
                </a:solidFill>
                <a:latin typeface="Calibri"/>
              </a:rPr>
              <a:t>Organisationnelle 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72968"/>
            <a:ext cx="8046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11827"/>
                </a:solidFill>
                <a:latin typeface="Calibri"/>
              </a:rPr>
              <a:t>Intégrable au processus d'astreinte d'OPEN, conduite du changement légère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3797545"/>
            <a:ext cx="127060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b="1">
                <a:solidFill>
                  <a:srgbClr val="1B3A5C"/>
                </a:solidFill>
                <a:latin typeface="Calibri"/>
              </a:rPr>
              <a:t>Conception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4169663"/>
            <a:ext cx="868680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365760" y="4206240"/>
            <a:ext cx="8412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11827"/>
                </a:solidFill>
                <a:latin typeface="Calibri"/>
              </a:rPr>
              <a:t>7 diagrammes UML (du contexte au déploiement) · Base MySQL — 6 tables (méthode MERISE) · Architecture en 5 couches avec découplage moteur de collecte ↔ interface web.</a:t>
            </a:r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8D155233-0F72-BE6E-3D76-B67AC4AE358F}"/>
              </a:ext>
            </a:extLst>
          </p:cNvPr>
          <p:cNvSpPr/>
          <p:nvPr/>
        </p:nvSpPr>
        <p:spPr>
          <a:xfrm>
            <a:off x="164592" y="73152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FB4124B8-47C9-13DE-1308-D26BD1936CC8}"/>
              </a:ext>
            </a:extLst>
          </p:cNvPr>
          <p:cNvSpPr/>
          <p:nvPr/>
        </p:nvSpPr>
        <p:spPr>
          <a:xfrm>
            <a:off x="164592" y="5486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164592" y="73152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73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7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8368" y="7315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Conception — UML &amp; MERISE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49042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AAC5"/>
                </a:solidFill>
              </a:rPr>
              <a:t>Automatisation de la Supervision et de la Détection des Pannes Réseau — OPEN MOISE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</a:rPr>
              <a:t>Formalisation complète avant le développement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7B6"/>
                </a:solidFill>
              </a:rPr>
              <a:t>7 diagrammes UML</a:t>
            </a: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53619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15087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Contexte — acteurs externes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99339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19659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Cas d'utilisation — fonctions clés</a:t>
            </a:r>
            <a:endParaRPr lang="en-US" sz="16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4505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" y="2423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Séquence — flux cycle supervision</a:t>
            </a:r>
            <a:endParaRPr lang="en-US" sz="16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90779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1520" y="28803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Activité — logique moteur Python</a:t>
            </a:r>
            <a:endParaRPr lang="en-US" sz="16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364992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31520" y="33375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Classes — modèle objet</a:t>
            </a:r>
            <a:endParaRPr lang="en-US" sz="16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822192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31520" y="37947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Composants — modules logiciels</a:t>
            </a:r>
            <a:endParaRPr lang="en-US" sz="16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279392"/>
            <a:ext cx="256032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31520" y="42519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Déploiement — serveur Ubuntu + DB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475488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7B6"/>
                </a:solidFill>
              </a:rPr>
              <a:t>MERISE — Base MySQL (6 tables)</a:t>
            </a:r>
            <a:endParaRPr lang="en-US" dirty="0"/>
          </a:p>
        </p:txBody>
      </p:sp>
      <p:sp>
        <p:nvSpPr>
          <p:cNvPr id="24" name="Shape 15"/>
          <p:cNvSpPr/>
          <p:nvPr/>
        </p:nvSpPr>
        <p:spPr>
          <a:xfrm>
            <a:off x="4754880" y="150876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4754880" y="150876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0077B6"/>
          </a:solidFill>
          <a:ln/>
        </p:spPr>
      </p:sp>
      <p:sp>
        <p:nvSpPr>
          <p:cNvPr id="26" name="Text 17"/>
          <p:cNvSpPr/>
          <p:nvPr/>
        </p:nvSpPr>
        <p:spPr>
          <a:xfrm>
            <a:off x="4773168" y="1527048"/>
            <a:ext cx="1380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utilisateurs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6263640" y="15544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Comptes d'accès, rôles, mots de passe hachés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4754880" y="2039112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4754880" y="2039112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0077B6"/>
          </a:solidFill>
          <a:ln/>
        </p:spPr>
      </p:sp>
      <p:sp>
        <p:nvSpPr>
          <p:cNvPr id="30" name="Text 21"/>
          <p:cNvSpPr/>
          <p:nvPr/>
        </p:nvSpPr>
        <p:spPr>
          <a:xfrm>
            <a:off x="4773168" y="2057400"/>
            <a:ext cx="1380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equipements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6263640" y="20848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Inventaire et statut courant du parc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4754880" y="2569464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754880" y="2569464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0077B6"/>
          </a:solidFill>
          <a:ln/>
        </p:spPr>
      </p:sp>
      <p:sp>
        <p:nvSpPr>
          <p:cNvPr id="34" name="Text 25"/>
          <p:cNvSpPr/>
          <p:nvPr/>
        </p:nvSpPr>
        <p:spPr>
          <a:xfrm>
            <a:off x="4773168" y="2587752"/>
            <a:ext cx="1380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journaux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6263640" y="261518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Historique de chaque vérification (SLA)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4754880" y="3099816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4754880" y="3099816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0077B6"/>
          </a:solidFill>
          <a:ln/>
        </p:spPr>
      </p:sp>
      <p:sp>
        <p:nvSpPr>
          <p:cNvPr id="38" name="Text 29"/>
          <p:cNvSpPr/>
          <p:nvPr/>
        </p:nvSpPr>
        <p:spPr>
          <a:xfrm>
            <a:off x="4773168" y="3118104"/>
            <a:ext cx="1380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alertes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6263640" y="31455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Alertes émises, acquittements, anti-spam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754880" y="3630168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754880" y="363016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0077B6"/>
          </a:solidFill>
          <a:ln/>
        </p:spPr>
      </p:sp>
      <p:sp>
        <p:nvSpPr>
          <p:cNvPr id="42" name="Text 33"/>
          <p:cNvSpPr/>
          <p:nvPr/>
        </p:nvSpPr>
        <p:spPr>
          <a:xfrm>
            <a:off x="4773168" y="3648456"/>
            <a:ext cx="1380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responsabilite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6263640" y="36758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Relation n-n technicien ↔ équipement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4754880" y="416052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4754880" y="41605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0077B6"/>
          </a:solidFill>
          <a:ln/>
        </p:spPr>
      </p:sp>
      <p:sp>
        <p:nvSpPr>
          <p:cNvPr id="46" name="Text 37"/>
          <p:cNvSpPr/>
          <p:nvPr/>
        </p:nvSpPr>
        <p:spPr>
          <a:xfrm>
            <a:off x="4773168" y="4178808"/>
            <a:ext cx="1380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statistiques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6263640" y="4206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Agrégats journaliers pour rapports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73152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 sz="2800" dirty="0"/>
          </a:p>
        </p:txBody>
      </p:sp>
      <p:sp>
        <p:nvSpPr>
          <p:cNvPr id="4" name="Text 2"/>
          <p:cNvSpPr/>
          <p:nvPr/>
        </p:nvSpPr>
        <p:spPr>
          <a:xfrm>
            <a:off x="164592" y="73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8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8368" y="7315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Fonctionnement — Pipeline technique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AAC5"/>
                </a:solidFill>
              </a:rPr>
              <a:t>Automatisation de la Supervision et de la Détection des Pannes Réseau — OPEN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</a:rPr>
              <a:t>De la mesure à l'alerte Telegram en &lt; 2 minutes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6032" y="1143000"/>
            <a:ext cx="1325880" cy="20116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" y="1234440"/>
            <a:ext cx="640080" cy="6400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</a:rPr>
              <a:t>1</a:t>
            </a:r>
            <a:endParaRPr lang="en-US" sz="2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38528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01752" y="24688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Collecte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01752" y="277977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CRON toutes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les 2 minutes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581912" y="2148840"/>
            <a:ext cx="1554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37360" y="1143000"/>
            <a:ext cx="1325880" cy="20116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084832" y="1234440"/>
            <a:ext cx="640080" cy="6400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7" name="Text 14"/>
          <p:cNvSpPr/>
          <p:nvPr/>
        </p:nvSpPr>
        <p:spPr>
          <a:xfrm>
            <a:off x="2084832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</a:rPr>
              <a:t>2</a:t>
            </a:r>
            <a:endParaRPr lang="en-US" sz="24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128" y="1938528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783080" y="24688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Stockage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1783080" y="277977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Équipements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chargés (MySQL)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063240" y="2148840"/>
            <a:ext cx="1554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218688" y="1143000"/>
            <a:ext cx="1325880" cy="20116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566160" y="1234440"/>
            <a:ext cx="640080" cy="6400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4" name="Text 20"/>
          <p:cNvSpPr/>
          <p:nvPr/>
        </p:nvSpPr>
        <p:spPr>
          <a:xfrm>
            <a:off x="356616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</a:rPr>
              <a:t>3</a:t>
            </a:r>
            <a:endParaRPr lang="en-US" sz="24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456" y="1938528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264408" y="24688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Sondage</a:t>
            </a: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3264408" y="277977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ICMP (ping)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+ TCP (service)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544568" y="2148840"/>
            <a:ext cx="1554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700016" y="1143000"/>
            <a:ext cx="1325880" cy="20116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047488" y="1234440"/>
            <a:ext cx="640080" cy="6400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1" name="Text 26"/>
          <p:cNvSpPr/>
          <p:nvPr/>
        </p:nvSpPr>
        <p:spPr>
          <a:xfrm>
            <a:off x="5047488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</a:rPr>
              <a:t>4</a:t>
            </a:r>
            <a:endParaRPr lang="en-US" sz="24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9784" y="1938528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745736" y="24688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Détection</a:t>
            </a: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4745736" y="277977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Seuil d'échecs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anti-faux positif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025896" y="2148840"/>
            <a:ext cx="1554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181344" y="1143000"/>
            <a:ext cx="1325880" cy="20116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6528816" y="1234440"/>
            <a:ext cx="640080" cy="6400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8" name="Text 32"/>
          <p:cNvSpPr/>
          <p:nvPr/>
        </p:nvSpPr>
        <p:spPr>
          <a:xfrm>
            <a:off x="6528816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</a:rPr>
              <a:t>5</a:t>
            </a:r>
            <a:endParaRPr lang="en-US" sz="24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1938528"/>
            <a:ext cx="457200" cy="45720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227064" y="24688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Alerte</a:t>
            </a: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6227064" y="277977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E-mail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Telegram push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7507224" y="2148840"/>
            <a:ext cx="1554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7662672" y="1143000"/>
            <a:ext cx="1325880" cy="20116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8010144" y="1234440"/>
            <a:ext cx="640080" cy="6400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5" name="Text 38"/>
          <p:cNvSpPr/>
          <p:nvPr/>
        </p:nvSpPr>
        <p:spPr>
          <a:xfrm>
            <a:off x="8010144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</a:rPr>
              <a:t>6</a:t>
            </a:r>
            <a:endParaRPr lang="en-US" sz="24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1938528"/>
            <a:ext cx="457200" cy="45720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7708392" y="24688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Dashboard</a:t>
            </a: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7708392" y="277977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KPI, statuts,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rapports SLA</a:t>
            </a:r>
            <a:endParaRPr lang="en-US" sz="1100" dirty="0"/>
          </a:p>
        </p:txBody>
      </p:sp>
      <p:sp>
        <p:nvSpPr>
          <p:cNvPr id="49" name="Text 41"/>
          <p:cNvSpPr/>
          <p:nvPr/>
        </p:nvSpPr>
        <p:spPr>
          <a:xfrm>
            <a:off x="36576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7B6"/>
                </a:solidFill>
              </a:rPr>
              <a:t>Sécurité « by design »</a:t>
            </a:r>
            <a:endParaRPr lang="en-US" dirty="0"/>
          </a:p>
        </p:txBody>
      </p:sp>
      <p:sp>
        <p:nvSpPr>
          <p:cNvPr id="50" name="Shape 42"/>
          <p:cNvSpPr/>
          <p:nvPr/>
        </p:nvSpPr>
        <p:spPr>
          <a:xfrm>
            <a:off x="365760" y="3749040"/>
            <a:ext cx="4114800" cy="329184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502920" y="37673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</a:rPr>
              <a:t>Mots de passe : </a:t>
            </a:r>
            <a:r>
              <a:rPr lang="en-US" sz="1200" dirty="0">
                <a:solidFill>
                  <a:srgbClr val="444444"/>
                </a:solidFill>
              </a:rPr>
              <a:t>Hachage pbkdf2:sha256 (jamais en clair)</a:t>
            </a:r>
            <a:endParaRPr lang="en-US" sz="1200" dirty="0"/>
          </a:p>
        </p:txBody>
      </p:sp>
      <p:sp>
        <p:nvSpPr>
          <p:cNvPr id="52" name="Shape 44"/>
          <p:cNvSpPr/>
          <p:nvPr/>
        </p:nvSpPr>
        <p:spPr>
          <a:xfrm>
            <a:off x="365760" y="4133088"/>
            <a:ext cx="4114800" cy="329184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502920" y="41513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</a:rPr>
              <a:t>Injection SQL : </a:t>
            </a:r>
            <a:r>
              <a:rPr lang="en-US" sz="1200" dirty="0">
                <a:solidFill>
                  <a:srgbClr val="444444"/>
                </a:solidFill>
              </a:rPr>
              <a:t>Requêtes paramétrées systématiques</a:t>
            </a:r>
            <a:endParaRPr lang="en-US" sz="1200" dirty="0"/>
          </a:p>
        </p:txBody>
      </p:sp>
      <p:sp>
        <p:nvSpPr>
          <p:cNvPr id="54" name="Shape 46"/>
          <p:cNvSpPr/>
          <p:nvPr/>
        </p:nvSpPr>
        <p:spPr>
          <a:xfrm>
            <a:off x="365760" y="4517136"/>
            <a:ext cx="4114800" cy="329184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502920" y="45354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</a:rPr>
              <a:t>Secrets : </a:t>
            </a:r>
            <a:r>
              <a:rPr lang="en-US" sz="1200" dirty="0">
                <a:solidFill>
                  <a:srgbClr val="444444"/>
                </a:solidFill>
              </a:rPr>
              <a:t>Variables d'environnement (.env non versionné)</a:t>
            </a:r>
            <a:endParaRPr lang="en-US" sz="1200" dirty="0"/>
          </a:p>
        </p:txBody>
      </p:sp>
      <p:sp>
        <p:nvSpPr>
          <p:cNvPr id="56" name="Text 48"/>
          <p:cNvSpPr/>
          <p:nvPr/>
        </p:nvSpPr>
        <p:spPr>
          <a:xfrm>
            <a:off x="475488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7B6"/>
                </a:solidFill>
              </a:rPr>
              <a:t>Tests de performance</a:t>
            </a:r>
            <a:endParaRPr lang="en-US" dirty="0"/>
          </a:p>
        </p:txBody>
      </p:sp>
      <p:sp>
        <p:nvSpPr>
          <p:cNvPr id="57" name="Shape 49"/>
          <p:cNvSpPr/>
          <p:nvPr/>
        </p:nvSpPr>
        <p:spPr>
          <a:xfrm>
            <a:off x="4754880" y="3703320"/>
            <a:ext cx="1371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8" name="Text 50"/>
          <p:cNvSpPr/>
          <p:nvPr/>
        </p:nvSpPr>
        <p:spPr>
          <a:xfrm>
            <a:off x="475488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</a:rPr>
              <a:t>50 équipements</a:t>
            </a:r>
            <a:endParaRPr lang="en-US" sz="1200" dirty="0"/>
          </a:p>
        </p:txBody>
      </p:sp>
      <p:sp>
        <p:nvSpPr>
          <p:cNvPr id="59" name="Text 51"/>
          <p:cNvSpPr/>
          <p:nvPr/>
        </p:nvSpPr>
        <p:spPr>
          <a:xfrm>
            <a:off x="4754880" y="40782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~4 s</a:t>
            </a:r>
            <a:endParaRPr lang="en-US" sz="3200" dirty="0"/>
          </a:p>
        </p:txBody>
      </p:sp>
      <p:sp>
        <p:nvSpPr>
          <p:cNvPr id="60" name="Shape 52"/>
          <p:cNvSpPr/>
          <p:nvPr/>
        </p:nvSpPr>
        <p:spPr>
          <a:xfrm>
            <a:off x="6217920" y="3703320"/>
            <a:ext cx="1371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1" name="Text 53"/>
          <p:cNvSpPr/>
          <p:nvPr/>
        </p:nvSpPr>
        <p:spPr>
          <a:xfrm>
            <a:off x="621792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</a:rPr>
              <a:t>100 équipements</a:t>
            </a:r>
            <a:endParaRPr lang="en-US" sz="1200" dirty="0"/>
          </a:p>
        </p:txBody>
      </p:sp>
      <p:sp>
        <p:nvSpPr>
          <p:cNvPr id="62" name="Text 54"/>
          <p:cNvSpPr/>
          <p:nvPr/>
        </p:nvSpPr>
        <p:spPr>
          <a:xfrm>
            <a:off x="6217920" y="40782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~7 s</a:t>
            </a:r>
            <a:endParaRPr lang="en-US" sz="3200" dirty="0"/>
          </a:p>
        </p:txBody>
      </p:sp>
      <p:sp>
        <p:nvSpPr>
          <p:cNvPr id="63" name="Shape 55"/>
          <p:cNvSpPr/>
          <p:nvPr/>
        </p:nvSpPr>
        <p:spPr>
          <a:xfrm>
            <a:off x="7680960" y="3703320"/>
            <a:ext cx="1371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Text 56"/>
          <p:cNvSpPr/>
          <p:nvPr/>
        </p:nvSpPr>
        <p:spPr>
          <a:xfrm>
            <a:off x="768096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</a:rPr>
              <a:t>254 (/24)</a:t>
            </a:r>
            <a:endParaRPr lang="en-US" sz="1200" dirty="0"/>
          </a:p>
        </p:txBody>
      </p:sp>
      <p:sp>
        <p:nvSpPr>
          <p:cNvPr id="65" name="Text 57"/>
          <p:cNvSpPr/>
          <p:nvPr/>
        </p:nvSpPr>
        <p:spPr>
          <a:xfrm>
            <a:off x="7680960" y="40782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~12 s</a:t>
            </a:r>
            <a:endParaRPr lang="en-US" sz="3200" dirty="0"/>
          </a:p>
        </p:txBody>
      </p:sp>
      <p:sp>
        <p:nvSpPr>
          <p:cNvPr id="66" name="Text 58"/>
          <p:cNvSpPr/>
          <p:nvPr/>
        </p:nvSpPr>
        <p:spPr>
          <a:xfrm>
            <a:off x="4754880" y="46268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AC5"/>
                </a:solidFill>
              </a:rPr>
              <a:t>(cycle parallélisé — facteur ×10 vs séquentiel)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64008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4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9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8368" y="82296"/>
            <a:ext cx="7772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Démonstration — Awali en action sur le parc OPEN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502920"/>
            <a:ext cx="54864" cy="4636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" y="621792"/>
            <a:ext cx="1042416" cy="713232"/>
          </a:xfrm>
          <a:prstGeom prst="roundRect">
            <a:avLst>
              <a:gd name="adj" fmla="val 10256"/>
            </a:avLst>
          </a:prstGeom>
          <a:solidFill>
            <a:srgbClr val="F3F6F9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621792"/>
            <a:ext cx="1042416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65836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3A5C"/>
                </a:solidFill>
              </a:rPr>
              <a:t>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82880" y="102412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Équip. supervisés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53312" y="621792"/>
            <a:ext cx="1042416" cy="713232"/>
          </a:xfrm>
          <a:prstGeom prst="roundRect">
            <a:avLst>
              <a:gd name="adj" fmla="val 10256"/>
            </a:avLst>
          </a:prstGeom>
          <a:solidFill>
            <a:srgbClr val="F3F6F9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53312" y="621792"/>
            <a:ext cx="1042416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1353312" y="65836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A34A"/>
                </a:solidFill>
              </a:rPr>
              <a:t>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353312" y="102412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UP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23744" y="621792"/>
            <a:ext cx="1042416" cy="713232"/>
          </a:xfrm>
          <a:prstGeom prst="roundRect">
            <a:avLst>
              <a:gd name="adj" fmla="val 10256"/>
            </a:avLst>
          </a:prstGeom>
          <a:solidFill>
            <a:srgbClr val="F3F6F9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23744" y="621792"/>
            <a:ext cx="1042416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2523744" y="65836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</a:rPr>
              <a:t>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523744" y="102412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DOWN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94176" y="621792"/>
            <a:ext cx="1042416" cy="713232"/>
          </a:xfrm>
          <a:prstGeom prst="roundRect">
            <a:avLst>
              <a:gd name="adj" fmla="val 10256"/>
            </a:avLst>
          </a:prstGeom>
          <a:solidFill>
            <a:srgbClr val="F3F6F9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94176" y="621792"/>
            <a:ext cx="1042416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3694176" y="65836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06"/>
                </a:solidFill>
              </a:rPr>
              <a:t>2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694176" y="102412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Alertes actives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" y="1463040"/>
            <a:ext cx="2340864" cy="566928"/>
          </a:xfrm>
          <a:prstGeom prst="roundRect">
            <a:avLst>
              <a:gd name="adj" fmla="val 9677"/>
            </a:avLst>
          </a:prstGeom>
          <a:solidFill>
            <a:srgbClr val="FAFFFE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164592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151790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Serveur-Marketplace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17647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</a:rPr>
              <a:t>UP · 12 ms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" y="2139696"/>
            <a:ext cx="2340864" cy="566928"/>
          </a:xfrm>
          <a:prstGeom prst="roundRect">
            <a:avLst>
              <a:gd name="adj" fmla="val 9677"/>
            </a:avLst>
          </a:prstGeom>
          <a:solidFill>
            <a:srgbClr val="FAFFFE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322576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21945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Serveur-OpenPay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24414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</a:rPr>
              <a:t>UP · 8 ms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2880" y="2816352"/>
            <a:ext cx="2340864" cy="566928"/>
          </a:xfrm>
          <a:prstGeom prst="roundRect">
            <a:avLst>
              <a:gd name="adj" fmla="val 9677"/>
            </a:avLst>
          </a:prstGeom>
          <a:solidFill>
            <a:srgbClr val="FAFFFE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99923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28712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Routeur-VITIB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" y="311810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</a:rPr>
              <a:t>UP · 3 ms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2880" y="3493008"/>
            <a:ext cx="2340864" cy="566928"/>
          </a:xfrm>
          <a:prstGeom prst="roundRect">
            <a:avLst>
              <a:gd name="adj" fmla="val 9677"/>
            </a:avLst>
          </a:prstGeom>
          <a:solidFill>
            <a:srgbClr val="FAFFFE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675888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5478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Switch-Production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" y="37947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</a:rPr>
              <a:t>UP · 5 ms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633472" y="1463040"/>
            <a:ext cx="2340864" cy="566928"/>
          </a:xfrm>
          <a:prstGeom prst="roundRect">
            <a:avLst>
              <a:gd name="adj" fmla="val 9677"/>
            </a:avLst>
          </a:prstGeom>
          <a:solidFill>
            <a:srgbClr val="FAFFFE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24912" y="164592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0" y="151790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Switch-Admin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017520" y="17647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</a:rPr>
              <a:t>UP · 4 ms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633472" y="2139696"/>
            <a:ext cx="2340864" cy="566928"/>
          </a:xfrm>
          <a:prstGeom prst="roundRect">
            <a:avLst>
              <a:gd name="adj" fmla="val 9677"/>
            </a:avLst>
          </a:prstGeom>
          <a:solidFill>
            <a:srgbClr val="FAFFFE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24912" y="2322576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0" y="21945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NAS-Stockage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017520" y="24414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</a:rPr>
              <a:t>UP · 11 ms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633472" y="2816352"/>
            <a:ext cx="2340864" cy="566928"/>
          </a:xfrm>
          <a:prstGeom prst="roundRect">
            <a:avLst>
              <a:gd name="adj" fmla="val 9677"/>
            </a:avLst>
          </a:prstGeom>
          <a:solidFill>
            <a:srgbClr val="FFF8F8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24912" y="2999232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17520" y="28712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Serveur-BDD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017520" y="311810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</a:rPr>
              <a:t>DOWN · 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633472" y="3493008"/>
            <a:ext cx="2340864" cy="566928"/>
          </a:xfrm>
          <a:prstGeom prst="roundRect">
            <a:avLst>
              <a:gd name="adj" fmla="val 9677"/>
            </a:avLst>
          </a:prstGeom>
          <a:solidFill>
            <a:srgbClr val="FFF8F8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24912" y="367588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17520" y="35478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Imprimante-RH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017520" y="37947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</a:rPr>
              <a:t>DOWN · —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074920" y="594360"/>
            <a:ext cx="22860" cy="4343400"/>
          </a:xfrm>
          <a:prstGeom prst="rect">
            <a:avLst/>
          </a:prstGeom>
          <a:solidFill>
            <a:srgbClr val="D1DCE8"/>
          </a:solidFill>
          <a:ln/>
        </p:spPr>
      </p:sp>
      <p:sp>
        <p:nvSpPr>
          <p:cNvPr id="57" name="Shape 55"/>
          <p:cNvSpPr/>
          <p:nvPr/>
        </p:nvSpPr>
        <p:spPr>
          <a:xfrm>
            <a:off x="5230368" y="621792"/>
            <a:ext cx="1600200" cy="2834640"/>
          </a:xfrm>
          <a:prstGeom prst="roundRect">
            <a:avLst>
              <a:gd name="adj" fmla="val 11429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340096" y="777240"/>
            <a:ext cx="1380744" cy="2340864"/>
          </a:xfrm>
          <a:prstGeom prst="roundRect">
            <a:avLst>
              <a:gd name="adj" fmla="val 6623"/>
            </a:avLst>
          </a:prstGeom>
          <a:solidFill>
            <a:srgbClr val="0D1117"/>
          </a:solidFill>
          <a:ln/>
        </p:spPr>
      </p:sp>
      <p:sp>
        <p:nvSpPr>
          <p:cNvPr id="59" name="Shape 57"/>
          <p:cNvSpPr/>
          <p:nvPr/>
        </p:nvSpPr>
        <p:spPr>
          <a:xfrm>
            <a:off x="5404104" y="859536"/>
            <a:ext cx="1252728" cy="2011680"/>
          </a:xfrm>
          <a:prstGeom prst="roundRect">
            <a:avLst>
              <a:gd name="adj" fmla="val 5839"/>
            </a:avLst>
          </a:prstGeom>
          <a:solidFill>
            <a:srgbClr val="1F3A5F"/>
          </a:solidFill>
          <a:ln/>
        </p:spPr>
      </p:sp>
      <p:sp>
        <p:nvSpPr>
          <p:cNvPr id="60" name="Text 58"/>
          <p:cNvSpPr/>
          <p:nvPr/>
        </p:nvSpPr>
        <p:spPr>
          <a:xfrm>
            <a:off x="5422392" y="886968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</a:rPr>
              <a:t>🔴 PANNE CRITIQUE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431536" y="1161288"/>
            <a:ext cx="1188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AC5"/>
                </a:solidFill>
              </a:rPr>
              <a:t>Équipement : </a:t>
            </a:r>
            <a:r>
              <a:rPr lang="en-US" sz="1000" b="1" dirty="0">
                <a:solidFill>
                  <a:srgbClr val="FFFFFF"/>
                </a:solidFill>
              </a:rPr>
              <a:t>Serveur-BDD
</a:t>
            </a:r>
            <a:r>
              <a:rPr lang="en-US" sz="1000" dirty="0">
                <a:solidFill>
                  <a:srgbClr val="8BAAC5"/>
                </a:solidFill>
              </a:rPr>
              <a:t>IP : </a:t>
            </a:r>
            <a:r>
              <a:rPr lang="en-US" sz="1000" dirty="0">
                <a:solidFill>
                  <a:srgbClr val="FFFFFF"/>
                </a:solidFill>
              </a:rPr>
              <a:t>192.168.1.50
</a:t>
            </a:r>
            <a:r>
              <a:rPr lang="en-US" sz="1000" dirty="0">
                <a:solidFill>
                  <a:srgbClr val="8BAAC5"/>
                </a:solidFill>
              </a:rPr>
              <a:t>Type : </a:t>
            </a:r>
            <a:r>
              <a:rPr lang="en-US" sz="1000" b="1" dirty="0">
                <a:solidFill>
                  <a:srgbClr val="D97706"/>
                </a:solidFill>
              </a:rPr>
              <a:t>INDISPONIBILITÉ
</a:t>
            </a:r>
            <a:r>
              <a:rPr lang="en-US" sz="1000" dirty="0">
                <a:solidFill>
                  <a:srgbClr val="8BAAC5"/>
                </a:solidFill>
              </a:rPr>
              <a:t>Site : </a:t>
            </a:r>
            <a:r>
              <a:rPr lang="en-US" sz="1000" dirty="0">
                <a:solidFill>
                  <a:srgbClr val="FFFFFF"/>
                </a:solidFill>
              </a:rPr>
              <a:t>VITIB Grand-Bassam
</a:t>
            </a:r>
            <a:r>
              <a:rPr lang="en-US" sz="1000" dirty="0">
                <a:solidFill>
                  <a:srgbClr val="8BAAC5"/>
                </a:solidFill>
              </a:rPr>
              <a:t>Heure : </a:t>
            </a:r>
            <a:r>
              <a:rPr lang="en-US" sz="1000" dirty="0">
                <a:solidFill>
                  <a:srgbClr val="00B4D8"/>
                </a:solidFill>
              </a:rPr>
              <a:t>14:23:07</a:t>
            </a:r>
            <a:endParaRPr lang="en-US" sz="1000" dirty="0"/>
          </a:p>
        </p:txBody>
      </p:sp>
      <p:pic>
        <p:nvPicPr>
          <p:cNvPr id="6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2651760"/>
            <a:ext cx="347472" cy="347472"/>
          </a:xfrm>
          <a:prstGeom prst="rect">
            <a:avLst/>
          </a:prstGeom>
        </p:spPr>
      </p:pic>
      <p:pic>
        <p:nvPicPr>
          <p:cNvPr id="6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713232"/>
            <a:ext cx="329184" cy="329184"/>
          </a:xfrm>
          <a:prstGeom prst="rect">
            <a:avLst/>
          </a:prstGeom>
        </p:spPr>
      </p:pic>
      <p:sp>
        <p:nvSpPr>
          <p:cNvPr id="64" name="Text 60"/>
          <p:cNvSpPr/>
          <p:nvPr/>
        </p:nvSpPr>
        <p:spPr>
          <a:xfrm>
            <a:off x="7370064" y="6949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</a:rPr>
              <a:t>Temps réel</a:t>
            </a:r>
            <a:endParaRPr lang="en-US" sz="1600" dirty="0"/>
          </a:p>
        </p:txBody>
      </p:sp>
      <p:sp>
        <p:nvSpPr>
          <p:cNvPr id="65" name="Text 61"/>
          <p:cNvSpPr/>
          <p:nvPr/>
        </p:nvSpPr>
        <p:spPr>
          <a:xfrm>
            <a:off x="7370064" y="96926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Panne détectée avant signalement</a:t>
            </a:r>
            <a:endParaRPr lang="en-US" sz="1100" dirty="0"/>
          </a:p>
        </p:txBody>
      </p:sp>
      <p:sp>
        <p:nvSpPr>
          <p:cNvPr id="66" name="Shape 62"/>
          <p:cNvSpPr/>
          <p:nvPr/>
        </p:nvSpPr>
        <p:spPr>
          <a:xfrm>
            <a:off x="6949440" y="1399032"/>
            <a:ext cx="1965960" cy="13716"/>
          </a:xfrm>
          <a:prstGeom prst="rect">
            <a:avLst/>
          </a:prstGeom>
          <a:solidFill>
            <a:srgbClr val="D1DCE8"/>
          </a:solidFill>
          <a:ln/>
        </p:spPr>
      </p:sp>
      <p:pic>
        <p:nvPicPr>
          <p:cNvPr id="6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609344"/>
            <a:ext cx="329184" cy="329184"/>
          </a:xfrm>
          <a:prstGeom prst="rect">
            <a:avLst/>
          </a:prstGeom>
        </p:spPr>
      </p:pic>
      <p:sp>
        <p:nvSpPr>
          <p:cNvPr id="68" name="Text 63"/>
          <p:cNvSpPr/>
          <p:nvPr/>
        </p:nvSpPr>
        <p:spPr>
          <a:xfrm>
            <a:off x="7370064" y="159105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</a:rPr>
              <a:t>&lt; 2 min</a:t>
            </a:r>
            <a:endParaRPr lang="en-US" sz="1600" dirty="0"/>
          </a:p>
        </p:txBody>
      </p:sp>
      <p:sp>
        <p:nvSpPr>
          <p:cNvPr id="69" name="Text 64"/>
          <p:cNvSpPr/>
          <p:nvPr/>
        </p:nvSpPr>
        <p:spPr>
          <a:xfrm>
            <a:off x="7370064" y="186537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Détection + alerte Telegram</a:t>
            </a:r>
            <a:endParaRPr lang="en-US" sz="1100" dirty="0"/>
          </a:p>
        </p:txBody>
      </p:sp>
      <p:sp>
        <p:nvSpPr>
          <p:cNvPr id="70" name="Shape 65"/>
          <p:cNvSpPr/>
          <p:nvPr/>
        </p:nvSpPr>
        <p:spPr>
          <a:xfrm>
            <a:off x="6949440" y="2295144"/>
            <a:ext cx="1965960" cy="13716"/>
          </a:xfrm>
          <a:prstGeom prst="rect">
            <a:avLst/>
          </a:prstGeom>
          <a:solidFill>
            <a:srgbClr val="D1DCE8"/>
          </a:solidFill>
          <a:ln/>
        </p:spPr>
      </p:sp>
      <p:pic>
        <p:nvPicPr>
          <p:cNvPr id="7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2505456"/>
            <a:ext cx="329184" cy="329184"/>
          </a:xfrm>
          <a:prstGeom prst="rect">
            <a:avLst/>
          </a:prstGeom>
        </p:spPr>
      </p:pic>
      <p:sp>
        <p:nvSpPr>
          <p:cNvPr id="72" name="Text 66"/>
          <p:cNvSpPr/>
          <p:nvPr/>
        </p:nvSpPr>
        <p:spPr>
          <a:xfrm>
            <a:off x="7370064" y="24871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</a:rPr>
              <a:t>Traçabilité</a:t>
            </a:r>
            <a:endParaRPr lang="en-US" sz="1600" dirty="0"/>
          </a:p>
        </p:txBody>
      </p:sp>
      <p:sp>
        <p:nvSpPr>
          <p:cNvPr id="73" name="Text 67"/>
          <p:cNvSpPr/>
          <p:nvPr/>
        </p:nvSpPr>
        <p:spPr>
          <a:xfrm>
            <a:off x="7370064" y="276148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Historique = preuve SLA</a:t>
            </a:r>
            <a:endParaRPr lang="en-US" sz="1100" dirty="0"/>
          </a:p>
        </p:txBody>
      </p:sp>
      <p:sp>
        <p:nvSpPr>
          <p:cNvPr id="74" name="Shape 68"/>
          <p:cNvSpPr/>
          <p:nvPr/>
        </p:nvSpPr>
        <p:spPr>
          <a:xfrm>
            <a:off x="6949440" y="3191256"/>
            <a:ext cx="1965960" cy="13716"/>
          </a:xfrm>
          <a:prstGeom prst="rect">
            <a:avLst/>
          </a:prstGeom>
          <a:solidFill>
            <a:srgbClr val="D1DCE8"/>
          </a:solidFill>
          <a:ln/>
        </p:spPr>
      </p:sp>
      <p:pic>
        <p:nvPicPr>
          <p:cNvPr id="7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3401568"/>
            <a:ext cx="329184" cy="329184"/>
          </a:xfrm>
          <a:prstGeom prst="rect">
            <a:avLst/>
          </a:prstGeom>
        </p:spPr>
      </p:pic>
      <p:sp>
        <p:nvSpPr>
          <p:cNvPr id="76" name="Text 69"/>
          <p:cNvSpPr/>
          <p:nvPr/>
        </p:nvSpPr>
        <p:spPr>
          <a:xfrm>
            <a:off x="7370064" y="33832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</a:rPr>
              <a:t>Lisibilité</a:t>
            </a:r>
            <a:endParaRPr lang="en-US" sz="1600" dirty="0"/>
          </a:p>
        </p:txBody>
      </p:sp>
      <p:sp>
        <p:nvSpPr>
          <p:cNvPr id="77" name="Text 70"/>
          <p:cNvSpPr/>
          <p:nvPr/>
        </p:nvSpPr>
        <p:spPr>
          <a:xfrm>
            <a:off x="7370064" y="36576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Interface claire &amp; exportable</a:t>
            </a:r>
            <a:endParaRPr lang="en-US" sz="1100" dirty="0"/>
          </a:p>
        </p:txBody>
      </p:sp>
      <p:sp>
        <p:nvSpPr>
          <p:cNvPr id="78" name="Shape 71"/>
          <p:cNvSpPr/>
          <p:nvPr/>
        </p:nvSpPr>
        <p:spPr>
          <a:xfrm>
            <a:off x="182880" y="4663440"/>
            <a:ext cx="8732520" cy="32918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9" name="Text 72"/>
          <p:cNvSpPr/>
          <p:nvPr/>
        </p:nvSpPr>
        <p:spPr>
          <a:xfrm>
            <a:off x="274320" y="468172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Panne détectée → alerte e-mail + Telegram &lt; 2 min → acquittement → preuve SLA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73152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 sz="2800" dirty="0"/>
          </a:p>
        </p:txBody>
      </p:sp>
      <p:sp>
        <p:nvSpPr>
          <p:cNvPr id="4" name="Text 2"/>
          <p:cNvSpPr/>
          <p:nvPr/>
        </p:nvSpPr>
        <p:spPr>
          <a:xfrm>
            <a:off x="164592" y="73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10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8368" y="7315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Marketing, vente et concurrence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AAC5"/>
                </a:solidFill>
              </a:rPr>
              <a:t>Automatisation de la Supervision et de la Détection des Pannes Réseau — OPEN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</a:rPr>
              <a:t>Double valeur pour OPEN MOISE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9728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1155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Outil interne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155448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Supervision de la marketplace MOISE, OpenPay, usine VITIB — qualité de service garantie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155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Offre commerciale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Service managé facturable aux distributeurs Open G, partenaires CERCO et PME ivoiriennes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" y="22677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7B6"/>
                </a:solidFill>
              </a:rPr>
              <a:t>Positionnement concurrentiel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20040" y="2697480"/>
            <a:ext cx="8503920" cy="347472"/>
          </a:xfrm>
          <a:prstGeom prst="roundRect">
            <a:avLst>
              <a:gd name="adj" fmla="val 18421"/>
            </a:avLst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743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Outil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91640" y="2743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80360" y="2743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Simplicité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60520" y="2743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Légèreté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2743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Alerte mobile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2743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Personnalisation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090672"/>
            <a:ext cx="85039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82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Nagios/Zabbix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91640" y="3182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Gratuit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80360" y="3182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Faible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60520" y="3182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Moyenne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3182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Plugin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20840" y="3182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Limitée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3593592"/>
            <a:ext cx="850392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685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PRTG/SolarWinds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691640" y="3685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Très élevé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880360" y="3685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Élevée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60520" y="3685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Faible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40680" y="3685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App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20840" y="3685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Non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" y="4096512"/>
            <a:ext cx="8503920" cy="438912"/>
          </a:xfrm>
          <a:prstGeom prst="roundRect">
            <a:avLst>
              <a:gd name="adj" fmla="val 12500"/>
            </a:avLst>
          </a:prstGeom>
          <a:solidFill>
            <a:srgbClr val="EBF8FC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187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</a:rPr>
              <a:t>Notre solution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691640" y="4187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</a:rPr>
              <a:t>0 FCFA ✔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880360" y="4187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</a:rPr>
              <a:t>Élevée ✔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160520" y="4187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</a:rPr>
              <a:t>Très élevée ✔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40680" y="4187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</a:rPr>
              <a:t>Telegram ✔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20840" y="4187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</a:rPr>
              <a:t>Totale ✔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164592" y="73152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 sz="2800" dirty="0"/>
          </a:p>
        </p:txBody>
      </p:sp>
      <p:sp>
        <p:nvSpPr>
          <p:cNvPr id="4" name="Text 2"/>
          <p:cNvSpPr/>
          <p:nvPr/>
        </p:nvSpPr>
        <p:spPr>
          <a:xfrm>
            <a:off x="164592" y="73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11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8368" y="7315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Prévisions financières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AAC5"/>
                </a:solidFill>
              </a:rPr>
              <a:t>Automatisation de la Supervision et de la Détection des Pannes Réseau — OPEN 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</a:rPr>
              <a:t>Investissement quasi nul — retour dès le 1er client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1704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7B6"/>
                </a:solidFill>
              </a:rPr>
              <a:t>≈ 130 000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0077B6"/>
                </a:solidFill>
              </a:rPr>
              <a:t>FCFA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" y="19385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Investissement initial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(serveur / VM mutualisable)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115568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1704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</a:rPr>
              <a:t>≈ 6 000 000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</a:rPr>
              <a:t>FCFA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46120" y="19385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Revenus prévisionnels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année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115568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1704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</a:rPr>
              <a:t>1 client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72200" y="19385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Seuil de rentabilité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amort dès le 1er abonnement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26517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7B6"/>
                </a:solidFill>
              </a:rPr>
              <a:t>Détail revenus année 1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0040" y="3090672"/>
            <a:ext cx="8503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82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</a:rPr>
              <a:t>Supervision managée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10 clients × 25 000 FCFA/mois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3182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2C55E"/>
                </a:solidFill>
              </a:rPr>
              <a:t>3 000 000 FCFA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3621024"/>
            <a:ext cx="8503920" cy="457200"/>
          </a:xfrm>
          <a:prstGeom prst="roundRect">
            <a:avLst>
              <a:gd name="adj" fmla="val 12000"/>
            </a:avLst>
          </a:prstGeom>
          <a:solidFill>
            <a:srgbClr val="F4F8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7124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</a:rPr>
              <a:t>Mise en service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29000" y="37124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10 × 200 000 FCFA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37124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2C55E"/>
                </a:solidFill>
              </a:rPr>
              <a:t>2 000 000 FCFA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" y="4151376"/>
            <a:ext cx="8503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2428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</a:rPr>
              <a:t>Option Pro (SNMP/IA)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4242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3 × 325 000 FCFA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0840" y="4242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2C55E"/>
                </a:solidFill>
              </a:rPr>
              <a:t>975 000 FCFA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73152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73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7315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Limites actuelles &amp; Perspectives d'évolution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AC5"/>
                </a:solidFill>
              </a:rPr>
              <a:t>Automatisation de la Supervision et de la Détection des Pannes Réseau — OPEN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</a:rPr>
              <a:t>Limites du projet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FFF5F5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700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444"/>
                </a:solidFill>
              </a:rPr>
              <a:t>ICMP/TCP uniquement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22960" y="1444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</a:rPr>
              <a:t>Pas encore de métriques internes (CPU/RAM) sans SNMP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0040" y="2029968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FFF5F5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2140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2960" y="2084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444"/>
                </a:solidFill>
              </a:rPr>
              <a:t>Cycle de 2 minutes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822960" y="23591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</a:rPr>
              <a:t>Borne minimale du temps de détection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20040" y="2944368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FFF5F5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3580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" y="2999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444"/>
                </a:solidFill>
              </a:rPr>
              <a:t>Dépendance Internet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822960" y="32735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</a:rPr>
              <a:t>Alertes SMTP/Telegram nécessitent accès sortant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320040" y="3858768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FFF5F5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5020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3913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444"/>
                </a:solidFill>
              </a:rPr>
              <a:t>Point unique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822960" y="4187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</a:rPr>
              <a:t>Serveur de supervision à redonder en environnement critique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754880" y="6583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C55E"/>
                </a:solidFill>
              </a:rPr>
              <a:t>Perspectives d'évolution</a:t>
            </a:r>
            <a:endParaRPr lang="en-US" sz="2400" dirty="0"/>
          </a:p>
        </p:txBody>
      </p:sp>
      <p:sp>
        <p:nvSpPr>
          <p:cNvPr id="25" name="Shape 19"/>
          <p:cNvSpPr/>
          <p:nvPr/>
        </p:nvSpPr>
        <p:spPr>
          <a:xfrm>
            <a:off x="4754880" y="1115568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F0FDF4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1615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21808" y="1170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C55E"/>
                </a:solidFill>
              </a:rPr>
              <a:t>SNMP &amp; métriques</a:t>
            </a: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5321808" y="14447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</a:rPr>
              <a:t>CPU, mémoire, bande passante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4754880" y="2029968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F0FDF4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130552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321808" y="20848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C55E"/>
                </a:solidFill>
              </a:rPr>
              <a:t>IA prédictive</a:t>
            </a: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5321808" y="23591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</a:rPr>
              <a:t>Détection anomalies avant la panne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4754880" y="2944368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F0FDF4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044952"/>
            <a:ext cx="347472" cy="34747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321808" y="2999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C55E"/>
                </a:solidFill>
              </a:rPr>
              <a:t>Auto-remédiation</a:t>
            </a:r>
            <a:endParaRPr lang="en-US" dirty="0"/>
          </a:p>
        </p:txBody>
      </p:sp>
      <p:sp>
        <p:nvSpPr>
          <p:cNvPr id="36" name="Text 27"/>
          <p:cNvSpPr/>
          <p:nvPr/>
        </p:nvSpPr>
        <p:spPr>
          <a:xfrm>
            <a:off x="5321808" y="32735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</a:rPr>
              <a:t>Actions correctives automatiques (AIOps)</a:t>
            </a:r>
            <a:endParaRPr lang="en-US" sz="1400" dirty="0"/>
          </a:p>
        </p:txBody>
      </p:sp>
      <p:sp>
        <p:nvSpPr>
          <p:cNvPr id="37" name="Shape 28"/>
          <p:cNvSpPr/>
          <p:nvPr/>
        </p:nvSpPr>
        <p:spPr>
          <a:xfrm>
            <a:off x="4754880" y="3858768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F0FDF4"/>
          </a:solidFill>
          <a:ln w="635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959352"/>
            <a:ext cx="347472" cy="34747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321808" y="3913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C55E"/>
                </a:solidFill>
              </a:rPr>
              <a:t>Multi-sites</a:t>
            </a:r>
            <a:endParaRPr lang="en-US" dirty="0"/>
          </a:p>
        </p:txBody>
      </p:sp>
      <p:sp>
        <p:nvSpPr>
          <p:cNvPr id="40" name="Text 30"/>
          <p:cNvSpPr/>
          <p:nvPr/>
        </p:nvSpPr>
        <p:spPr>
          <a:xfrm>
            <a:off x="5321808" y="4187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</a:rPr>
              <a:t>Filiales CERCO, portail multi-clients Docker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82296"/>
            <a:ext cx="8412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54864" cy="4636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658368"/>
            <a:ext cx="8686800" cy="228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</a:rPr>
              <a:t>Awali transforme la supervision réseau </a:t>
            </a:r>
            <a:r>
              <a:rPr lang="en-US" sz="2000" b="1" dirty="0" err="1">
                <a:solidFill>
                  <a:srgbClr val="1B3A5C"/>
                </a:solidFill>
              </a:rPr>
              <a:t>d'OPEN</a:t>
            </a:r>
            <a:r>
              <a:rPr lang="en-US" sz="2000" b="1" dirty="0">
                <a:solidFill>
                  <a:srgbClr val="1B3A5C"/>
                </a:solidFill>
              </a:rPr>
              <a:t> : d'une logique réactive et manuelle vers une approche automatisée, intelligente et temps réel — à coût de licence nul.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" y="1572768"/>
            <a:ext cx="8686800" cy="228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292608" y="1737360"/>
            <a:ext cx="2011680" cy="1874520"/>
          </a:xfrm>
          <a:prstGeom prst="roundRect">
            <a:avLst>
              <a:gd name="adj" fmla="val 3902"/>
            </a:avLst>
          </a:prstGeom>
          <a:solidFill>
            <a:srgbClr val="F3F6F9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1737360"/>
            <a:ext cx="201168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87452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2423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MTTD &lt; 2 min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65760" y="2788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Détection × 15 plus rapide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que la supervision manuelle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505456" y="1737360"/>
            <a:ext cx="2011680" cy="1874520"/>
          </a:xfrm>
          <a:prstGeom prst="roundRect">
            <a:avLst>
              <a:gd name="adj" fmla="val 3902"/>
            </a:avLst>
          </a:prstGeom>
          <a:solidFill>
            <a:srgbClr val="F3F6F9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05456" y="1737360"/>
            <a:ext cx="201168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87452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78608" y="2423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MTTR réduit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578608" y="2788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Astreinte alertée partout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via Telegram instantané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718304" y="1737360"/>
            <a:ext cx="2011680" cy="1874520"/>
          </a:xfrm>
          <a:prstGeom prst="roundRect">
            <a:avLst>
              <a:gd name="adj" fmla="val 3902"/>
            </a:avLst>
          </a:prstGeom>
          <a:solidFill>
            <a:srgbClr val="F3F6F9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718304" y="1737360"/>
            <a:ext cx="201168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544" y="187452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91456" y="2423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0 FCFA licence</a:t>
            </a: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791456" y="2788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100 % open-source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ROI dès le 1er client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931152" y="1737360"/>
            <a:ext cx="2011680" cy="1874520"/>
          </a:xfrm>
          <a:prstGeom prst="roundRect">
            <a:avLst>
              <a:gd name="adj" fmla="val 3902"/>
            </a:avLst>
          </a:prstGeom>
          <a:solidFill>
            <a:srgbClr val="F3F6F9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931152" y="1737360"/>
            <a:ext cx="201168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2" y="187452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04304" y="2423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</a:rPr>
              <a:t>Traçabilité SLA</a:t>
            </a: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7004304" y="2788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Preuve de service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opposable aux clients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228600" y="3767328"/>
            <a:ext cx="8686800" cy="22860"/>
          </a:xfrm>
          <a:prstGeom prst="rect">
            <a:avLst/>
          </a:prstGeom>
          <a:solidFill>
            <a:srgbClr val="D1DCE8"/>
          </a:solidFill>
          <a:ln/>
        </p:spPr>
      </p:sp>
      <p:sp>
        <p:nvSpPr>
          <p:cNvPr id="30" name="Text 24"/>
          <p:cNvSpPr/>
          <p:nvPr/>
        </p:nvSpPr>
        <p:spPr>
          <a:xfrm>
            <a:off x="228600" y="385876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3A5C"/>
                </a:solidFill>
              </a:rPr>
              <a:t>Au-delà de l'outil : Awali est une démarche d'ingénierie alliant réseau, automatisation et IA — avec un fort potentiel d'évolution pour OPEN et ses filiales CERCO.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228600" y="4526280"/>
            <a:ext cx="8686800" cy="228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26"/>
          <p:cNvSpPr/>
          <p:nvPr/>
        </p:nvSpPr>
        <p:spPr>
          <a:xfrm>
            <a:off x="228600" y="464515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B7280"/>
                </a:solidFill>
              </a:rPr>
              <a:t>Merci pour votre attention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1739</TotalTime>
  <Words>1633</Words>
  <Application>Microsoft Office PowerPoint</Application>
  <PresentationFormat>Affichage à l'écran (16:9)</PresentationFormat>
  <Paragraphs>365</Paragraphs>
  <Slides>16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Awali — Supervision Réseau OPEN MOISE</dc:title>
  <dc:subject>PptxGenJS Presentation</dc:subject>
  <dc:creator>Kouassi Yoo Nyong Kra Espérance</dc:creator>
  <cp:lastModifiedBy>Espérance Kouassi</cp:lastModifiedBy>
  <cp:revision>7</cp:revision>
  <dcterms:created xsi:type="dcterms:W3CDTF">2026-06-13T15:14:19Z</dcterms:created>
  <dcterms:modified xsi:type="dcterms:W3CDTF">2026-06-14T21:13:16Z</dcterms:modified>
</cp:coreProperties>
</file>