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0" r:id="rId4"/>
    <p:sldId id="259" r:id="rId5"/>
    <p:sldId id="258" r:id="rId6"/>
    <p:sldId id="270" r:id="rId21"/>
    <p:sldId id="261" r:id="rId7"/>
    <p:sldId id="262" r:id="rId8"/>
    <p:sldId id="271" r:id="rId22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108" y="1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648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Relationship Id="rId5" Type="http://schemas.openxmlformats.org/officeDocument/2006/relationships/image" Target="../media/image10.png"/><Relationship Id="rId6" Type="http://schemas.openxmlformats.org/officeDocument/2006/relationships/image" Target="../media/image5.png"/><Relationship Id="rId7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9.png"/><Relationship Id="rId6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807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10058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B4D8"/>
                </a:solidFill>
              </a:rPr>
              <a:t>MÉMOIRE DE PROJET DE FIN D'ÉTUDES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" y="141732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3A5C"/>
                </a:solidFill>
              </a:rPr>
              <a:t>Automatisation de la Supervision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1B3A5C"/>
                </a:solidFill>
              </a:rPr>
              <a:t>et de la Détection des Pannes Réseau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320040" y="3291840"/>
            <a:ext cx="164592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20040" y="3456432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B7280"/>
                </a:solidFill>
              </a:rPr>
              <a:t>PRÉSENTÉ PAR :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0040" y="3675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</a:rPr>
              <a:t>Kouassi Yoo Nyong Kra Espérance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0" y="3456432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6B7280"/>
                </a:solidFill>
              </a:rPr>
              <a:t>Sous la direction de :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0" y="367588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</a:rPr>
              <a:t>Dr Alain CAPO-CHICHI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39319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B3A5C"/>
                </a:solidFill>
              </a:rPr>
              <a:t>Maître assistant des Universités du CAMES</a:t>
            </a:r>
            <a:endParaRPr lang="en-US" sz="1000" dirty="0"/>
          </a:p>
          <a:p>
            <a:pPr marL="0" indent="0">
              <a:buNone/>
            </a:pPr>
            <a:r>
              <a:rPr lang="en-US" sz="1200" i="1" dirty="0">
                <a:solidFill>
                  <a:srgbClr val="1B3A5C"/>
                </a:solidFill>
              </a:rPr>
              <a:t>en Génie Informatique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461772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B4D8"/>
                </a:solidFill>
              </a:rPr>
              <a:t>Master 2 Réseaux Informatique et Télécommunication</a:t>
            </a:r>
            <a:endParaRPr lang="en-US" sz="1000" dirty="0"/>
          </a:p>
          <a:p>
            <a:pPr marL="0" indent="0">
              <a:buNone/>
            </a:pPr>
            <a:r>
              <a:rPr lang="en-US" sz="1200" dirty="0">
                <a:solidFill>
                  <a:srgbClr val="00B4D8"/>
                </a:solidFill>
              </a:rPr>
              <a:t>Année académique 2025 – 2026</a:t>
            </a:r>
            <a:endParaRPr lang="en-US" sz="1000" dirty="0"/>
          </a:p>
        </p:txBody>
      </p:sp>
      <p:pic>
        <p:nvPicPr>
          <p:cNvPr id="14" name="Image 13" descr="Une image contenant clipart, Graphique, conception, dessin humoristique&#10;&#10;Le contenu généré par l’IA peut être incorrect.">
            <a:extLst>
              <a:ext uri="{FF2B5EF4-FFF2-40B4-BE49-F238E27FC236}">
                <a16:creationId xmlns:a16="http://schemas.microsoft.com/office/drawing/2014/main" id="{316975BC-3AB2-62E6-0D8C-3E5B6B7FE0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303" y="79738"/>
            <a:ext cx="798086" cy="798086"/>
          </a:xfrm>
          <a:prstGeom prst="rect">
            <a:avLst/>
          </a:prstGeom>
        </p:spPr>
      </p:pic>
      <p:pic>
        <p:nvPicPr>
          <p:cNvPr id="16" name="Image 15" descr="Une image contenant logo, Graphique, clipart, symbole&#10;&#10;Le contenu généré par l’IA peut être incorrect.">
            <a:extLst>
              <a:ext uri="{FF2B5EF4-FFF2-40B4-BE49-F238E27FC236}">
                <a16:creationId xmlns:a16="http://schemas.microsoft.com/office/drawing/2014/main" id="{40085CD2-EFD3-ECE2-9125-9B5280988D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8673" y="97917"/>
            <a:ext cx="798087" cy="7980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3" name="Text 1"/>
          <p:cNvSpPr/>
          <p:nvPr/>
        </p:nvSpPr>
        <p:spPr>
          <a:xfrm>
            <a:off x="274320" y="82296"/>
            <a:ext cx="8412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Introduction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B7280"/>
                </a:solidFill>
              </a:rPr>
              <a:t>Awali — Automatisation Supervision Réseau | OPEN MOISE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82880" y="1709928"/>
            <a:ext cx="8686800" cy="2679192"/>
          </a:xfrm>
          <a:prstGeom prst="rect">
            <a:avLst/>
          </a:prstGeom>
          <a:noFill/>
          <a:ln>
            <a:solidFill>
              <a:srgbClr val="D1DCE8"/>
            </a:solidFill>
          </a:ln>
        </p:spPr>
        <p:txBody>
          <a:bodyPr wrap="square" rtlCol="0" anchor="ctr"/>
          <a:lstStyle/>
          <a:p>
            <a:pPr marL="0" indent="0" algn="just">
              <a:spcAft>
                <a:spcPts val="400"/>
              </a:spcAft>
              <a:buNone/>
            </a:pPr>
            <a:r>
              <a:rPr lang="en-US" sz="1400" dirty="0">
                <a:solidFill>
                  <a:srgbClr val="111827"/>
                </a:solidFill>
              </a:rPr>
              <a:t>Le réseau </a:t>
            </a:r>
            <a:r>
              <a:rPr lang="en-US" sz="1400" dirty="0" err="1">
                <a:solidFill>
                  <a:srgbClr val="111827"/>
                </a:solidFill>
              </a:rPr>
              <a:t>est</a:t>
            </a:r>
            <a:r>
              <a:rPr lang="en-US" sz="1400" dirty="0">
                <a:solidFill>
                  <a:srgbClr val="111827"/>
                </a:solidFill>
              </a:rPr>
              <a:t> le </a:t>
            </a:r>
            <a:r>
              <a:rPr lang="en-US" sz="1400" dirty="0" err="1">
                <a:solidFill>
                  <a:srgbClr val="111827"/>
                </a:solidFill>
              </a:rPr>
              <a:t>système</a:t>
            </a:r>
            <a:r>
              <a:rPr lang="en-US" sz="1400" dirty="0">
                <a:solidFill>
                  <a:srgbClr val="111827"/>
                </a:solidFill>
              </a:rPr>
              <a:t> </a:t>
            </a:r>
            <a:r>
              <a:rPr lang="en-US" sz="1400" dirty="0" err="1">
                <a:solidFill>
                  <a:srgbClr val="111827"/>
                </a:solidFill>
              </a:rPr>
              <a:t>nerveux</a:t>
            </a:r>
            <a:r>
              <a:rPr lang="en-US" sz="1400" dirty="0">
                <a:solidFill>
                  <a:srgbClr val="111827"/>
                </a:solidFill>
              </a:rPr>
              <a:t> </a:t>
            </a:r>
            <a:r>
              <a:rPr lang="en-US" sz="1400" dirty="0" err="1">
                <a:solidFill>
                  <a:srgbClr val="111827"/>
                </a:solidFill>
              </a:rPr>
              <a:t>d'OPEN</a:t>
            </a:r>
            <a:r>
              <a:rPr lang="en-US" sz="1400" dirty="0">
                <a:solidFill>
                  <a:srgbClr val="111827"/>
                </a:solidFill>
              </a:rPr>
              <a:t> . </a:t>
            </a:r>
            <a:r>
              <a:rPr lang="fr-FR" sz="1400" dirty="0"/>
              <a:t>Le service client, la comptabilité, ainsi que plusieurs autres départements et la chaîne de production des smartphones OPEN G et OPEN PRO en dépendent en continu, 24h/24.</a:t>
            </a:r>
            <a:r>
              <a:rPr lang="en-US" sz="1400" dirty="0">
                <a:solidFill>
                  <a:srgbClr val="111827"/>
                </a:solidFill>
              </a:rPr>
              <a:t> </a:t>
            </a:r>
            <a:r>
              <a:rPr lang="en-US" sz="1400" dirty="0" err="1">
                <a:solidFill>
                  <a:srgbClr val="111827"/>
                </a:solidFill>
              </a:rPr>
              <a:t>Pourtant</a:t>
            </a:r>
            <a:r>
              <a:rPr lang="en-US" sz="1400" dirty="0">
                <a:solidFill>
                  <a:srgbClr val="111827"/>
                </a:solidFill>
              </a:rPr>
              <a:t>, la supervision réseau </a:t>
            </a:r>
            <a:r>
              <a:rPr lang="en-US" sz="1400" dirty="0" err="1">
                <a:solidFill>
                  <a:srgbClr val="111827"/>
                </a:solidFill>
              </a:rPr>
              <a:t>est</a:t>
            </a:r>
            <a:r>
              <a:rPr lang="en-US" sz="1400" dirty="0">
                <a:solidFill>
                  <a:srgbClr val="111827"/>
                </a:solidFill>
              </a:rPr>
              <a:t> encore </a:t>
            </a:r>
            <a:r>
              <a:rPr lang="en-US" sz="1400" dirty="0" err="1">
                <a:solidFill>
                  <a:srgbClr val="111827"/>
                </a:solidFill>
              </a:rPr>
              <a:t>majoritairement</a:t>
            </a:r>
            <a:r>
              <a:rPr lang="en-US" sz="1400" dirty="0">
                <a:solidFill>
                  <a:srgbClr val="111827"/>
                </a:solidFill>
              </a:rPr>
              <a:t> </a:t>
            </a:r>
            <a:r>
              <a:rPr lang="en-US" sz="1400" dirty="0" err="1">
                <a:solidFill>
                  <a:srgbClr val="111827"/>
                </a:solidFill>
              </a:rPr>
              <a:t>réalisée</a:t>
            </a:r>
            <a:r>
              <a:rPr lang="en-US" sz="1400" dirty="0">
                <a:solidFill>
                  <a:srgbClr val="111827"/>
                </a:solidFill>
              </a:rPr>
              <a:t> de manière </a:t>
            </a:r>
            <a:r>
              <a:rPr lang="en-US" sz="1400" dirty="0" err="1">
                <a:solidFill>
                  <a:srgbClr val="111827"/>
                </a:solidFill>
              </a:rPr>
              <a:t>manuelle</a:t>
            </a:r>
            <a:r>
              <a:rPr lang="en-US" sz="1400" dirty="0">
                <a:solidFill>
                  <a:srgbClr val="111827"/>
                </a:solidFill>
              </a:rPr>
              <a:t>. </a:t>
            </a:r>
            <a:r>
              <a:rPr lang="fr-FR" sz="1400" dirty="0"/>
              <a:t>Les pannes sont généralement détectées après leur survenue.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192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fr-FR" dirty="0"/>
          </a:p>
        </p:txBody>
      </p:sp>
      <p:sp>
        <p:nvSpPr>
          <p:cNvPr id="4" name="Text 2"/>
          <p:cNvSpPr/>
          <p:nvPr/>
        </p:nvSpPr>
        <p:spPr>
          <a:xfrm>
            <a:off x="182880" y="64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82296"/>
            <a:ext cx="7772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</a:rPr>
              <a:t>Problématique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B7280"/>
                </a:solidFill>
              </a:rPr>
              <a:t>Awali — Automatisation Supervision Réseau | OPEN MOISE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57200" y="1051560"/>
            <a:ext cx="8229600" cy="1508760"/>
          </a:xfrm>
          <a:prstGeom prst="roundRect">
            <a:avLst>
              <a:gd name="adj" fmla="val 6061"/>
            </a:avLst>
          </a:prstGeom>
          <a:solidFill>
            <a:srgbClr val="F3F6F9"/>
          </a:solidFill>
          <a:ln w="19050">
            <a:solidFill>
              <a:srgbClr val="00B4D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1143000"/>
            <a:ext cx="78638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3A5C"/>
                </a:solidFill>
              </a:rPr>
              <a:t>« Comment OPEN  peut-elle automatiser la supervision de son réseau pour détecter les pannes en temps réel, réduire le temps d'intervention et assurer la traçabilité du service? »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82880" y="64008"/>
            <a:ext cx="365760" cy="3657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82880" y="64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82296"/>
            <a:ext cx="7772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Contexte &amp; Problème identifié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B7280"/>
                </a:solidFill>
              </a:rPr>
              <a:t>Awali — Automatisation Supervision Réseau | OPEN MOISE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28600" y="62179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</a:rPr>
              <a:t>OPEN  &amp; le réseau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1042416"/>
            <a:ext cx="45720" cy="5943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5760" y="1024128"/>
            <a:ext cx="3886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Service client, comptabilité et production des smartphones dépendent du réseau 24h/24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8600" y="1682496"/>
            <a:ext cx="406908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28600" y="1956816"/>
            <a:ext cx="45720" cy="5943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65760" y="1938528"/>
            <a:ext cx="3886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Marketplace vocale MOISE · système OpenPay · superphones Open G / Open Pro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8600" y="2596896"/>
            <a:ext cx="406908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28600" y="2871216"/>
            <a:ext cx="45720" cy="5943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65760" y="2852928"/>
            <a:ext cx="3886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Usine VITIB Grand-Bassam + bureaux Abidjan + filiales régionales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8600" y="3511296"/>
            <a:ext cx="406908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28600" y="3785616"/>
            <a:ext cx="45720" cy="5943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65760" y="3767328"/>
            <a:ext cx="3886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Toute panne = transactions bloquées + image dégradée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17720" y="594360"/>
            <a:ext cx="22860" cy="4343400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54880" y="621792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</a:rPr>
              <a:t>Le problème constaté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1005840"/>
            <a:ext cx="4160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i="1" dirty="0">
                <a:solidFill>
                  <a:srgbClr val="1B3A5C"/>
                </a:solidFill>
              </a:rPr>
              <a:t>« La surveillance des pannes réseau</a:t>
            </a:r>
            <a:endParaRPr lang="en-US" sz="1300" dirty="0"/>
          </a:p>
          <a:p>
            <a:pPr marL="0" indent="0" algn="ctr">
              <a:buNone/>
            </a:pPr>
            <a:r>
              <a:rPr lang="en-US" sz="1500" b="1" i="1" dirty="0">
                <a:solidFill>
                  <a:srgbClr val="1B3A5C"/>
                </a:solidFill>
              </a:rPr>
              <a:t>se fait encore manuellement</a:t>
            </a:r>
            <a:endParaRPr lang="en-US" sz="1300" dirty="0"/>
          </a:p>
          <a:p>
            <a:pPr marL="0" indent="0" algn="ctr">
              <a:buNone/>
            </a:pPr>
            <a:r>
              <a:rPr lang="en-US" sz="1500" b="1" i="1" dirty="0">
                <a:solidFill>
                  <a:srgbClr val="1B3A5C"/>
                </a:solidFill>
              </a:rPr>
              <a:t>chez OPEN »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54880" y="1901952"/>
            <a:ext cx="4160520" cy="22860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4754880" y="1993392"/>
            <a:ext cx="45720" cy="4572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901184" y="1975104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Détection tardive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01184" y="219456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Panne signalée par l'utilisateur — MTTD &gt; 30 min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651760"/>
            <a:ext cx="45720" cy="4572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901184" y="2633472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Pas de traçabilité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01184" y="2852928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Aucun historique exploitable pour les SLA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3310128"/>
            <a:ext cx="45720" cy="4572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901184" y="3291840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Charge humaine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01184" y="351129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Vérifications ponctuelles, non scalables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54880" y="3968496"/>
            <a:ext cx="45720" cy="4572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4901184" y="3950208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MTTR élevé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01184" y="416966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Temps de réaction rallongé, service dégradé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0560" y="82296"/>
            <a:ext cx="80162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Objectifs du projet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B7280"/>
                </a:solidFill>
              </a:rPr>
              <a:t>Awali — Automatisation Supervision Réseau | OPEN MOISE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62179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</a:rPr>
              <a:t>Objectif général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" y="987552"/>
            <a:ext cx="8686800" cy="228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8600" y="1042416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350" dirty="0">
                <a:solidFill>
                  <a:srgbClr val="111827"/>
                </a:solidFill>
              </a:rPr>
              <a:t>Concevoir, réaliser et </a:t>
            </a:r>
            <a:r>
              <a:rPr lang="en-US" sz="1350" dirty="0" err="1">
                <a:solidFill>
                  <a:srgbClr val="111827"/>
                </a:solidFill>
              </a:rPr>
              <a:t>déployer</a:t>
            </a:r>
            <a:r>
              <a:rPr lang="en-US" sz="1350" dirty="0">
                <a:solidFill>
                  <a:srgbClr val="111827"/>
                </a:solidFill>
              </a:rPr>
              <a:t> </a:t>
            </a:r>
            <a:r>
              <a:rPr lang="en-US" sz="1350" dirty="0" err="1">
                <a:solidFill>
                  <a:srgbClr val="111827"/>
                </a:solidFill>
              </a:rPr>
              <a:t>Awali</a:t>
            </a:r>
            <a:r>
              <a:rPr lang="en-US" sz="1350" dirty="0">
                <a:solidFill>
                  <a:srgbClr val="111827"/>
                </a:solidFill>
              </a:rPr>
              <a:t> au sein </a:t>
            </a:r>
            <a:r>
              <a:rPr lang="en-US" sz="1350" dirty="0" err="1">
                <a:solidFill>
                  <a:srgbClr val="111827"/>
                </a:solidFill>
              </a:rPr>
              <a:t>d'OPEN</a:t>
            </a:r>
            <a:r>
              <a:rPr lang="en-US" sz="1350" dirty="0">
                <a:solidFill>
                  <a:srgbClr val="111827"/>
                </a:solidFill>
              </a:rPr>
              <a:t>  — un système automatisé de supervision et de détection des pannes réseau, fondé exclusivement sur des outils open-source, capable de détecter les pannes en temps réel, d'alerter instantanément les équipes et de réduire le temps d'intervention.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28600" y="199339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3A5C"/>
                </a:solidFill>
              </a:rPr>
              <a:t>Objectifs spécifiques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28600" y="2304288"/>
            <a:ext cx="8686800" cy="22860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28600" y="2496312"/>
            <a:ext cx="50292" cy="5029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5760" y="24780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OS1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26974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Analyser l'existant — comparer Nagios, Zabbix, PRTG, SolarWinds et positionner Awali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2496312"/>
            <a:ext cx="50292" cy="5029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00600" y="24780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OS2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00600" y="26974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Concevoir l'architecture — UML &amp; MERISE, stack Python · MySQL · Flask · Telegram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28600" y="3319272"/>
            <a:ext cx="50292" cy="5029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65760" y="330098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OS3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35204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Développer les modules — sondes ICMP/TCP, journalisation, découverte automatique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3319272"/>
            <a:ext cx="50292" cy="5029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800600" y="330098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OS4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00600" y="35204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Alertes multi-canal — e-mail SMTP + Telegram Bot, anti-spam, confirmation rétablissement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8600" y="4142232"/>
            <a:ext cx="50292" cy="5029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65760" y="41239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OS5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5760" y="4343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Tableau de bord — interface Flask, KPI temps réel, historique, rapports SLA exportables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4142232"/>
            <a:ext cx="50292" cy="5029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800600" y="41239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OS6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00600" y="4343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Évaluer — mesurer MTTD, MTTR et taux de disponibilité pour valider l'automatisation</a:t>
            </a:r>
            <a:endParaRPr lang="en-US" sz="1000" dirty="0"/>
          </a:p>
        </p:txBody>
      </p:sp>
      <p:sp>
        <p:nvSpPr>
          <p:cNvPr id="29" name="Shape 1">
            <a:extLst>
              <a:ext uri="{FF2B5EF4-FFF2-40B4-BE49-F238E27FC236}">
                <a16:creationId xmlns:a16="http://schemas.microsoft.com/office/drawing/2014/main" id="{1F030757-08F4-8DFF-7647-BC7466B9D0AF}"/>
              </a:ext>
            </a:extLst>
          </p:cNvPr>
          <p:cNvSpPr/>
          <p:nvPr/>
        </p:nvSpPr>
        <p:spPr>
          <a:xfrm>
            <a:off x="182880" y="64008"/>
            <a:ext cx="365760" cy="3657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pPr algn="ctr"/>
            <a:r>
              <a:rPr lang="fr-FR" sz="1400" dirty="0">
                <a:solidFill>
                  <a:schemeClr val="bg1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82880" y="64008"/>
            <a:ext cx="365760" cy="3657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4" name="Text 2"/>
          <p:cNvSpPr/>
          <p:nvPr/>
        </p:nvSpPr>
        <p:spPr>
          <a:xfrm>
            <a:off x="182880" y="64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82296"/>
            <a:ext cx="7772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État des lieux — Solutions existantes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B7280"/>
                </a:solidFill>
              </a:rPr>
              <a:t>Awali — Automatisation Supervision Réseau | OPEN MOISE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28600" y="6217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Pourquoi ne pas utiliser un outil existant 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1024128"/>
            <a:ext cx="8686800" cy="38404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3464" y="105156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</a:rPr>
              <a:t>Outil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609344" y="10515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</a:rPr>
              <a:t>Type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843784" y="1051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</a:rPr>
              <a:t>Alerte mobile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032504" y="10515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</a:rPr>
              <a:t>Légèreté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38344" y="10515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</a:rPr>
              <a:t>Coût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998464" y="105156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</a:rPr>
              <a:t>Limite principale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28600" y="1408176"/>
            <a:ext cx="8686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83464" y="153619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Nagios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609344" y="1536192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Open source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843784" y="15361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Plugin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032504" y="153619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Faible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38344" y="153619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Gratuit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998464" y="153619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Config. lourde, surtout réactif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28600" y="2029968"/>
            <a:ext cx="8686800" cy="594360"/>
          </a:xfrm>
          <a:prstGeom prst="rect">
            <a:avLst/>
          </a:prstGeom>
          <a:solidFill>
            <a:srgbClr val="F3F6F9"/>
          </a:solidFill>
          <a:ln w="635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283464" y="215798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Zabbix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609344" y="2157984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Open source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843784" y="215798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Plugin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032504" y="21579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Moyenne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038344" y="21579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Gratuit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98464" y="215798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Courbe d'apprentissage élevée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28600" y="2651760"/>
            <a:ext cx="8686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83464" y="2779776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PRTG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609344" y="2779776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Propriétaire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843784" y="277977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Application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032504" y="277977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Moyenne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38344" y="277977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2626"/>
                </a:solidFill>
              </a:rPr>
              <a:t>Élevé $$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998464" y="277977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Licence par capteur, coûteux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28600" y="3273552"/>
            <a:ext cx="8686800" cy="594360"/>
          </a:xfrm>
          <a:prstGeom prst="rect">
            <a:avLst/>
          </a:prstGeom>
          <a:solidFill>
            <a:srgbClr val="F3F6F9"/>
          </a:solidFill>
          <a:ln w="635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283464" y="340156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SolarWinds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609344" y="3401568"/>
            <a:ext cx="1143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Propriétaire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843784" y="340156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Application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032504" y="34015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Faible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038344" y="34015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Très élevé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998464" y="340156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11827"/>
                </a:solidFill>
              </a:rPr>
              <a:t>Inadapté aux structures moyennes</a:t>
            </a:r>
            <a:endParaRPr lang="en-US" sz="1050" dirty="0"/>
          </a:p>
        </p:txBody>
      </p:sp>
      <p:sp>
        <p:nvSpPr>
          <p:cNvPr id="44" name="Rounded Rectangle 43"/>
          <p:cNvSpPr/>
          <p:nvPr/>
        </p:nvSpPr>
        <p:spPr>
          <a:xfrm>
            <a:off x="228600" y="4023360"/>
            <a:ext cx="8686800" cy="713232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Solution proposée : </a:t>
            </a:r>
            <a:r>
              <a:rPr sz="1500" b="1">
                <a:solidFill>
                  <a:srgbClr val="00B4D8"/>
                </a:solidFill>
                <a:latin typeface="Calibri"/>
              </a:rPr>
              <a:t>AWALI</a:t>
            </a:r>
            <a:r>
              <a:rPr sz="1300">
                <a:solidFill>
                  <a:srgbClr val="FFFFFF"/>
                </a:solidFill>
                <a:latin typeface="Calibri"/>
              </a:rPr>
              <a:t> — plateforme open-source légère, gratuite et sur mesure, avec alerte mobile native (Telegram).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82880" y="64008"/>
            <a:ext cx="365760" cy="3657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82880" y="64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82296"/>
            <a:ext cx="7772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Awali — Architecture &amp; Différenciation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B7280"/>
                </a:solidFill>
              </a:rPr>
              <a:t>Awali — Automatisation Supervision Réseau | OPEN MOISE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28600" y="6217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</a:rPr>
              <a:t>Plateforme open-source de supervision, conçue pour OPEN 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28600" y="1024128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Architecture en 5 couches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1371600"/>
            <a:ext cx="45720" cy="5029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65760" y="139903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</a:rPr>
              <a:t>Présentation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1627632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Flask · Bootstrap 5 · Chart.js · API REST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28600" y="1883664"/>
            <a:ext cx="425196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28600" y="1993392"/>
            <a:ext cx="45720" cy="5029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5760" y="202082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</a:rPr>
              <a:t>Notification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5760" y="2249424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E-mail SMTP · Telegram Bot (push natif)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8600" y="2505456"/>
            <a:ext cx="425196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28600" y="2615184"/>
            <a:ext cx="45720" cy="5029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65760" y="2642616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</a:rPr>
              <a:t>Traitement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65760" y="2871216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Python 3 · Cron · Sondes ICMP / TCP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28600" y="3127248"/>
            <a:ext cx="425196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228600" y="3236976"/>
            <a:ext cx="45720" cy="5029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65760" y="326440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</a:rPr>
              <a:t>Données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" y="349300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MySQL 8 — équipements, journaux, alertes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28600" y="3749040"/>
            <a:ext cx="425196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228600" y="3858768"/>
            <a:ext cx="45720" cy="5029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65760" y="38862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</a:rPr>
              <a:t>Système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65760" y="41148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Ubuntu Server 22.04 LTS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09160" y="987552"/>
            <a:ext cx="22860" cy="3950208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846320" y="1024128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Facteurs de différenciation</a:t>
            </a:r>
            <a:endParaRPr lang="en-US" sz="1100" dirty="0"/>
          </a:p>
        </p:txBody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1417320"/>
            <a:ext cx="347472" cy="347472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5303520" y="139903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Telegram natif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303520" y="16642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Astreinte alertée partout en &lt; 2 min, sans surcoût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846320" y="2029968"/>
            <a:ext cx="402336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2331720"/>
            <a:ext cx="347472" cy="347472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5303520" y="231343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Légèreté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303520" y="25786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Simple VM · 0 FCFA de licence · open-source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4846320" y="2944368"/>
            <a:ext cx="402336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3246120"/>
            <a:ext cx="347472" cy="347472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5303520" y="322783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Traçabilité totale</a:t>
            </a:r>
            <a:endParaRPr lang="en-US" sz="1100" dirty="0"/>
          </a:p>
        </p:txBody>
      </p:sp>
      <p:sp>
        <p:nvSpPr>
          <p:cNvPr id="41" name="Text 36"/>
          <p:cNvSpPr/>
          <p:nvPr/>
        </p:nvSpPr>
        <p:spPr>
          <a:xfrm>
            <a:off x="5303520" y="3493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Seuil anti-faux positif · historique = preuve SLA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4846320" y="3858768"/>
            <a:ext cx="402336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pic>
        <p:nvPicPr>
          <p:cNvPr id="4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4608" y="4160520"/>
            <a:ext cx="347472" cy="347472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5303520" y="414223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Code maîtrisé</a:t>
            </a:r>
            <a:endParaRPr lang="en-US" sz="1100" dirty="0"/>
          </a:p>
        </p:txBody>
      </p:sp>
      <p:sp>
        <p:nvSpPr>
          <p:cNvPr id="45" name="Text 39"/>
          <p:cNvSpPr/>
          <p:nvPr/>
        </p:nvSpPr>
        <p:spPr>
          <a:xfrm>
            <a:off x="5303520" y="44074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Sur mesure OPEN MOISE · zéro vendor lock-in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95072" y="64008"/>
            <a:ext cx="365760" cy="3657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4" name="Text 2"/>
          <p:cNvSpPr/>
          <p:nvPr/>
        </p:nvSpPr>
        <p:spPr>
          <a:xfrm>
            <a:off x="182880" y="64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82296"/>
            <a:ext cx="7772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Conception détaillée — UML &amp; MERISE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B7280"/>
                </a:solidFill>
              </a:rPr>
              <a:t>Awali — Automatisation Supervision Réseau | OPEN MOISE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28600" y="621792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7 diagrammes UML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" y="1024128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48640" y="99669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</a:rPr>
              <a:t>Contexte — acteurs externes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8600" y="1243584"/>
            <a:ext cx="425196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56032" y="1554480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8640" y="152704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</a:rPr>
              <a:t>Cas d'utilisation — fonctions clés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8600" y="1773936"/>
            <a:ext cx="425196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56032" y="2084832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48640" y="20574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</a:rPr>
              <a:t>Séquence — flux cycle supervision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8600" y="2304288"/>
            <a:ext cx="425196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256032" y="2615184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258775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</a:rPr>
              <a:t>Activité — logique moteur Python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28600" y="2834640"/>
            <a:ext cx="425196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256032" y="3145536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48640" y="311810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</a:rPr>
              <a:t>Classes — modèle objet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8600" y="3364992"/>
            <a:ext cx="425196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256032" y="3675888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48640" y="364845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</a:rPr>
              <a:t>Composants — modules logiciels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8600" y="3895344"/>
            <a:ext cx="425196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256032" y="4206240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48640" y="417880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</a:rPr>
              <a:t>Déploiement — serveur Ubuntu + DB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09160" y="594360"/>
            <a:ext cx="22860" cy="4343400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846320" y="621792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</a:rPr>
              <a:t>Base MySQL — 6 tables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46320" y="10515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</a:rPr>
              <a:t>utilisateurs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846320" y="1298448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Comptes, rôles, mots de passe hachés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46320" y="1591056"/>
            <a:ext cx="406908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4846320" y="1673352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</a:rPr>
              <a:t>equipements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846320" y="192024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Inventaire et statut courant du parc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846320" y="2212848"/>
            <a:ext cx="406908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846320" y="229514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</a:rPr>
              <a:t>journaux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846320" y="2542032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Historique horodaté (preuve SLA)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846320" y="2834640"/>
            <a:ext cx="406908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84632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</a:rPr>
              <a:t>alertes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846320" y="3163824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Alertes émises, acquittements, anti-spam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846320" y="3456432"/>
            <a:ext cx="406908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4846320" y="353872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</a:rPr>
              <a:t>responsabilite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846320" y="3785616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Relation n-n technicien ↔ équipement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846320" y="4078224"/>
            <a:ext cx="406908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4846320" y="41605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</a:rPr>
              <a:t>statistiques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846320" y="4407408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Agrégats journaliers pour rapports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82880" y="64008"/>
            <a:ext cx="365760" cy="3657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82880" y="64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82296"/>
            <a:ext cx="7772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Fonctionnement — Pipeline de supervision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B7280"/>
                </a:solidFill>
              </a:rPr>
              <a:t>Awali — Automatisation Supervision Réseau | OPEN MOISE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28600" y="62179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</a:rPr>
              <a:t>De la mesure à l'alerte en moins de 2 minutes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1168" y="1005840"/>
            <a:ext cx="1325880" cy="1920240"/>
          </a:xfrm>
          <a:prstGeom prst="roundRect">
            <a:avLst>
              <a:gd name="adj" fmla="val 5517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01168" y="1005840"/>
            <a:ext cx="132588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15568"/>
            <a:ext cx="457200" cy="4572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46888" y="166420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A5C"/>
                </a:solidFill>
              </a:rPr>
              <a:t>1. Collecte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46888" y="1993392"/>
            <a:ext cx="1234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</a:rPr>
              <a:t>CRON toutes</a:t>
            </a:r>
            <a:endParaRPr lang="en-US" sz="9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</a:rPr>
              <a:t>les 2 min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527048" y="1810512"/>
            <a:ext cx="155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82496" y="1005840"/>
            <a:ext cx="1325880" cy="1920240"/>
          </a:xfrm>
          <a:prstGeom prst="roundRect">
            <a:avLst>
              <a:gd name="adj" fmla="val 5517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1682496" y="1005840"/>
            <a:ext cx="132588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1408" y="1115568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728216" y="166420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A5C"/>
                </a:solidFill>
              </a:rPr>
              <a:t>2. Stockage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1728216" y="1993392"/>
            <a:ext cx="1234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</a:rPr>
              <a:t>Équipements</a:t>
            </a:r>
            <a:endParaRPr lang="en-US" sz="9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</a:rPr>
              <a:t>MySQL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3008376" y="1810512"/>
            <a:ext cx="155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3163824" y="1005840"/>
            <a:ext cx="1325880" cy="1920240"/>
          </a:xfrm>
          <a:prstGeom prst="roundRect">
            <a:avLst>
              <a:gd name="adj" fmla="val 5517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22" name="Shape 18"/>
          <p:cNvSpPr/>
          <p:nvPr/>
        </p:nvSpPr>
        <p:spPr>
          <a:xfrm>
            <a:off x="3163824" y="1005840"/>
            <a:ext cx="132588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2736" y="1115568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3209544" y="166420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A5C"/>
                </a:solidFill>
              </a:rPr>
              <a:t>3. Sondage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3209544" y="1993392"/>
            <a:ext cx="1234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</a:rPr>
              <a:t>ICMP + TCP</a:t>
            </a:r>
            <a:endParaRPr lang="en-US" sz="9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</a:rPr>
              <a:t>par équipement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4489704" y="1810512"/>
            <a:ext cx="155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4645152" y="1005840"/>
            <a:ext cx="1325880" cy="1920240"/>
          </a:xfrm>
          <a:prstGeom prst="roundRect">
            <a:avLst>
              <a:gd name="adj" fmla="val 5517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28" name="Shape 23"/>
          <p:cNvSpPr/>
          <p:nvPr/>
        </p:nvSpPr>
        <p:spPr>
          <a:xfrm>
            <a:off x="4645152" y="1005840"/>
            <a:ext cx="132588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4064" y="1115568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4690872" y="166420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A5C"/>
                </a:solidFill>
              </a:rPr>
              <a:t>4. Détection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4690872" y="1993392"/>
            <a:ext cx="1234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</a:rPr>
              <a:t>Seuil anti-</a:t>
            </a:r>
            <a:endParaRPr lang="en-US" sz="9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</a:rPr>
              <a:t>faux positif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5971032" y="1810512"/>
            <a:ext cx="155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→</a:t>
            </a:r>
            <a:endParaRPr lang="en-US" sz="1400" dirty="0"/>
          </a:p>
        </p:txBody>
      </p:sp>
      <p:sp>
        <p:nvSpPr>
          <p:cNvPr id="33" name="Shape 27"/>
          <p:cNvSpPr/>
          <p:nvPr/>
        </p:nvSpPr>
        <p:spPr>
          <a:xfrm>
            <a:off x="6126480" y="1005840"/>
            <a:ext cx="1325880" cy="1920240"/>
          </a:xfrm>
          <a:prstGeom prst="roundRect">
            <a:avLst>
              <a:gd name="adj" fmla="val 5517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34" name="Shape 28"/>
          <p:cNvSpPr/>
          <p:nvPr/>
        </p:nvSpPr>
        <p:spPr>
          <a:xfrm>
            <a:off x="6126480" y="1005840"/>
            <a:ext cx="132588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5392" y="1115568"/>
            <a:ext cx="457200" cy="457200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6172200" y="166420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A5C"/>
                </a:solidFill>
              </a:rPr>
              <a:t>5. Alerte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6172200" y="1993392"/>
            <a:ext cx="1234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</a:rPr>
              <a:t>E-mail +</a:t>
            </a:r>
            <a:endParaRPr lang="en-US" sz="9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</a:rPr>
              <a:t>Telegram push</a:t>
            </a:r>
            <a:endParaRPr lang="en-US" sz="950" dirty="0"/>
          </a:p>
        </p:txBody>
      </p:sp>
      <p:sp>
        <p:nvSpPr>
          <p:cNvPr id="38" name="Text 31"/>
          <p:cNvSpPr/>
          <p:nvPr/>
        </p:nvSpPr>
        <p:spPr>
          <a:xfrm>
            <a:off x="7452360" y="1810512"/>
            <a:ext cx="155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→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7607808" y="1005840"/>
            <a:ext cx="1325880" cy="1920240"/>
          </a:xfrm>
          <a:prstGeom prst="roundRect">
            <a:avLst>
              <a:gd name="adj" fmla="val 5517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40" name="Shape 33"/>
          <p:cNvSpPr/>
          <p:nvPr/>
        </p:nvSpPr>
        <p:spPr>
          <a:xfrm>
            <a:off x="7607808" y="1005840"/>
            <a:ext cx="132588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720" y="1115568"/>
            <a:ext cx="457200" cy="457200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7653528" y="166420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A5C"/>
                </a:solidFill>
              </a:rPr>
              <a:t>6. Dashboard</a:t>
            </a:r>
            <a:endParaRPr lang="en-US" sz="1000" dirty="0"/>
          </a:p>
        </p:txBody>
      </p:sp>
      <p:sp>
        <p:nvSpPr>
          <p:cNvPr id="43" name="Text 35"/>
          <p:cNvSpPr/>
          <p:nvPr/>
        </p:nvSpPr>
        <p:spPr>
          <a:xfrm>
            <a:off x="7653528" y="1993392"/>
            <a:ext cx="1234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</a:rPr>
              <a:t>KPI, statuts,</a:t>
            </a:r>
            <a:endParaRPr lang="en-US" sz="9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6B7280"/>
                </a:solidFill>
              </a:rPr>
              <a:t>rapports SLA</a:t>
            </a:r>
            <a:endParaRPr lang="en-US" sz="950" dirty="0"/>
          </a:p>
        </p:txBody>
      </p:sp>
      <p:sp>
        <p:nvSpPr>
          <p:cNvPr id="44" name="Text 36"/>
          <p:cNvSpPr/>
          <p:nvPr/>
        </p:nvSpPr>
        <p:spPr>
          <a:xfrm>
            <a:off x="228600" y="309067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Sécurité</a:t>
            </a:r>
            <a:endParaRPr lang="en-US" sz="1100" dirty="0"/>
          </a:p>
        </p:txBody>
      </p:sp>
      <p:sp>
        <p:nvSpPr>
          <p:cNvPr id="45" name="Shape 37"/>
          <p:cNvSpPr/>
          <p:nvPr/>
        </p:nvSpPr>
        <p:spPr>
          <a:xfrm>
            <a:off x="228600" y="3429000"/>
            <a:ext cx="45720" cy="2377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46" name="Text 38"/>
          <p:cNvSpPr/>
          <p:nvPr/>
        </p:nvSpPr>
        <p:spPr>
          <a:xfrm>
            <a:off x="365760" y="3401568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</a:rPr>
              <a:t>Mots de passe : hachage pbkdf2:sha256</a:t>
            </a:r>
            <a:endParaRPr lang="en-US" sz="1050" dirty="0"/>
          </a:p>
        </p:txBody>
      </p:sp>
      <p:sp>
        <p:nvSpPr>
          <p:cNvPr id="47" name="Shape 39"/>
          <p:cNvSpPr/>
          <p:nvPr/>
        </p:nvSpPr>
        <p:spPr>
          <a:xfrm>
            <a:off x="228600" y="3776472"/>
            <a:ext cx="45720" cy="2377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48" name="Text 40"/>
          <p:cNvSpPr/>
          <p:nvPr/>
        </p:nvSpPr>
        <p:spPr>
          <a:xfrm>
            <a:off x="365760" y="374904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</a:rPr>
              <a:t>Injection SQL : requêtes paramétrées systématiques</a:t>
            </a:r>
            <a:endParaRPr lang="en-US" sz="1050" dirty="0"/>
          </a:p>
        </p:txBody>
      </p:sp>
      <p:sp>
        <p:nvSpPr>
          <p:cNvPr id="49" name="Shape 41"/>
          <p:cNvSpPr/>
          <p:nvPr/>
        </p:nvSpPr>
        <p:spPr>
          <a:xfrm>
            <a:off x="228600" y="4123944"/>
            <a:ext cx="45720" cy="23774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50" name="Text 42"/>
          <p:cNvSpPr/>
          <p:nvPr/>
        </p:nvSpPr>
        <p:spPr>
          <a:xfrm>
            <a:off x="365760" y="409651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</a:rPr>
              <a:t>Secrets : variables d'environnement (.env non versionné)</a:t>
            </a:r>
            <a:endParaRPr lang="en-US" sz="1050" dirty="0"/>
          </a:p>
        </p:txBody>
      </p:sp>
      <p:sp>
        <p:nvSpPr>
          <p:cNvPr id="51" name="Shape 43"/>
          <p:cNvSpPr/>
          <p:nvPr/>
        </p:nvSpPr>
        <p:spPr>
          <a:xfrm>
            <a:off x="4754880" y="3063240"/>
            <a:ext cx="22860" cy="1874520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52" name="Text 44"/>
          <p:cNvSpPr/>
          <p:nvPr/>
        </p:nvSpPr>
        <p:spPr>
          <a:xfrm>
            <a:off x="4892040" y="309067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Performance mesurée</a:t>
            </a:r>
            <a:endParaRPr lang="en-US" sz="1100" dirty="0"/>
          </a:p>
        </p:txBody>
      </p:sp>
      <p:sp>
        <p:nvSpPr>
          <p:cNvPr id="53" name="Text 45"/>
          <p:cNvSpPr/>
          <p:nvPr/>
        </p:nvSpPr>
        <p:spPr>
          <a:xfrm>
            <a:off x="4892040" y="345643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50 équipements :</a:t>
            </a:r>
            <a:endParaRPr lang="en-US" sz="1100" dirty="0"/>
          </a:p>
        </p:txBody>
      </p:sp>
      <p:sp>
        <p:nvSpPr>
          <p:cNvPr id="54" name="Text 46"/>
          <p:cNvSpPr/>
          <p:nvPr/>
        </p:nvSpPr>
        <p:spPr>
          <a:xfrm>
            <a:off x="7223760" y="345643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00B4D8"/>
                </a:solidFill>
              </a:rPr>
              <a:t>~4 s</a:t>
            </a:r>
            <a:endParaRPr lang="en-US" sz="1300" dirty="0"/>
          </a:p>
        </p:txBody>
      </p:sp>
      <p:sp>
        <p:nvSpPr>
          <p:cNvPr id="55" name="Text 47"/>
          <p:cNvSpPr/>
          <p:nvPr/>
        </p:nvSpPr>
        <p:spPr>
          <a:xfrm>
            <a:off x="4892040" y="39319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100 équipements :</a:t>
            </a:r>
            <a:endParaRPr lang="en-US" sz="1100" dirty="0"/>
          </a:p>
        </p:txBody>
      </p:sp>
      <p:sp>
        <p:nvSpPr>
          <p:cNvPr id="56" name="Text 48"/>
          <p:cNvSpPr/>
          <p:nvPr/>
        </p:nvSpPr>
        <p:spPr>
          <a:xfrm>
            <a:off x="7223760" y="39319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00B4D8"/>
                </a:solidFill>
              </a:rPr>
              <a:t>~7 s</a:t>
            </a:r>
            <a:endParaRPr lang="en-US" sz="1300" dirty="0"/>
          </a:p>
        </p:txBody>
      </p:sp>
      <p:sp>
        <p:nvSpPr>
          <p:cNvPr id="57" name="Text 49"/>
          <p:cNvSpPr/>
          <p:nvPr/>
        </p:nvSpPr>
        <p:spPr>
          <a:xfrm>
            <a:off x="4892040" y="440740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</a:rPr>
              <a:t>254 (/24) :</a:t>
            </a:r>
            <a:endParaRPr lang="en-US" sz="1100" dirty="0"/>
          </a:p>
        </p:txBody>
      </p:sp>
      <p:sp>
        <p:nvSpPr>
          <p:cNvPr id="58" name="Text 50"/>
          <p:cNvSpPr/>
          <p:nvPr/>
        </p:nvSpPr>
        <p:spPr>
          <a:xfrm>
            <a:off x="7223760" y="440740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00B4D8"/>
                </a:solidFill>
              </a:rPr>
              <a:t>~12 s</a:t>
            </a:r>
            <a:endParaRPr lang="en-US" sz="1300" dirty="0"/>
          </a:p>
        </p:txBody>
      </p:sp>
      <p:sp>
        <p:nvSpPr>
          <p:cNvPr id="59" name="Text 51"/>
          <p:cNvSpPr/>
          <p:nvPr/>
        </p:nvSpPr>
        <p:spPr>
          <a:xfrm>
            <a:off x="4892040" y="464515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</a:rPr>
              <a:t>(parallélisation ×10 vs séquentiel)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82880" y="64008"/>
            <a:ext cx="365760" cy="3657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82880" y="64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82296"/>
            <a:ext cx="7772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Démonstration — Awali en action sur le parc OPEN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B7280"/>
                </a:solidFill>
              </a:rPr>
              <a:t>Awali — Automatisation Supervision Réseau | OPEN MOISE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182880" y="621792"/>
            <a:ext cx="1042416" cy="713232"/>
          </a:xfrm>
          <a:prstGeom prst="roundRect">
            <a:avLst>
              <a:gd name="adj" fmla="val 10256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82880" y="621792"/>
            <a:ext cx="1042416" cy="36576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" y="658368"/>
            <a:ext cx="1042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3A5C"/>
                </a:solidFill>
              </a:rPr>
              <a:t>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82880" y="1024128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Équip. supervisés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353312" y="621792"/>
            <a:ext cx="1042416" cy="713232"/>
          </a:xfrm>
          <a:prstGeom prst="roundRect">
            <a:avLst>
              <a:gd name="adj" fmla="val 10256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353312" y="621792"/>
            <a:ext cx="1042416" cy="36576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353312" y="658368"/>
            <a:ext cx="1042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6A34A"/>
                </a:solidFill>
              </a:rPr>
              <a:t>6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53312" y="1024128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UP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23744" y="621792"/>
            <a:ext cx="1042416" cy="713232"/>
          </a:xfrm>
          <a:prstGeom prst="roundRect">
            <a:avLst>
              <a:gd name="adj" fmla="val 10256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2523744" y="621792"/>
            <a:ext cx="1042416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2523744" y="658368"/>
            <a:ext cx="1042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C2626"/>
                </a:solidFill>
              </a:rPr>
              <a:t>2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523744" y="1024128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DOWN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94176" y="621792"/>
            <a:ext cx="1042416" cy="713232"/>
          </a:xfrm>
          <a:prstGeom prst="roundRect">
            <a:avLst>
              <a:gd name="adj" fmla="val 10256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694176" y="621792"/>
            <a:ext cx="1042416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694176" y="658368"/>
            <a:ext cx="1042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7706"/>
                </a:solidFill>
              </a:rPr>
              <a:t>2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694176" y="1024128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</a:rPr>
              <a:t>Alertes actives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82880" y="1463040"/>
            <a:ext cx="2340864" cy="566928"/>
          </a:xfrm>
          <a:prstGeom prst="roundRect">
            <a:avLst>
              <a:gd name="adj" fmla="val 9677"/>
            </a:avLst>
          </a:prstGeom>
          <a:solidFill>
            <a:srgbClr val="FAFFFE"/>
          </a:solidFill>
          <a:ln w="8890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274320" y="1645920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66928" y="151790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5C"/>
                </a:solidFill>
              </a:rPr>
              <a:t>Serveur-Marketplace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66928" y="176479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A34A"/>
                </a:solidFill>
              </a:rPr>
              <a:t>UP · 12 ms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82880" y="2139696"/>
            <a:ext cx="2340864" cy="566928"/>
          </a:xfrm>
          <a:prstGeom prst="roundRect">
            <a:avLst>
              <a:gd name="adj" fmla="val 9677"/>
            </a:avLst>
          </a:prstGeom>
          <a:solidFill>
            <a:srgbClr val="FAFFFE"/>
          </a:solidFill>
          <a:ln w="8890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274320" y="2322576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66928" y="2194560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5C"/>
                </a:solidFill>
              </a:rPr>
              <a:t>Serveur-OpenPay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66928" y="244144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A34A"/>
                </a:solidFill>
              </a:rPr>
              <a:t>UP · 8 ms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82880" y="2816352"/>
            <a:ext cx="2340864" cy="566928"/>
          </a:xfrm>
          <a:prstGeom prst="roundRect">
            <a:avLst>
              <a:gd name="adj" fmla="val 9677"/>
            </a:avLst>
          </a:prstGeom>
          <a:solidFill>
            <a:srgbClr val="FAFFFE"/>
          </a:solidFill>
          <a:ln w="8890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74320" y="2999232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66928" y="2871216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5C"/>
                </a:solidFill>
              </a:rPr>
              <a:t>Routeur-VITIB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66928" y="311810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A34A"/>
                </a:solidFill>
              </a:rPr>
              <a:t>UP · 3 ms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82880" y="3493008"/>
            <a:ext cx="2340864" cy="566928"/>
          </a:xfrm>
          <a:prstGeom prst="roundRect">
            <a:avLst>
              <a:gd name="adj" fmla="val 9677"/>
            </a:avLst>
          </a:prstGeom>
          <a:solidFill>
            <a:srgbClr val="FAFFFE"/>
          </a:solidFill>
          <a:ln w="8890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274320" y="3675888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566928" y="354787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5C"/>
                </a:solidFill>
              </a:rPr>
              <a:t>Switch-Production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66928" y="37947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A34A"/>
                </a:solidFill>
              </a:rPr>
              <a:t>UP · 5 ms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633472" y="1463040"/>
            <a:ext cx="2340864" cy="566928"/>
          </a:xfrm>
          <a:prstGeom prst="roundRect">
            <a:avLst>
              <a:gd name="adj" fmla="val 9677"/>
            </a:avLst>
          </a:prstGeom>
          <a:solidFill>
            <a:srgbClr val="FAFFFE"/>
          </a:solidFill>
          <a:ln w="8890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2724912" y="1645920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017520" y="151790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5C"/>
                </a:solidFill>
              </a:rPr>
              <a:t>Switch-Admin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017520" y="176479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A34A"/>
                </a:solidFill>
              </a:rPr>
              <a:t>UP · 4 ms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33472" y="2139696"/>
            <a:ext cx="2340864" cy="566928"/>
          </a:xfrm>
          <a:prstGeom prst="roundRect">
            <a:avLst>
              <a:gd name="adj" fmla="val 9677"/>
            </a:avLst>
          </a:prstGeom>
          <a:solidFill>
            <a:srgbClr val="FAFFFE"/>
          </a:solidFill>
          <a:ln w="8890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2724912" y="2322576"/>
            <a:ext cx="201168" cy="2011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3017520" y="2194560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5C"/>
                </a:solidFill>
              </a:rPr>
              <a:t>NAS-Stockage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3017520" y="244144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A34A"/>
                </a:solidFill>
              </a:rPr>
              <a:t>UP · 11 ms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33472" y="2816352"/>
            <a:ext cx="2340864" cy="566928"/>
          </a:xfrm>
          <a:prstGeom prst="roundRect">
            <a:avLst>
              <a:gd name="adj" fmla="val 9677"/>
            </a:avLst>
          </a:prstGeom>
          <a:solidFill>
            <a:srgbClr val="FFF8F8"/>
          </a:solidFill>
          <a:ln w="889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2724912" y="2999232"/>
            <a:ext cx="201168" cy="2011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3017520" y="2871216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5C"/>
                </a:solidFill>
              </a:rPr>
              <a:t>Serveur-BDD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3017520" y="311810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</a:rPr>
              <a:t>DOWN · —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633472" y="3493008"/>
            <a:ext cx="2340864" cy="566928"/>
          </a:xfrm>
          <a:prstGeom prst="roundRect">
            <a:avLst>
              <a:gd name="adj" fmla="val 9677"/>
            </a:avLst>
          </a:prstGeom>
          <a:solidFill>
            <a:srgbClr val="FFF8F8"/>
          </a:solidFill>
          <a:ln w="889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2724912" y="3675888"/>
            <a:ext cx="201168" cy="2011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3017520" y="354787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5C"/>
                </a:solidFill>
              </a:rPr>
              <a:t>Imprimante-RH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3017520" y="37947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2626"/>
                </a:solidFill>
              </a:rPr>
              <a:t>DOWN · —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074920" y="594360"/>
            <a:ext cx="22860" cy="4343400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5230368" y="621792"/>
            <a:ext cx="1600200" cy="2834640"/>
          </a:xfrm>
          <a:prstGeom prst="roundRect">
            <a:avLst>
              <a:gd name="adj" fmla="val 11429"/>
            </a:avLst>
          </a:prstGeom>
          <a:solidFill>
            <a:srgbClr val="1A1A2E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5340096" y="777240"/>
            <a:ext cx="1380744" cy="2340864"/>
          </a:xfrm>
          <a:prstGeom prst="roundRect">
            <a:avLst>
              <a:gd name="adj" fmla="val 6623"/>
            </a:avLst>
          </a:prstGeom>
          <a:solidFill>
            <a:srgbClr val="0D1117"/>
          </a:solidFill>
          <a:ln/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5404104" y="859536"/>
            <a:ext cx="1252728" cy="2011680"/>
          </a:xfrm>
          <a:prstGeom prst="roundRect">
            <a:avLst>
              <a:gd name="adj" fmla="val 5839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5422392" y="886968"/>
            <a:ext cx="1216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6B6B"/>
                </a:solidFill>
              </a:rPr>
              <a:t>🔴 PANNE CRITIQUE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5431536" y="1161288"/>
            <a:ext cx="11887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650" dirty="0">
                <a:solidFill>
                  <a:srgbClr val="8BAAC5"/>
                </a:solidFill>
              </a:rPr>
              <a:t>Équipement : </a:t>
            </a:r>
            <a:r>
              <a:rPr lang="en-US" sz="650" b="1" dirty="0">
                <a:solidFill>
                  <a:srgbClr val="FFFFFF"/>
                </a:solidFill>
              </a:rPr>
              <a:t>Serveur-BDD
</a:t>
            </a:r>
            <a:r>
              <a:rPr lang="en-US" sz="650" dirty="0">
                <a:solidFill>
                  <a:srgbClr val="8BAAC5"/>
                </a:solidFill>
              </a:rPr>
              <a:t>IP : </a:t>
            </a:r>
            <a:r>
              <a:rPr lang="en-US" sz="650" dirty="0">
                <a:solidFill>
                  <a:srgbClr val="FFFFFF"/>
                </a:solidFill>
              </a:rPr>
              <a:t>192.168.1.50
</a:t>
            </a:r>
            <a:r>
              <a:rPr lang="en-US" sz="650" dirty="0">
                <a:solidFill>
                  <a:srgbClr val="8BAAC5"/>
                </a:solidFill>
              </a:rPr>
              <a:t>Type : </a:t>
            </a:r>
            <a:r>
              <a:rPr lang="en-US" sz="650" b="1" dirty="0">
                <a:solidFill>
                  <a:srgbClr val="D97706"/>
                </a:solidFill>
              </a:rPr>
              <a:t>INDISPONIBILITÉ
</a:t>
            </a:r>
            <a:r>
              <a:rPr lang="en-US" sz="650" dirty="0">
                <a:solidFill>
                  <a:srgbClr val="8BAAC5"/>
                </a:solidFill>
              </a:rPr>
              <a:t>Site : </a:t>
            </a:r>
            <a:r>
              <a:rPr lang="en-US" sz="650" dirty="0">
                <a:solidFill>
                  <a:srgbClr val="FFFFFF"/>
                </a:solidFill>
              </a:rPr>
              <a:t>VITIB Grand-Bassam
</a:t>
            </a:r>
            <a:r>
              <a:rPr lang="en-US" sz="650" dirty="0">
                <a:solidFill>
                  <a:srgbClr val="8BAAC5"/>
                </a:solidFill>
              </a:rPr>
              <a:t>Heure : </a:t>
            </a:r>
            <a:r>
              <a:rPr lang="en-US" sz="650" dirty="0">
                <a:solidFill>
                  <a:srgbClr val="00B4D8"/>
                </a:solidFill>
              </a:rPr>
              <a:t>14:23:07</a:t>
            </a:r>
            <a:endParaRPr lang="en-US" sz="650" dirty="0"/>
          </a:p>
        </p:txBody>
      </p:sp>
      <p:pic>
        <p:nvPicPr>
          <p:cNvPr id="6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0448" y="2651760"/>
            <a:ext cx="347472" cy="347472"/>
          </a:xfrm>
          <a:prstGeom prst="rect">
            <a:avLst/>
          </a:prstGeom>
        </p:spPr>
      </p:pic>
      <p:pic>
        <p:nvPicPr>
          <p:cNvPr id="6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713232"/>
            <a:ext cx="329184" cy="329184"/>
          </a:xfrm>
          <a:prstGeom prst="rect">
            <a:avLst/>
          </a:prstGeom>
        </p:spPr>
      </p:pic>
      <p:sp>
        <p:nvSpPr>
          <p:cNvPr id="64" name="Text 60"/>
          <p:cNvSpPr/>
          <p:nvPr/>
        </p:nvSpPr>
        <p:spPr>
          <a:xfrm>
            <a:off x="7370064" y="694944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Temps réel</a:t>
            </a:r>
            <a:endParaRPr lang="en-US" sz="1100" dirty="0"/>
          </a:p>
        </p:txBody>
      </p:sp>
      <p:sp>
        <p:nvSpPr>
          <p:cNvPr id="65" name="Text 61"/>
          <p:cNvSpPr/>
          <p:nvPr/>
        </p:nvSpPr>
        <p:spPr>
          <a:xfrm>
            <a:off x="7370064" y="969264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Panne détectée avant signalement</a:t>
            </a:r>
            <a:endParaRPr lang="en-US" sz="950" dirty="0"/>
          </a:p>
        </p:txBody>
      </p:sp>
      <p:sp>
        <p:nvSpPr>
          <p:cNvPr id="66" name="Shape 62"/>
          <p:cNvSpPr/>
          <p:nvPr/>
        </p:nvSpPr>
        <p:spPr>
          <a:xfrm>
            <a:off x="6949440" y="1399032"/>
            <a:ext cx="196596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pic>
        <p:nvPicPr>
          <p:cNvPr id="6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1609344"/>
            <a:ext cx="329184" cy="329184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7370064" y="159105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&lt; 2 min</a:t>
            </a:r>
            <a:endParaRPr lang="en-US" sz="1100" dirty="0"/>
          </a:p>
        </p:txBody>
      </p:sp>
      <p:sp>
        <p:nvSpPr>
          <p:cNvPr id="69" name="Text 64"/>
          <p:cNvSpPr/>
          <p:nvPr/>
        </p:nvSpPr>
        <p:spPr>
          <a:xfrm>
            <a:off x="7370064" y="1865376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Détection + alerte Telegram</a:t>
            </a:r>
            <a:endParaRPr lang="en-US" sz="950" dirty="0"/>
          </a:p>
        </p:txBody>
      </p:sp>
      <p:sp>
        <p:nvSpPr>
          <p:cNvPr id="70" name="Shape 65"/>
          <p:cNvSpPr/>
          <p:nvPr/>
        </p:nvSpPr>
        <p:spPr>
          <a:xfrm>
            <a:off x="6949440" y="2295144"/>
            <a:ext cx="196596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pic>
        <p:nvPicPr>
          <p:cNvPr id="7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0" y="2505456"/>
            <a:ext cx="329184" cy="329184"/>
          </a:xfrm>
          <a:prstGeom prst="rect">
            <a:avLst/>
          </a:prstGeom>
        </p:spPr>
      </p:pic>
      <p:sp>
        <p:nvSpPr>
          <p:cNvPr id="72" name="Text 66"/>
          <p:cNvSpPr/>
          <p:nvPr/>
        </p:nvSpPr>
        <p:spPr>
          <a:xfrm>
            <a:off x="7370064" y="2487168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Traçabilité</a:t>
            </a:r>
            <a:endParaRPr lang="en-US" sz="1100" dirty="0"/>
          </a:p>
        </p:txBody>
      </p:sp>
      <p:sp>
        <p:nvSpPr>
          <p:cNvPr id="73" name="Text 67"/>
          <p:cNvSpPr/>
          <p:nvPr/>
        </p:nvSpPr>
        <p:spPr>
          <a:xfrm>
            <a:off x="7370064" y="2761488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Historique = preuve SLA</a:t>
            </a:r>
            <a:endParaRPr lang="en-US" sz="950" dirty="0"/>
          </a:p>
        </p:txBody>
      </p:sp>
      <p:sp>
        <p:nvSpPr>
          <p:cNvPr id="74" name="Shape 68"/>
          <p:cNvSpPr/>
          <p:nvPr/>
        </p:nvSpPr>
        <p:spPr>
          <a:xfrm>
            <a:off x="6949440" y="3191256"/>
            <a:ext cx="196596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pic>
        <p:nvPicPr>
          <p:cNvPr id="7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0" y="3401568"/>
            <a:ext cx="329184" cy="329184"/>
          </a:xfrm>
          <a:prstGeom prst="rect">
            <a:avLst/>
          </a:prstGeom>
        </p:spPr>
      </p:pic>
      <p:sp>
        <p:nvSpPr>
          <p:cNvPr id="76" name="Text 69"/>
          <p:cNvSpPr/>
          <p:nvPr/>
        </p:nvSpPr>
        <p:spPr>
          <a:xfrm>
            <a:off x="7370064" y="3383280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Lisibilité</a:t>
            </a:r>
            <a:endParaRPr lang="en-US" sz="1100" dirty="0"/>
          </a:p>
        </p:txBody>
      </p:sp>
      <p:sp>
        <p:nvSpPr>
          <p:cNvPr id="77" name="Text 70"/>
          <p:cNvSpPr/>
          <p:nvPr/>
        </p:nvSpPr>
        <p:spPr>
          <a:xfrm>
            <a:off x="7370064" y="365760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</a:rPr>
              <a:t>Interface claire &amp; exportable</a:t>
            </a:r>
            <a:endParaRPr lang="en-US" sz="950" dirty="0"/>
          </a:p>
        </p:txBody>
      </p:sp>
      <p:sp>
        <p:nvSpPr>
          <p:cNvPr id="78" name="Shape 71"/>
          <p:cNvSpPr/>
          <p:nvPr/>
        </p:nvSpPr>
        <p:spPr>
          <a:xfrm>
            <a:off x="182880" y="4663440"/>
            <a:ext cx="8732520" cy="329184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79" name="Text 72"/>
          <p:cNvSpPr/>
          <p:nvPr/>
        </p:nvSpPr>
        <p:spPr>
          <a:xfrm>
            <a:off x="274320" y="4681728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Panne détectée → alerte e-mail + Telegram &lt; 2 min → acquittement → preuve SLA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82880" y="64008"/>
            <a:ext cx="365760" cy="3657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82880" y="64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82296"/>
            <a:ext cx="7772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Marketing &amp; Prévisions financières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B7280"/>
                </a:solidFill>
              </a:rPr>
              <a:t>Awali — Automatisation Supervision Réseau | OPEN MOISE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28600" y="62179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5C"/>
                </a:solidFill>
              </a:rPr>
              <a:t>Double valeur pour OPEN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987552"/>
            <a:ext cx="45720" cy="5943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5760" y="96926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Outil interne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122529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Supervision marketplace MOISE, OpenPay, usine VITIB — qualité de service garantie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90872" y="987552"/>
            <a:ext cx="45720" cy="5943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828032" y="96926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Offre commerciale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28032" y="122529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Service managé facturable aux distributeurs Open G et partenaires CERCO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8600" y="1664208"/>
            <a:ext cx="8686800" cy="22860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28600" y="178308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228600" y="1783080"/>
            <a:ext cx="265176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20040" y="190195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3A5C"/>
                </a:solidFill>
              </a:rPr>
              <a:t>≈ 130 000 FCFA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20040" y="2432304"/>
            <a:ext cx="24688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Investissement initial</a:t>
            </a:r>
            <a:endParaRPr lang="en-US" sz="10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(serveur/VM)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154680" y="178308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154680" y="1783080"/>
            <a:ext cx="265176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246120" y="190195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</a:rPr>
              <a:t>≈ 6 M FCFA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246120" y="2432304"/>
            <a:ext cx="24688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Revenus prévisionnels</a:t>
            </a:r>
            <a:endParaRPr lang="en-US" sz="10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année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80760" y="178308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080760" y="1783080"/>
            <a:ext cx="265176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172200" y="190195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</a:rPr>
              <a:t>1 client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172200" y="2432304"/>
            <a:ext cx="24688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Seuil de rentabilité</a:t>
            </a:r>
            <a:endParaRPr lang="en-US" sz="10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(dès le 1er abonnement)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28600" y="312724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Détail revenus année 1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28600" y="3401568"/>
            <a:ext cx="8686800" cy="22860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228600" y="349300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</a:rPr>
              <a:t>Supervision managée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926080" y="349300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10 clients × 25 000 FCFA/mois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58000" y="349300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0B4D8"/>
                </a:solidFill>
              </a:rPr>
              <a:t>3 000 000 FCFA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28600" y="3840480"/>
            <a:ext cx="8686800" cy="10973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28600" y="387705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</a:rPr>
              <a:t>Mise en service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26080" y="387705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10 × 200 000 FCFA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858000" y="387705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0B4D8"/>
                </a:solidFill>
              </a:rPr>
              <a:t>2 000 000 FCFA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28600" y="4224528"/>
            <a:ext cx="8686800" cy="10973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228600" y="4261104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</a:rPr>
              <a:t>Option Pro (SNMP/IA)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926080" y="426110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3 × 325 000 FCFA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858000" y="42611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00B4D8"/>
                </a:solidFill>
              </a:rPr>
              <a:t>975 000 FCFA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28600" y="461772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B3A5C"/>
                </a:solidFill>
              </a:rPr>
              <a:t>💡 Gains internes : réduction astreinte · moins de pénalités SLA · fidélisation clients MOISE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82880" y="64008"/>
            <a:ext cx="365760" cy="3657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4" name="Text 2"/>
          <p:cNvSpPr/>
          <p:nvPr/>
        </p:nvSpPr>
        <p:spPr>
          <a:xfrm>
            <a:off x="182880" y="64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82296"/>
            <a:ext cx="7772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Positionnement concurrentiel d'Awali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B7280"/>
                </a:solidFill>
              </a:rPr>
              <a:t>Awali — Automatisation Supervision Réseau | OPEN MOISE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28600" y="62179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Stratégie « océan bleu » — espace non couvert par les acteurs existants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8600" y="1024128"/>
            <a:ext cx="8686800" cy="3657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0040" y="106070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Solution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691640" y="106070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Prix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71800" y="10607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Simplicité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297680" y="10607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Légèreté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23560" y="10607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Alerte mobile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949440" y="106070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Personnalisation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28600" y="1389888"/>
            <a:ext cx="86868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20040" y="15361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</a:rPr>
              <a:t>Nagios/Zabbix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691640" y="153619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</a:rPr>
              <a:t>Gratuit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971800" y="15361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</a:rPr>
              <a:t>Faible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297680" y="15361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</a:rPr>
              <a:t>Moyenne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23560" y="15361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</a:rPr>
              <a:t>Plugin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949440" y="153619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</a:rPr>
              <a:t>Limitée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28600" y="2048256"/>
            <a:ext cx="8686800" cy="594360"/>
          </a:xfrm>
          <a:prstGeom prst="roundRect">
            <a:avLst>
              <a:gd name="adj" fmla="val 7692"/>
            </a:avLst>
          </a:prstGeom>
          <a:solidFill>
            <a:srgbClr val="F3F6F9"/>
          </a:solidFill>
          <a:ln w="635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20040" y="21945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</a:rPr>
              <a:t>PRTG/SolarWinds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691640" y="21945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</a:rPr>
              <a:t>Très élevé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971800" y="219456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</a:rPr>
              <a:t>Élevée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297680" y="219456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</a:rPr>
              <a:t>Faible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23560" y="219456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</a:rPr>
              <a:t>App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49440" y="21945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</a:rPr>
              <a:t>Non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28600" y="2706624"/>
            <a:ext cx="8686800" cy="594360"/>
          </a:xfrm>
          <a:prstGeom prst="roundRect">
            <a:avLst>
              <a:gd name="adj" fmla="val 7692"/>
            </a:avLst>
          </a:prstGeom>
          <a:solidFill>
            <a:srgbClr val="F0FBFF"/>
          </a:solidFill>
          <a:ln w="635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228600" y="2706624"/>
            <a:ext cx="54864" cy="5943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320040" y="28529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</a:rPr>
              <a:t>Awali ✓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691640" y="285292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</a:rPr>
              <a:t>0 FCFA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971800" y="285292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</a:rPr>
              <a:t>Élevée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297680" y="285292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</a:rPr>
              <a:t>Très élevée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23560" y="285292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</a:rPr>
              <a:t>Telegram natif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949440" y="285292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A5C"/>
                </a:solidFill>
              </a:rPr>
              <a:t>Totale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28600" y="349300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</a:rPr>
              <a:t>Plan d'action commercial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28600" y="3767328"/>
            <a:ext cx="868680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256032" y="3858768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56032" y="38587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48640" y="3831336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Déployer Awali au sein d'OPEN MOISE et l'éprouver sur le parc réel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56032" y="4087368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256032" y="40873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48640" y="4059936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Communiquer : démonstrations aux partenaires CERCO, témoignages clients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56032" y="4315968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256032" y="43159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48640" y="4288536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Convertir les sites CERCO (CI, Bénin, Burkina) à l'abonnement supervision managée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56032" y="4544568"/>
            <a:ext cx="201168" cy="20116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256032" y="454456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48640" y="4517136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</a:rPr>
              <a:t>Prospecter : distributeurs Open G, revendeurs, partenaires MTN/Orange/Wave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95072" y="64008"/>
            <a:ext cx="365760" cy="36576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4" name="Text 2"/>
          <p:cNvSpPr/>
          <p:nvPr/>
        </p:nvSpPr>
        <p:spPr>
          <a:xfrm>
            <a:off x="182880" y="64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82296"/>
            <a:ext cx="7772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Limites actuelles &amp; Perspectives d'évolution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B7280"/>
                </a:solidFill>
              </a:rPr>
              <a:t>Awali — Automatisation Supervision Réseau | OPEN MOISE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28600" y="621792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Limites du projet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8600" y="1024128"/>
            <a:ext cx="45720" cy="6858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5760" y="106070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ICMP/TCP uniquement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133502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Pas encore de métriques internes (CPU/RAM) sans SNMP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8600" y="1920240"/>
            <a:ext cx="45720" cy="6858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65760" y="195681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Cycle de 2 minutes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2311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Borne minimale du temps de détection actuel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8600" y="2816352"/>
            <a:ext cx="45720" cy="6858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65760" y="285292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Dépendance Internet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31272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Alertes SMTP/Telegram nécessitent accès sortant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8600" y="3712464"/>
            <a:ext cx="45720" cy="6858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65760" y="3749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Point unique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40233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Serveur de supervision à redonder pour sites critiques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09160" y="594360"/>
            <a:ext cx="22860" cy="4114800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846320" y="621792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Perspectives d'évolution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1024128"/>
            <a:ext cx="45720" cy="6858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983480" y="106070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SNMP &amp; métriques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83480" y="133502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CPU, mémoire, bande passante des équipements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1920240"/>
            <a:ext cx="45720" cy="6858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983480" y="19568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IA prédictive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83480" y="223113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Détection d'anomalies avant la panne (ML)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46320" y="2816352"/>
            <a:ext cx="45720" cy="6858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983480" y="28529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Auto-remédiation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83480" y="3127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Actions correctives automatiques — AIOps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46320" y="3712464"/>
            <a:ext cx="45720" cy="6858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983480" y="37490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</a:rPr>
              <a:t>Multi-sites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83480" y="40233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Portail multi-clients, filiales CERCO via Docker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28600" y="4617720"/>
            <a:ext cx="8686800" cy="13716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228600" y="466344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</a:rPr>
              <a:t>Recommandations : VLAN dédié · UPS · sauvegardes régulières · redondance pour sites critiques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82296"/>
            <a:ext cx="8412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Conclusion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B7280"/>
                </a:solidFill>
              </a:rPr>
              <a:t>Awali — Automatisation Supervision Réseau | OPEN MOISE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228600" y="658368"/>
            <a:ext cx="8686800" cy="228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" y="749808"/>
            <a:ext cx="8686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A5C"/>
                </a:solidFill>
              </a:rPr>
              <a:t>Awali transforme la supervision réseau </a:t>
            </a:r>
            <a:r>
              <a:rPr lang="en-US" sz="1400" b="1" dirty="0" err="1">
                <a:solidFill>
                  <a:srgbClr val="1B3A5C"/>
                </a:solidFill>
              </a:rPr>
              <a:t>d'OPEN</a:t>
            </a:r>
            <a:r>
              <a:rPr lang="en-US" sz="1400" b="1" dirty="0">
                <a:solidFill>
                  <a:srgbClr val="1B3A5C"/>
                </a:solidFill>
              </a:rPr>
              <a:t> : d'une logique réactive et manuelle vers une approche automatisée, intelligente et temps réel — à coût de licence nul.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28600" y="1572768"/>
            <a:ext cx="8686800" cy="228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92608" y="1737360"/>
            <a:ext cx="2011680" cy="1874520"/>
          </a:xfrm>
          <a:prstGeom prst="roundRect">
            <a:avLst>
              <a:gd name="adj" fmla="val 3902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92608" y="1737360"/>
            <a:ext cx="201168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1874520"/>
            <a:ext cx="457200" cy="4572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65760" y="242316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A5C"/>
                </a:solidFill>
              </a:rPr>
              <a:t>MTTD &lt; 2 min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65760" y="2788920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Détection × 15 plus rapide</a:t>
            </a:r>
            <a:endParaRPr lang="en-US" sz="10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que la supervision manuelle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505456" y="1737360"/>
            <a:ext cx="2011680" cy="1874520"/>
          </a:xfrm>
          <a:prstGeom prst="roundRect">
            <a:avLst>
              <a:gd name="adj" fmla="val 3902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2505456" y="1737360"/>
            <a:ext cx="201168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96" y="1874520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578608" y="242316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A5C"/>
                </a:solidFill>
              </a:rPr>
              <a:t>MTTR réduit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2578608" y="2788920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Astreinte alertée partout</a:t>
            </a:r>
            <a:endParaRPr lang="en-US" sz="10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via Telegram instantané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718304" y="1737360"/>
            <a:ext cx="2011680" cy="1874520"/>
          </a:xfrm>
          <a:prstGeom prst="roundRect">
            <a:avLst>
              <a:gd name="adj" fmla="val 3902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4718304" y="1737360"/>
            <a:ext cx="201168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5544" y="187452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791456" y="242316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A5C"/>
                </a:solidFill>
              </a:rPr>
              <a:t>0 FCFA licence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4791456" y="2788920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100 % open-source</a:t>
            </a:r>
            <a:endParaRPr lang="en-US" sz="10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ROI dès le 1er client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6931152" y="1737360"/>
            <a:ext cx="2011680" cy="1874520"/>
          </a:xfrm>
          <a:prstGeom prst="roundRect">
            <a:avLst>
              <a:gd name="adj" fmla="val 3902"/>
            </a:avLst>
          </a:prstGeom>
          <a:solidFill>
            <a:srgbClr val="F3F6F9"/>
          </a:solidFill>
          <a:ln w="10160">
            <a:solidFill>
              <a:srgbClr val="D1DCE8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6931152" y="1737360"/>
            <a:ext cx="201168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8392" y="1874520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004304" y="242316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A5C"/>
                </a:solidFill>
              </a:rPr>
              <a:t>Traçabilité SLA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7004304" y="2788920"/>
            <a:ext cx="1874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Preuve de service</a:t>
            </a:r>
            <a:endParaRPr lang="en-US" sz="10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</a:rPr>
              <a:t>opposable aux clients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228600" y="3767328"/>
            <a:ext cx="8686800" cy="22860"/>
          </a:xfrm>
          <a:prstGeom prst="rect">
            <a:avLst/>
          </a:prstGeom>
          <a:solidFill>
            <a:srgbClr val="D1DCE8"/>
          </a:solidFill>
          <a:ln/>
        </p:spPr>
        <p:txBody>
          <a:bodyPr/>
          <a:p/>
        </p:txBody>
      </p:sp>
      <p:sp>
        <p:nvSpPr>
          <p:cNvPr id="30" name="Text 24"/>
          <p:cNvSpPr/>
          <p:nvPr/>
        </p:nvSpPr>
        <p:spPr>
          <a:xfrm>
            <a:off x="228600" y="3858768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B3A5C"/>
                </a:solidFill>
              </a:rPr>
              <a:t>Au-delà de l'outil : Awali est une démarche d'ingénierie alliant réseau, automatisation et IA — avec un fort potentiel d'évolution pour OPEN et ses filiales CERCO.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228600" y="4526280"/>
            <a:ext cx="8686800" cy="228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p/>
        </p:txBody>
      </p:sp>
      <p:sp>
        <p:nvSpPr>
          <p:cNvPr id="32" name="Text 26"/>
          <p:cNvSpPr/>
          <p:nvPr/>
        </p:nvSpPr>
        <p:spPr>
          <a:xfrm>
            <a:off x="228600" y="464515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6B7280"/>
                </a:solidFill>
              </a:rPr>
              <a:t>Merci pour votre attention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" y="64008"/>
            <a:ext cx="365760" cy="36576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82296"/>
            <a:ext cx="8019288" cy="3383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</a:rPr>
              <a:t>Démarche méthodologique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B7280"/>
                </a:solidFill>
                <a:latin typeface="Calibri"/>
              </a:rPr>
              <a:t>Awali — Automatisation Supervision Réseau | OPEN MOISE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03504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111827"/>
                </a:solidFill>
                <a:latin typeface="Calibri"/>
              </a:rPr>
              <a:t>Une approche itérative et incrémentale, inspirée du cycle de vie d'un projet d'ingénierie (esprit DevOps).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234440"/>
            <a:ext cx="8686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350" b="1">
                <a:solidFill>
                  <a:srgbClr val="1B3A5C"/>
                </a:solidFill>
                <a:latin typeface="Calibri"/>
              </a:rPr>
              <a:t>Étapes de réalisation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581912"/>
            <a:ext cx="8686800" cy="27432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92807"/>
            <a:ext cx="54864" cy="5669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74519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B4D8"/>
                </a:solidFill>
                <a:latin typeface="Calibri"/>
              </a:rPr>
              <a:t>E1 — Analyse des besoins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13055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11827"/>
                </a:solidFill>
                <a:latin typeface="Calibri"/>
              </a:rPr>
              <a:t>Exigences, équipements à superviser et métriques clés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892807"/>
            <a:ext cx="54864" cy="5669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1874519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B4D8"/>
                </a:solidFill>
                <a:latin typeface="Calibri"/>
              </a:rPr>
              <a:t>E2 — Étude de l'existant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13055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11827"/>
                </a:solidFill>
                <a:latin typeface="Calibri"/>
              </a:rPr>
              <a:t>Benchmark des outils de supervision et de leurs limites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15768"/>
            <a:ext cx="54864" cy="5669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6974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B4D8"/>
                </a:solidFill>
                <a:latin typeface="Calibri"/>
              </a:rPr>
              <a:t>E3 — Conception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95351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11827"/>
                </a:solidFill>
                <a:latin typeface="Calibri"/>
              </a:rPr>
              <a:t>Architecture, modélisation UML &amp; MERISE, choix techniques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2715768"/>
            <a:ext cx="54864" cy="5669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600" y="269748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B4D8"/>
                </a:solidFill>
                <a:latin typeface="Calibri"/>
              </a:rPr>
              <a:t>E4 — Implémentation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295351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11827"/>
                </a:solidFill>
                <a:latin typeface="Calibri"/>
              </a:rPr>
              <a:t>Moteur Python, sondes, alertes, base de données, tableau de bord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538728"/>
            <a:ext cx="54864" cy="5669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52044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B4D8"/>
                </a:solidFill>
                <a:latin typeface="Calibri"/>
              </a:rPr>
              <a:t>E5 — Tests &amp;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77647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11827"/>
                </a:solidFill>
                <a:latin typeface="Calibri"/>
              </a:rPr>
              <a:t>Tests unitaires, fonctionnels et de performance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3538728"/>
            <a:ext cx="54864" cy="5669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352044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B4D8"/>
                </a:solidFill>
                <a:latin typeface="Calibri"/>
              </a:rPr>
              <a:t>E6 — Évaluation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377647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11827"/>
                </a:solidFill>
                <a:latin typeface="Calibri"/>
              </a:rPr>
              <a:t>Mesure du MTTD, MTTR et du taux de disponibilité (avant / après)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54864" cy="463600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" y="64008"/>
            <a:ext cx="365760" cy="365760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82296"/>
            <a:ext cx="8019288" cy="3383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</a:rPr>
              <a:t>Étude de faisabilité et conception de la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4892040"/>
            <a:ext cx="8686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B7280"/>
                </a:solidFill>
                <a:latin typeface="Calibri"/>
              </a:rPr>
              <a:t>Awali — Automatisation Supervision Réseau | OPEN MOISE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03504"/>
            <a:ext cx="8686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350" b="1">
                <a:solidFill>
                  <a:srgbClr val="1B3A5C"/>
                </a:solidFill>
                <a:latin typeface="Calibri"/>
              </a:rPr>
              <a:t>Étude de faisabilité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950976"/>
            <a:ext cx="8686800" cy="27432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52728"/>
            <a:ext cx="54864" cy="5669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B4D8"/>
                </a:solidFill>
                <a:latin typeface="Calibri"/>
              </a:rPr>
              <a:t>Technique  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49047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11827"/>
                </a:solidFill>
                <a:latin typeface="Calibri"/>
              </a:rPr>
              <a:t>Briques open-source matures, compétences disponibles, prototype réalisé et testé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93976"/>
            <a:ext cx="54864" cy="5669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075688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B4D8"/>
                </a:solidFill>
                <a:latin typeface="Calibri"/>
              </a:rPr>
              <a:t>Économique  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33172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11827"/>
                </a:solidFill>
                <a:latin typeface="Calibri"/>
              </a:rPr>
              <a:t>Investissement faible (≈ 130 000 FCFA), 0 FCFA de licence, retour rapide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935224"/>
            <a:ext cx="54864" cy="566928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916936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0B4D8"/>
                </a:solidFill>
                <a:latin typeface="Calibri"/>
              </a:rPr>
              <a:t>Organisationnelle  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17296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11827"/>
                </a:solidFill>
                <a:latin typeface="Calibri"/>
              </a:rPr>
              <a:t>Intégrable au processus d'astreinte d'OPEN, conduite du changement légère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" y="3822191"/>
            <a:ext cx="8686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350" b="1">
                <a:solidFill>
                  <a:srgbClr val="1B3A5C"/>
                </a:solidFill>
                <a:latin typeface="Calibri"/>
              </a:rPr>
              <a:t>Conception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4169663"/>
            <a:ext cx="8686800" cy="27432"/>
          </a:xfrm>
          <a:prstGeom prst="rect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20624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111827"/>
                </a:solidFill>
                <a:latin typeface="Calibri"/>
              </a:rPr>
              <a:t>7 diagrammes UML (du contexte au déploiement) · Base MySQL — 6 tables (méthode MERISE) · Architecture en 5 couches avec découplage moteur de collecte ↔ interface web.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1149</TotalTime>
  <Words>1449</Words>
  <Application>Microsoft Office PowerPoint</Application>
  <PresentationFormat>Affichage à l'écran (16:9)</PresentationFormat>
  <Paragraphs>332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1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Awali — Supervision Réseau OPEN MOISE</dc:title>
  <dc:subject>PptxGenJS Presentation</dc:subject>
  <dc:creator>Kouassi Yoo Nyong Kra Espérance</dc:creator>
  <cp:lastModifiedBy>Espérance Kouassi</cp:lastModifiedBy>
  <cp:revision>4</cp:revision>
  <dcterms:created xsi:type="dcterms:W3CDTF">2026-06-13T15:14:19Z</dcterms:created>
  <dcterms:modified xsi:type="dcterms:W3CDTF">2026-06-14T10:24:38Z</dcterms:modified>
</cp:coreProperties>
</file>