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 vers le modèle logique - les cinq tables relationnelles avec leurs clés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captures matérialisent chaque fonctionnalité clé. La plus parlante est la notification Telegram reçue sur le téléphone : la preuve concrète de la valeur ajoutée pour les équipes d'astreinte d'OPEN MOISE.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déployée au sein d'OPEN MOISE (ESN d'infogérance)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D3B66"/>
                </a:solidFill>
                <a:latin typeface="Calibri"/>
              </a:rPr>
              <a:t>•  Introduction — L'annonce du sujet</a:t>
            </a:r>
          </a:p>
          <a:p>
            <a:pPr>
              <a:spcAft>
                <a:spcPts val="1400"/>
              </a:spcAft>
            </a:pPr>
            <a:r>
              <a:rPr sz="1600" b="0" i="0">
                <a:solidFill>
                  <a:srgbClr val="333333"/>
                </a:solidFill>
                <a:latin typeface="Calibri"/>
              </a:rPr>
              <a:t>•  1.  Contexte et identification du problème</a:t>
            </a:r>
          </a:p>
          <a:p>
            <a:pPr>
              <a:spcAft>
                <a:spcPts val="1400"/>
              </a:spcAft>
            </a:pPr>
            <a:r>
              <a:rPr sz="1600" b="0" i="0">
                <a:solidFill>
                  <a:srgbClr val="333333"/>
                </a:solidFill>
                <a:latin typeface="Calibri"/>
              </a:rPr>
              <a:t>•  2.  Objectifs et résultats attendus</a:t>
            </a:r>
          </a:p>
          <a:p>
            <a:pPr>
              <a:spcAft>
                <a:spcPts val="1400"/>
              </a:spcAft>
            </a:pPr>
            <a:r>
              <a:rPr sz="1600" b="0" i="0">
                <a:solidFill>
                  <a:srgbClr val="333333"/>
                </a:solidFill>
                <a:latin typeface="Calibri"/>
              </a:rPr>
              <a:t>•  3.  Démarche méthodologique</a:t>
            </a:r>
          </a:p>
          <a:p>
            <a:pPr>
              <a:spcAft>
                <a:spcPts val="1400"/>
              </a:spcAft>
            </a:pPr>
            <a:r>
              <a:rPr sz="1600" b="0" i="0">
                <a:solidFill>
                  <a:srgbClr val="333333"/>
                </a:solidFill>
                <a:latin typeface="Calibri"/>
              </a:rPr>
              <a:t>•  4.  État des lieux des solutions existantes et solution proposée</a:t>
            </a:r>
          </a:p>
          <a:p>
            <a:pPr>
              <a:spcAft>
                <a:spcPts val="1400"/>
              </a:spcAft>
            </a:pPr>
            <a:r>
              <a:rPr sz="1600" b="0" i="0">
                <a:solidFill>
                  <a:srgbClr val="333333"/>
                </a:solidFill>
                <a:latin typeface="Calibri"/>
              </a:rPr>
              <a:t>•  5.  L'axe de différenciation (innovation technologique)</a:t>
            </a:r>
          </a:p>
          <a:p>
            <a:pPr>
              <a:spcAft>
                <a:spcPts val="1400"/>
              </a:spcAft>
            </a:pPr>
            <a:r>
              <a:rPr sz="1600" b="0" i="0">
                <a:solidFill>
                  <a:srgbClr val="333333"/>
                </a:solidFill>
                <a:latin typeface="Calibri"/>
              </a:rPr>
              <a:t>•  6.  Étude de faisabilité et conception de la solution</a:t>
            </a:r>
          </a:p>
        </p:txBody>
      </p:sp>
      <p:sp>
        <p:nvSpPr>
          <p:cNvPr id="5" name="TextBox 4"/>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333333"/>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333333"/>
                </a:solidFill>
                <a:latin typeface="Calibri"/>
              </a:rPr>
              <a:t>•  9.  Marketing, vente et concurrence</a:t>
            </a:r>
          </a:p>
          <a:p>
            <a:pPr>
              <a:spcAft>
                <a:spcPts val="1400"/>
              </a:spcAft>
            </a:pPr>
            <a:r>
              <a:rPr sz="1600" b="0" i="0">
                <a:solidFill>
                  <a:srgbClr val="333333"/>
                </a:solidFill>
                <a:latin typeface="Calibri"/>
              </a:rPr>
              <a:t>•  10. Prévisions financières</a:t>
            </a:r>
          </a:p>
          <a:p>
            <a:pPr>
              <a:spcAft>
                <a:spcPts val="1400"/>
              </a:spcAft>
            </a:pPr>
            <a:r>
              <a:rPr sz="1600" b="0" i="0">
                <a:solidFill>
                  <a:srgbClr val="333333"/>
                </a:solidFill>
                <a:latin typeface="Calibri"/>
              </a:rPr>
              <a:t>•  11. Limites du projet et perspectives</a:t>
            </a:r>
          </a:p>
          <a:p>
            <a:pPr>
              <a:spcAft>
                <a:spcPts val="1400"/>
              </a:spcAft>
            </a:pPr>
            <a:r>
              <a:rPr sz="1600" b="0" i="0">
                <a:solidFill>
                  <a:srgbClr val="333333"/>
                </a:solidFill>
                <a:latin typeface="Calibri"/>
              </a:rPr>
              <a:t/>
            </a:r>
          </a:p>
          <a:p>
            <a:pPr>
              <a:spcAft>
                <a:spcPts val="1400"/>
              </a:spcAft>
            </a:pPr>
            <a:r>
              <a:rPr sz="16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333333"/>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Pourquoi ce thème ?</a:t>
            </a:r>
          </a:p>
          <a:p>
            <a:pPr lvl="1">
              <a:spcAft>
                <a:spcPts val="800"/>
              </a:spcAft>
            </a:pPr>
            <a:r>
              <a:rPr sz="1700" b="0" i="0">
                <a:solidFill>
                  <a:srgbClr val="333333"/>
                </a:solidFill>
                <a:latin typeface="Calibri"/>
              </a:rPr>
              <a:t>–  Le réseau est le « système nerveux » des clients d'OPEN MOISE</a:t>
            </a:r>
          </a:p>
          <a:p>
            <a:pPr lvl="1">
              <a:spcAft>
                <a:spcPts val="800"/>
              </a:spcAft>
            </a:pPr>
            <a:r>
              <a:rPr sz="1700" b="0" i="0">
                <a:solidFill>
                  <a:srgbClr val="333333"/>
                </a:solidFill>
                <a:latin typeface="Calibri"/>
              </a:rPr>
              <a:t>–  Une minute d'indisponibilité menace les engagements de service (SLA)</a:t>
            </a:r>
          </a:p>
          <a:p>
            <a:pPr lvl="1">
              <a:spcAft>
                <a:spcPts val="800"/>
              </a:spcAft>
            </a:pPr>
            <a:r>
              <a:rPr sz="1700" b="0" i="0">
                <a:solidFill>
                  <a:srgbClr val="333333"/>
                </a:solidFill>
                <a:latin typeface="Calibri"/>
              </a:rPr>
              <a:t>–  Vécu de terrain chez OPEN MOISE : pannes des parcs clients découvertes trop tard, souvent signalées par le client lui-même</a:t>
            </a:r>
          </a:p>
          <a:p>
            <a:pPr lvl="1">
              <a:spcAft>
                <a:spcPts val="800"/>
              </a:spcAft>
            </a:pPr>
            <a:r>
              <a:rPr sz="1700" b="0" i="0">
                <a:solidFill>
                  <a:srgbClr val="333333"/>
                </a:solidFill>
                <a:latin typeface="Calibri"/>
              </a:rPr>
              <a:t>–  Conviction : l'open-source permet d'industrialiser la supervision sans licence</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333333"/>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Constat de terrain chez OPEN MOISE :</a:t>
            </a:r>
          </a:p>
          <a:p>
            <a:pPr lvl="1">
              <a:spcAft>
                <a:spcPts val="800"/>
              </a:spcAft>
            </a:pPr>
            <a:r>
              <a:rPr sz="1700" b="0" i="0">
                <a:solidFill>
                  <a:srgbClr val="333333"/>
                </a:solidFill>
                <a:latin typeface="Calibri"/>
              </a:rPr>
              <a:t>–  Supervision largement manuelle et épisodique (ping à la main)</a:t>
            </a:r>
          </a:p>
          <a:p>
            <a:pPr lvl="1">
              <a:spcAft>
                <a:spcPts val="800"/>
              </a:spcAft>
            </a:pPr>
            <a:r>
              <a:rPr sz="1700" b="0" i="0">
                <a:solidFill>
                  <a:srgbClr val="333333"/>
                </a:solidFill>
                <a:latin typeface="Calibri"/>
              </a:rPr>
              <a:t>–  Pannes des parcs clients signalées par le client → réaction tardive</a:t>
            </a:r>
          </a:p>
          <a:p>
            <a:pPr lvl="1">
              <a:spcAft>
                <a:spcPts val="800"/>
              </a:spcAft>
            </a:pPr>
            <a:r>
              <a:rPr sz="1700" b="0" i="0">
                <a:solidFill>
                  <a:srgbClr val="333333"/>
                </a:solidFill>
                <a:latin typeface="Calibri"/>
              </a:rPr>
              <a:t>–  Aucune traçabilité des incidents → SLA difficiles à prouver</a:t>
            </a:r>
          </a:p>
          <a:p>
            <a:pPr lvl="1">
              <a:spcAft>
                <a:spcPts val="800"/>
              </a:spcAft>
            </a:pPr>
            <a:r>
              <a:rPr sz="1700" b="0" i="0">
                <a:solidFill>
                  <a:srgbClr val="333333"/>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D3B66"/>
                </a:solidFill>
                <a:latin typeface="Calibri"/>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D3B66"/>
                </a:solidFill>
                <a:latin typeface="Calibri"/>
              </a:rPr>
              <a:t>•  Un outil de supervision pour OPEN MOISE, automatisé, modulaire et 100 % open-source, qui :</a:t>
            </a:r>
          </a:p>
          <a:p>
            <a:pPr lvl="1">
              <a:spcAft>
                <a:spcPts val="800"/>
              </a:spcAft>
            </a:pPr>
            <a:r>
              <a:rPr sz="1700" b="0" i="0">
                <a:solidFill>
                  <a:srgbClr val="333333"/>
                </a:solidFill>
                <a:latin typeface="Calibri"/>
              </a:rPr>
              <a:t>–  découvre automatiquement les équipements des réseaux clients</a:t>
            </a:r>
          </a:p>
          <a:p>
            <a:pPr lvl="1">
              <a:spcAft>
                <a:spcPts val="800"/>
              </a:spcAft>
            </a:pPr>
            <a:r>
              <a:rPr sz="1700" b="0" i="0">
                <a:solidFill>
                  <a:srgbClr val="333333"/>
                </a:solidFill>
                <a:latin typeface="Calibri"/>
              </a:rPr>
              <a:t>–  sonde en continu la disponibilité (ICMP) et les services (TCP)</a:t>
            </a:r>
          </a:p>
          <a:p>
            <a:pPr lvl="1">
              <a:spcAft>
                <a:spcPts val="800"/>
              </a:spcAft>
            </a:pPr>
            <a:r>
              <a:rPr sz="1700" b="0" i="0">
                <a:solidFill>
                  <a:srgbClr val="333333"/>
                </a:solidFill>
                <a:latin typeface="Calibri"/>
              </a:rPr>
              <a:t>–  confirme la panne (anti-faux positif) et journalise tout (preuve de SLA)</a:t>
            </a:r>
          </a:p>
          <a:p>
            <a:pPr lvl="1">
              <a:spcAft>
                <a:spcPts val="800"/>
              </a:spcAft>
            </a:pPr>
            <a:r>
              <a:rPr sz="1700" b="0" i="0">
                <a:solidFill>
                  <a:srgbClr val="333333"/>
                </a:solidFill>
                <a:latin typeface="Calibri"/>
              </a:rPr>
              <a:t>–  alerte les équipes d'OPEN MOISE par e-mail ET Telegram (push mobile)</a:t>
            </a:r>
          </a:p>
          <a:p>
            <a:pPr lvl="1">
              <a:spcAft>
                <a:spcPts val="800"/>
              </a:spcAft>
            </a:pPr>
            <a:r>
              <a:rPr sz="1700" b="0" i="0">
                <a:solidFill>
                  <a:srgbClr val="333333"/>
                </a:solidFill>
                <a:latin typeface="Calibri"/>
              </a:rPr>
              <a:t>–  offre un tableau de bord web temps réel + rapports clients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L'axe de différenciation (innovation technologique)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D3B66"/>
                    </a:solidFill>
                  </a:tcPr>
                </a:tc>
                <a:tc>
                  <a:txBody>
                    <a:bodyPr/>
                    <a:lstStyle/>
                    <a:p>
                      <a:pPr algn="ctr"/>
                      <a:r>
                        <a:rPr sz="1500" b="1" i="0">
                          <a:solidFill>
                            <a:srgbClr val="FFFFFF"/>
                          </a:solidFill>
                          <a:latin typeface="Calibri"/>
                        </a:rPr>
                        <a:t>Bénéfice pour OPEN MOISE</a:t>
                      </a:r>
                    </a:p>
                  </a:txBody>
                  <a:tcPr>
                    <a:solidFill>
                      <a:srgbClr val="0D3B66"/>
                    </a:solidFill>
                  </a:tcPr>
                </a:tc>
              </a:tr>
              <a:tr h="518160">
                <a:tc>
                  <a:txBody>
                    <a:bodyPr/>
                    <a:lstStyle/>
                    <a:p>
                      <a:pPr algn="l"/>
                      <a:r>
                        <a:rPr sz="1500" b="0" i="0">
                          <a:solidFill>
                            <a:srgbClr val="333333"/>
                          </a:solidFill>
                          <a:latin typeface="Calibri"/>
                        </a:rPr>
                        <a:t>Alerte Telegram native</a:t>
                      </a:r>
                    </a:p>
                  </a:txBody>
                  <a:tcPr>
                    <a:solidFill>
                      <a:srgbClr val="FFFFFF"/>
                    </a:solidFill>
                  </a:tcPr>
                </a:tc>
                <a:tc>
                  <a:txBody>
                    <a:bodyPr/>
                    <a:lstStyle/>
                    <a:p>
                      <a:pPr algn="ctr"/>
                      <a:r>
                        <a:rPr sz="1500" b="0" i="0">
                          <a:solidFill>
                            <a:srgbClr val="333333"/>
                          </a:solidFill>
                          <a:latin typeface="Calibri"/>
                        </a:rPr>
                        <a:t>Astreinte alertée partout, sans coût de notification</a:t>
                      </a:r>
                    </a:p>
                  </a:txBody>
                  <a:tcPr>
                    <a:solidFill>
                      <a:srgbClr val="FFFFFF"/>
                    </a:solidFill>
                  </a:tcPr>
                </a:tc>
              </a:tr>
              <a:tr h="518160">
                <a:tc>
                  <a:txBody>
                    <a:bodyPr/>
                    <a:lstStyle/>
                    <a:p>
                      <a:pPr algn="l"/>
                      <a:r>
                        <a:rPr sz="1500" b="0" i="0">
                          <a:solidFill>
                            <a:srgbClr val="333333"/>
                          </a:solidFill>
                          <a:latin typeface="Calibri"/>
                        </a:rPr>
                        <a:t>Ultra-légère</a:t>
                      </a:r>
                    </a:p>
                  </a:txBody>
                  <a:tcPr>
                    <a:solidFill>
                      <a:srgbClr val="F1F3F5"/>
                    </a:solidFill>
                  </a:tcPr>
                </a:tc>
                <a:tc>
                  <a:txBody>
                    <a:bodyPr/>
                    <a:lstStyle/>
                    <a:p>
                      <a:pPr algn="ctr"/>
                      <a:r>
                        <a:rPr sz="1500" b="0" i="0">
                          <a:solidFill>
                            <a:srgbClr val="333333"/>
                          </a:solidFill>
                          <a:latin typeface="Calibri"/>
                        </a:rPr>
                        <a:t>1 VM par client / mutualisée : coûts d'exploitation réduits</a:t>
                      </a:r>
                    </a:p>
                  </a:txBody>
                  <a:tcPr>
                    <a:solidFill>
                      <a:srgbClr val="F1F3F5"/>
                    </a:solidFill>
                  </a:tcPr>
                </a:tc>
              </a:tr>
              <a:tr h="518160">
                <a:tc>
                  <a:txBody>
                    <a:bodyPr/>
                    <a:lstStyle/>
                    <a:p>
                      <a:pPr algn="l"/>
                      <a:r>
                        <a:rPr sz="1500" b="0" i="0">
                          <a:solidFill>
                            <a:srgbClr val="333333"/>
                          </a:solidFill>
                          <a:latin typeface="Calibri"/>
                        </a:rPr>
                        <a:t>Code 100 % ouvert &amp; maîtrisé</a:t>
                      </a:r>
                    </a:p>
                  </a:txBody>
                  <a:tcPr>
                    <a:solidFill>
                      <a:srgbClr val="FFFFFF"/>
                    </a:solidFill>
                  </a:tcPr>
                </a:tc>
                <a:tc>
                  <a:txBody>
                    <a:bodyPr/>
                    <a:lstStyle/>
                    <a:p>
                      <a:pPr algn="ctr"/>
                      <a:r>
                        <a:rPr sz="1500" b="0" i="0">
                          <a:solidFill>
                            <a:srgbClr val="333333"/>
                          </a:solidFill>
                          <a:latin typeface="Calibri"/>
                        </a:rPr>
                        <a:t>Adaptable à chaque client, zéro vendor lock-in</a:t>
                      </a:r>
                    </a:p>
                  </a:txBody>
                  <a:tcPr>
                    <a:solidFill>
                      <a:srgbClr val="FFFFFF"/>
                    </a:solidFill>
                  </a:tcPr>
                </a:tc>
              </a:tr>
              <a:tr h="518160">
                <a:tc>
                  <a:txBody>
                    <a:bodyPr/>
                    <a:lstStyle/>
                    <a:p>
                      <a:pPr algn="l"/>
                      <a:r>
                        <a:rPr sz="1500" b="0" i="0">
                          <a:solidFill>
                            <a:srgbClr val="333333"/>
                          </a:solidFill>
                          <a:latin typeface="Calibri"/>
                        </a:rPr>
                        <a:t>« Plug &amp; supervise »</a:t>
                      </a:r>
                    </a:p>
                  </a:txBody>
                  <a:tcPr>
                    <a:solidFill>
                      <a:srgbClr val="F1F3F5"/>
                    </a:solidFill>
                  </a:tcPr>
                </a:tc>
                <a:tc>
                  <a:txBody>
                    <a:bodyPr/>
                    <a:lstStyle/>
                    <a:p>
                      <a:pPr algn="ctr"/>
                      <a:r>
                        <a:rPr sz="1500" b="0" i="0">
                          <a:solidFill>
                            <a:srgbClr val="333333"/>
                          </a:solidFill>
                          <a:latin typeface="Calibri"/>
                        </a:rPr>
                        <a:t>Onboarding d'un nouveau client en &lt; 30 min</a:t>
                      </a:r>
                    </a:p>
                  </a:txBody>
                  <a:tcPr>
                    <a:solidFill>
                      <a:srgbClr val="F1F3F5"/>
                    </a:solidFill>
                  </a:tcPr>
                </a:tc>
              </a:tr>
              <a:tr h="518160">
                <a:tc>
                  <a:txBody>
                    <a:bodyPr/>
                    <a:lstStyle/>
                    <a:p>
                      <a:pPr algn="l"/>
                      <a:r>
                        <a:rPr sz="1500" b="0" i="0">
                          <a:solidFill>
                            <a:srgbClr val="333333"/>
                          </a:solidFill>
                          <a:latin typeface="Calibri"/>
                        </a:rPr>
                        <a:t>Prête pour l'IA</a:t>
                      </a:r>
                    </a:p>
                  </a:txBody>
                  <a:tcPr>
                    <a:solidFill>
                      <a:srgbClr val="FFFFFF"/>
                    </a:solidFill>
                  </a:tcPr>
                </a:tc>
                <a:tc>
                  <a:txBody>
                    <a:bodyPr/>
                    <a:lstStyle/>
                    <a:p>
                      <a:pPr algn="ctr"/>
                      <a:r>
                        <a:rPr sz="1500" b="0" i="0">
                          <a:solidFill>
                            <a:srgbClr val="333333"/>
                          </a:solidFill>
                          <a:latin typeface="Calibri"/>
                        </a:rPr>
                        <a:t>Historique structuré → futur service prédictif vendable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et conception de la solution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déjà présentes chez OPEN MOISE, prototype réalisé et testé.</a:t>
            </a:r>
          </a:p>
          <a:p>
            <a:pPr>
              <a:spcAft>
                <a:spcPts val="800"/>
              </a:spcAft>
            </a:pPr>
            <a:r>
              <a:rPr sz="1900" b="0" i="0">
                <a:solidFill>
                  <a:srgbClr val="198754"/>
                </a:solidFill>
                <a:latin typeface="Calibri"/>
              </a:rPr>
              <a:t>•  Faisabilité économique ✓ — coût de licence nul, matériel mutualisé OPEN MOISE.</a:t>
            </a:r>
          </a:p>
          <a:p>
            <a:pPr>
              <a:spcAft>
                <a:spcPts val="800"/>
              </a:spcAft>
            </a:pPr>
            <a:r>
              <a:rPr sz="1900" b="0" i="0">
                <a:solidFill>
                  <a:srgbClr val="198754"/>
                </a:solidFill>
                <a:latin typeface="Calibri"/>
              </a:rPr>
              <a:t>•  Faisabilité organisationnelle ✓ — intégrable au processus d'astreinte d'OPEN MOISE.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5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411480" y="1600200"/>
            <a:ext cx="5394960" cy="3141605"/>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31669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de la solution : point de vue technique</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captures clés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a:t>
                      </a:r>
                    </a:p>
                  </a:txBody>
                  <a:tcPr>
                    <a:solidFill>
                      <a:srgbClr val="0D3B66"/>
                    </a:solidFill>
                  </a:tcPr>
                </a:tc>
              </a:tr>
              <a:tr h="496388">
                <a:tc>
                  <a:txBody>
                    <a:bodyPr/>
                    <a:lstStyle/>
                    <a:p>
                      <a:pPr algn="l"/>
                      <a:r>
                        <a:rPr sz="1600" b="0" i="0">
                          <a:solidFill>
                            <a:srgbClr val="333333"/>
                          </a:solidFill>
                          <a:latin typeface="Calibri"/>
                        </a:rPr>
                        <a:t>Connexion</a:t>
                      </a:r>
                    </a:p>
                  </a:txBody>
                  <a:tcPr>
                    <a:solidFill>
                      <a:srgbClr val="FFFFFF"/>
                    </a:solidFill>
                  </a:tcPr>
                </a:tc>
                <a:tc>
                  <a:txBody>
                    <a:bodyPr/>
                    <a:lstStyle/>
                    <a:p>
                      <a:pPr algn="ctr"/>
                      <a:r>
                        <a:rPr sz="1600" b="0" i="0">
                          <a:solidFill>
                            <a:srgbClr val="333333"/>
                          </a:solidFill>
                          <a:latin typeface="Calibri"/>
                        </a:rPr>
                        <a:t>Accès sécurisé</a:t>
                      </a:r>
                    </a:p>
                  </a:txBody>
                  <a:tcPr>
                    <a:solidFill>
                      <a:srgbClr val="FFFFFF"/>
                    </a:solidFill>
                  </a:tcPr>
                </a:tc>
              </a:tr>
              <a:tr h="496388">
                <a:tc>
                  <a:txBody>
                    <a:bodyPr/>
                    <a:lstStyle/>
                    <a:p>
                      <a:pPr algn="l"/>
                      <a:r>
                        <a:rPr sz="1600" b="0" i="0">
                          <a:solidFill>
                            <a:srgbClr val="333333"/>
                          </a:solidFill>
                          <a:latin typeface="Calibri"/>
                        </a:rPr>
                        <a:t>Tableau de bord</a:t>
                      </a:r>
                    </a:p>
                  </a:txBody>
                  <a:tcPr>
                    <a:solidFill>
                      <a:srgbClr val="F1F3F5"/>
                    </a:solidFill>
                  </a:tcPr>
                </a:tc>
                <a:tc>
                  <a:txBody>
                    <a:bodyPr/>
                    <a:lstStyle/>
                    <a:p>
                      <a:pPr algn="ctr"/>
                      <a:r>
                        <a:rPr sz="1600" b="0" i="0">
                          <a:solidFill>
                            <a:srgbClr val="333333"/>
                          </a:solidFill>
                          <a:latin typeface="Calibri"/>
                        </a:rPr>
                        <a:t>Supervision temps réel, KPI, anneau de disponibilité</a:t>
                      </a:r>
                    </a:p>
                  </a:txBody>
                  <a:tcPr>
                    <a:solidFill>
                      <a:srgbClr val="F1F3F5"/>
                    </a:solidFill>
                  </a:tcPr>
                </a:tc>
              </a:tr>
              <a:tr h="496388">
                <a:tc>
                  <a:txBody>
                    <a:bodyPr/>
                    <a:lstStyle/>
                    <a:p>
                      <a:pPr algn="l"/>
                      <a:r>
                        <a:rPr sz="1600" b="0" i="0">
                          <a:solidFill>
                            <a:srgbClr val="333333"/>
                          </a:solidFill>
                          <a:latin typeface="Calibri"/>
                        </a:rPr>
                        <a:t>Équipements</a:t>
                      </a:r>
                    </a:p>
                  </a:txBody>
                  <a:tcPr>
                    <a:solidFill>
                      <a:srgbClr val="FFFFFF"/>
                    </a:solidFill>
                  </a:tcPr>
                </a:tc>
                <a:tc>
                  <a:txBody>
                    <a:bodyPr/>
                    <a:lstStyle/>
                    <a:p>
                      <a:pPr algn="ctr"/>
                      <a:r>
                        <a:rPr sz="1600" b="0" i="0">
                          <a:solidFill>
                            <a:srgbClr val="333333"/>
                          </a:solidFill>
                          <a:latin typeface="Calibri"/>
                        </a:rPr>
                        <a:t>Inventaire + découverte automatique</a:t>
                      </a:r>
                    </a:p>
                  </a:txBody>
                  <a:tcPr>
                    <a:solidFill>
                      <a:srgbClr val="FFFFFF"/>
                    </a:solidFill>
                  </a:tcPr>
                </a:tc>
              </a:tr>
              <a:tr h="496388">
                <a:tc>
                  <a:txBody>
                    <a:bodyPr/>
                    <a:lstStyle/>
                    <a:p>
                      <a:pPr algn="l"/>
                      <a:r>
                        <a:rPr sz="1600" b="0" i="0">
                          <a:solidFill>
                            <a:srgbClr val="333333"/>
                          </a:solidFill>
                          <a:latin typeface="Calibri"/>
                        </a:rPr>
                        <a:t>Alertes</a:t>
                      </a:r>
                    </a:p>
                  </a:txBody>
                  <a:tcPr>
                    <a:solidFill>
                      <a:srgbClr val="F1F3F5"/>
                    </a:solidFill>
                  </a:tcPr>
                </a:tc>
                <a:tc>
                  <a:txBody>
                    <a:bodyPr/>
                    <a:lstStyle/>
                    <a:p>
                      <a:pPr algn="ctr"/>
                      <a:r>
                        <a:rPr sz="1600" b="0" i="0">
                          <a:solidFill>
                            <a:srgbClr val="333333"/>
                          </a:solidFill>
                          <a:latin typeface="Calibri"/>
                        </a:rPr>
                        <a:t>Historique + acquittement</a:t>
                      </a:r>
                    </a:p>
                  </a:txBody>
                  <a:tcPr>
                    <a:solidFill>
                      <a:srgbClr val="F1F3F5"/>
                    </a:solidFill>
                  </a:tcPr>
                </a:tc>
              </a:tr>
              <a:tr h="496388">
                <a:tc>
                  <a:txBody>
                    <a:bodyPr/>
                    <a:lstStyle/>
                    <a:p>
                      <a:pPr algn="l"/>
                      <a:r>
                        <a:rPr sz="1600" b="0" i="0">
                          <a:solidFill>
                            <a:srgbClr val="333333"/>
                          </a:solidFill>
                          <a:latin typeface="Calibri"/>
                        </a:rPr>
                        <a:t>Notification Telegram</a:t>
                      </a:r>
                    </a:p>
                  </a:txBody>
                  <a:tcPr>
                    <a:solidFill>
                      <a:srgbClr val="FFFFFF"/>
                    </a:solidFill>
                  </a:tcPr>
                </a:tc>
                <a:tc>
                  <a:txBody>
                    <a:bodyPr/>
                    <a:lstStyle/>
                    <a:p>
                      <a:pPr algn="ctr"/>
                      <a:r>
                        <a:rPr sz="1600" b="0" i="0">
                          <a:solidFill>
                            <a:srgbClr val="333333"/>
                          </a:solidFill>
                          <a:latin typeface="Calibri"/>
                        </a:rPr>
                        <a:t>Alerte push reçue sur smartphone</a:t>
                      </a:r>
                    </a:p>
                  </a:txBody>
                  <a:tcPr>
                    <a:solidFill>
                      <a:srgbClr val="FFFFFF"/>
                    </a:solidFill>
                  </a:tcPr>
                </a:tc>
              </a:tr>
              <a:tr h="496392">
                <a:tc>
                  <a:txBody>
                    <a:bodyPr/>
                    <a:lstStyle/>
                    <a:p>
                      <a:pPr algn="l"/>
                      <a:r>
                        <a:rPr sz="1600" b="0" i="0">
                          <a:solidFill>
                            <a:srgbClr val="333333"/>
                          </a:solidFill>
                          <a:latin typeface="Calibri"/>
                        </a:rPr>
                        <a:t>Rapports</a:t>
                      </a:r>
                    </a:p>
                  </a:txBody>
                  <a:tcPr>
                    <a:solidFill>
                      <a:srgbClr val="F1F3F5"/>
                    </a:solidFill>
                  </a:tcPr>
                </a:tc>
                <a:tc>
                  <a:txBody>
                    <a:bodyPr/>
                    <a:lstStyle/>
                    <a:p>
                      <a:pPr algn="ctr"/>
                      <a:r>
                        <a:rPr sz="1600" b="0" i="0">
                          <a:solidFill>
                            <a:srgbClr val="333333"/>
                          </a:solidFill>
                          <a:latin typeface="Calibri"/>
                        </a:rPr>
                        <a:t>Statistiques &amp; graphiques exportables</a:t>
                      </a:r>
                    </a:p>
                  </a:txBody>
                  <a:tcPr>
                    <a:solidFill>
                      <a:srgbClr val="F1F3F5"/>
                    </a:solidFill>
                  </a:tcPr>
                </a:tc>
              </a:tr>
            </a:tbl>
          </a:graphicData>
        </a:graphic>
      </p:graphicFrame>
      <p:sp>
        <p:nvSpPr>
          <p:cNvPr id="6" name="Rectangle 5"/>
          <p:cNvSpPr/>
          <p:nvPr/>
        </p:nvSpPr>
        <p:spPr>
          <a:xfrm>
            <a:off x="640080" y="5212080"/>
            <a:ext cx="109728" cy="82296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À insérer : les captures d'écran réelles de l'application déployée chez OPEN MOISE.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D3B66"/>
                </a:solidFill>
                <a:latin typeface="Calibri"/>
              </a:rPr>
              <a:t>•  Double valeur pour OPEN MOISE :</a:t>
            </a:r>
          </a:p>
          <a:p>
            <a:pPr lvl="1">
              <a:spcAft>
                <a:spcPts val="800"/>
              </a:spcAft>
            </a:pPr>
            <a:r>
              <a:rPr sz="1500" b="0" i="0">
                <a:solidFill>
                  <a:srgbClr val="333333"/>
                </a:solidFill>
                <a:latin typeface="Calibri"/>
              </a:rPr>
              <a:t>–  Outil INTERNE : industrialise la supervision, fiabilise les SLA, réduit l'astreinte</a:t>
            </a:r>
          </a:p>
          <a:p>
            <a:pPr lvl="1">
              <a:spcAft>
                <a:spcPts val="800"/>
              </a:spcAft>
            </a:pPr>
            <a:r>
              <a:rPr sz="1500" b="0" i="0">
                <a:solidFill>
                  <a:srgbClr val="333333"/>
                </a:solidFill>
                <a:latin typeface="Calibri"/>
              </a:rPr>
              <a:t>–  Nouvelle OFFRE : « Supervision managée » vendue aux clients d'OPEN MOISE</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Proposition de valeur d'OPEN MOISE à ses clients :</a:t>
            </a:r>
          </a:p>
          <a:p>
            <a:pPr lvl="1">
              <a:spcAft>
                <a:spcPts val="800"/>
              </a:spcAft>
            </a:pPr>
            <a:r>
              <a:rPr sz="1500" b="0" i="0">
                <a:solidFill>
                  <a:srgbClr val="0D6EFD"/>
                </a:solidFill>
                <a:latin typeface="Calibri"/>
              </a:rPr>
              <a:t>–  « OPEN MOISE surveille votre réseau 24/7 et intervient avant que vous ne constatiez la panne. »</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Monétisation (offre de service) :</a:t>
            </a:r>
          </a:p>
          <a:p>
            <a:pPr lvl="1">
              <a:spcAft>
                <a:spcPts val="800"/>
              </a:spcAft>
            </a:pPr>
            <a:r>
              <a:rPr sz="1500" b="0" i="0">
                <a:solidFill>
                  <a:srgbClr val="333333"/>
                </a:solidFill>
                <a:latin typeface="Calibri"/>
              </a:rPr>
              <a:t>–  Abonnement mensuel de supervision managée (par site / par équipement)</a:t>
            </a:r>
          </a:p>
          <a:p>
            <a:pPr lvl="1">
              <a:spcAft>
                <a:spcPts val="800"/>
              </a:spcAft>
            </a:pPr>
            <a:r>
              <a:rPr sz="1500" b="0" i="0">
                <a:solidFill>
                  <a:srgbClr val="333333"/>
                </a:solidFill>
                <a:latin typeface="Calibri"/>
              </a:rPr>
              <a:t>–  Option Pro : SNMP, multi-sites, IA prédictive, rapports SLA avancés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Solution OPEN MOISE</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 (OPEN MOISE)</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Investissement d'OPEN MOISE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 (open-source)</a:t>
                      </a:r>
                    </a:p>
                  </a:txBody>
                  <a:tcPr>
                    <a:solidFill>
                      <a:srgbClr val="FFFFFF"/>
                    </a:solidFill>
                  </a:tcPr>
                </a:tc>
              </a:tr>
              <a:tr h="475488">
                <a:tc>
                  <a:txBody>
                    <a:bodyPr/>
                    <a:lstStyle/>
                    <a:p>
                      <a:pPr algn="l"/>
                      <a:r>
                        <a:rPr sz="1500" b="0" i="0">
                          <a:solidFill>
                            <a:srgbClr val="333333"/>
                          </a:solidFill>
                          <a:latin typeface="Calibri"/>
                        </a:rPr>
                        <a:t>Serveur / VM (mutualisé)</a:t>
                      </a:r>
                    </a:p>
                  </a:txBody>
                  <a:tcPr>
                    <a:solidFill>
                      <a:srgbClr val="F1F3F5"/>
                    </a:solidFill>
                  </a:tcPr>
                </a:tc>
                <a:tc>
                  <a:txBody>
                    <a:bodyPr/>
                    <a:lstStyle/>
                    <a:p>
                      <a:pPr algn="ctr"/>
                      <a:r>
                        <a:rPr sz="1500" b="0" i="0">
                          <a:solidFill>
                            <a:srgbClr val="333333"/>
                          </a:solidFill>
                          <a:latin typeface="Calibri"/>
                        </a:rPr>
                        <a:t>~150–300 €</a:t>
                      </a:r>
                    </a:p>
                  </a:txBody>
                  <a:tcPr>
                    <a:solidFill>
                      <a:srgbClr val="F1F3F5"/>
                    </a:solidFill>
                  </a:tcPr>
                </a:tc>
              </a:tr>
              <a:tr h="475488">
                <a:tc>
                  <a:txBody>
                    <a:bodyPr/>
                    <a:lstStyle/>
                    <a:p>
                      <a:pPr algn="l"/>
                      <a:r>
                        <a:rPr sz="1500" b="0" i="0">
                          <a:solidFill>
                            <a:srgbClr val="333333"/>
                          </a:solidFill>
                          <a:latin typeface="Calibri"/>
                        </a:rPr>
                        <a:t>Développement &amp; déploiement</a:t>
                      </a:r>
                    </a:p>
                  </a:txBody>
                  <a:tcPr>
                    <a:solidFill>
                      <a:srgbClr val="FFFFFF"/>
                    </a:solidFill>
                  </a:tcPr>
                </a:tc>
                <a:tc>
                  <a:txBody>
                    <a:bodyPr/>
                    <a:lstStyle/>
                    <a:p>
                      <a:pPr algn="ctr"/>
                      <a:r>
                        <a:rPr sz="1500" b="0" i="0">
                          <a:solidFill>
                            <a:srgbClr val="333333"/>
                          </a:solidFill>
                          <a:latin typeface="Calibri"/>
                        </a:rPr>
                        <a:t>Interne (réalisé)</a:t>
                      </a:r>
                    </a:p>
                  </a:txBody>
                  <a:tcPr>
                    <a:solidFill>
                      <a:srgbClr val="FFFFFF"/>
                    </a:solidFill>
                  </a:tcPr>
                </a:tc>
              </a:tr>
              <a:tr h="475488">
                <a:tc>
                  <a:txBody>
                    <a:bodyPr/>
                    <a:lstStyle/>
                    <a:p>
                      <a:pPr algn="l"/>
                      <a:r>
                        <a:rPr sz="1500" b="0" i="0">
                          <a:solidFill>
                            <a:srgbClr val="333333"/>
                          </a:solidFill>
                          <a:latin typeface="Calibri"/>
                        </a:rPr>
                        <a:t>Total d'entrée</a:t>
                      </a:r>
                    </a:p>
                  </a:txBody>
                  <a:tcPr>
                    <a:solidFill>
                      <a:srgbClr val="F1F3F5"/>
                    </a:solidFill>
                  </a:tcPr>
                </a:tc>
                <a:tc>
                  <a:txBody>
                    <a:bodyPr/>
                    <a:lstStyle/>
                    <a:p>
                      <a:pPr algn="ctr"/>
                      <a:r>
                        <a:rPr sz="1500" b="0" i="0">
                          <a:solidFill>
                            <a:srgbClr val="333333"/>
                          </a:solidFill>
                          <a:latin typeface="Calibri"/>
                        </a:rPr>
                        <a:t>≈ 200 €</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600" b="1" i="0">
                <a:solidFill>
                  <a:srgbClr val="0D3B66"/>
                </a:solidFill>
                <a:latin typeface="Calibri"/>
              </a:rPr>
              <a:t>Revenus &amp; gains pour OPEN MOISE (an 1)</a:t>
            </a:r>
          </a:p>
        </p:txBody>
      </p:sp>
      <p:graphicFrame>
        <p:nvGraphicFramePr>
          <p:cNvPr id="8" name="Table 7"/>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D3B66"/>
                    </a:solidFill>
                  </a:tcPr>
                </a:tc>
                <a:tc>
                  <a:txBody>
                    <a:bodyPr/>
                    <a:lstStyle/>
                    <a:p>
                      <a:pPr algn="ctr"/>
                      <a:r>
                        <a:rPr sz="1300" b="1" i="0">
                          <a:solidFill>
                            <a:srgbClr val="FFFFFF"/>
                          </a:solidFill>
                          <a:latin typeface="Calibri"/>
                        </a:rPr>
                        <a:t>Hypothèse</a:t>
                      </a:r>
                    </a:p>
                  </a:txBody>
                  <a:tcPr>
                    <a:solidFill>
                      <a:srgbClr val="0D3B66"/>
                    </a:solidFill>
                  </a:tcPr>
                </a:tc>
                <a:tc>
                  <a:txBody>
                    <a:bodyPr/>
                    <a:lstStyle/>
                    <a:p>
                      <a:pPr algn="ctr"/>
                      <a:r>
                        <a:rPr sz="1300" b="1" i="0">
                          <a:solidFill>
                            <a:srgbClr val="FFFFFF"/>
                          </a:solidFill>
                          <a:latin typeface="Calibri"/>
                        </a:rPr>
                        <a:t>Montant</a:t>
                      </a:r>
                    </a:p>
                  </a:txBody>
                  <a:tcPr>
                    <a:solidFill>
                      <a:srgbClr val="0D3B66"/>
                    </a:solidFill>
                  </a:tcPr>
                </a:tc>
              </a:tr>
              <a:tr h="441960">
                <a:tc>
                  <a:txBody>
                    <a:bodyPr/>
                    <a:lstStyle/>
                    <a:p>
                      <a:pPr algn="l"/>
                      <a:r>
                        <a:rPr sz="1300" b="0" i="0">
                          <a:solidFill>
                            <a:srgbClr val="333333"/>
                          </a:solidFill>
                          <a:latin typeface="Calibri"/>
                        </a:rPr>
                        <a:t>Supervision managée</a:t>
                      </a:r>
                    </a:p>
                  </a:txBody>
                  <a:tcPr>
                    <a:solidFill>
                      <a:srgbClr val="FFFFFF"/>
                    </a:solidFill>
                  </a:tcPr>
                </a:tc>
                <a:tc>
                  <a:txBody>
                    <a:bodyPr/>
                    <a:lstStyle/>
                    <a:p>
                      <a:pPr algn="ctr"/>
                      <a:r>
                        <a:rPr sz="1300" b="0" i="0">
                          <a:solidFill>
                            <a:srgbClr val="333333"/>
                          </a:solidFill>
                          <a:latin typeface="Calibri"/>
                        </a:rPr>
                        <a:t>10 clients × 40 €/mois</a:t>
                      </a:r>
                    </a:p>
                  </a:txBody>
                  <a:tcPr>
                    <a:solidFill>
                      <a:srgbClr val="FFFFFF"/>
                    </a:solidFill>
                  </a:tcPr>
                </a:tc>
                <a:tc>
                  <a:txBody>
                    <a:bodyPr/>
                    <a:lstStyle/>
                    <a:p>
                      <a:pPr algn="ctr"/>
                      <a:r>
                        <a:rPr sz="1300" b="1" i="0">
                          <a:solidFill>
                            <a:srgbClr val="198754"/>
                          </a:solidFill>
                          <a:latin typeface="Calibri"/>
                        </a:rPr>
                        <a:t>4 800 €</a:t>
                      </a:r>
                    </a:p>
                  </a:txBody>
                  <a:tcPr>
                    <a:solidFill>
                      <a:srgbClr val="FFFFFF"/>
                    </a:solidFill>
                  </a:tcPr>
                </a:tc>
              </a:tr>
              <a:tr h="441960">
                <a:tc>
                  <a:txBody>
                    <a:bodyPr/>
                    <a:lstStyle/>
                    <a:p>
                      <a:pPr algn="l"/>
                      <a:r>
                        <a:rPr sz="1300" b="0" i="0">
                          <a:solidFill>
                            <a:srgbClr val="333333"/>
                          </a:solidFill>
                          <a:latin typeface="Calibri"/>
                        </a:rPr>
                        <a:t>Mise en service client</a:t>
                      </a:r>
                    </a:p>
                  </a:txBody>
                  <a:tcPr>
                    <a:solidFill>
                      <a:srgbClr val="F1F3F5"/>
                    </a:solidFill>
                  </a:tcPr>
                </a:tc>
                <a:tc>
                  <a:txBody>
                    <a:bodyPr/>
                    <a:lstStyle/>
                    <a:p>
                      <a:pPr algn="ctr"/>
                      <a:r>
                        <a:rPr sz="1300" b="0" i="0">
                          <a:solidFill>
                            <a:srgbClr val="333333"/>
                          </a:solidFill>
                          <a:latin typeface="Calibri"/>
                        </a:rPr>
                        <a:t>10 × 300 €</a:t>
                      </a:r>
                    </a:p>
                  </a:txBody>
                  <a:tcPr>
                    <a:solidFill>
                      <a:srgbClr val="F1F3F5"/>
                    </a:solidFill>
                  </a:tcPr>
                </a:tc>
                <a:tc>
                  <a:txBody>
                    <a:bodyPr/>
                    <a:lstStyle/>
                    <a:p>
                      <a:pPr algn="ctr"/>
                      <a:r>
                        <a:rPr sz="1300" b="1" i="0">
                          <a:solidFill>
                            <a:srgbClr val="198754"/>
                          </a:solidFill>
                          <a:latin typeface="Calibri"/>
                        </a:rPr>
                        <a:t>3 000 €</a:t>
                      </a:r>
                    </a:p>
                  </a:txBody>
                  <a:tcPr>
                    <a:solidFill>
                      <a:srgbClr val="F1F3F5"/>
                    </a:solidFill>
                  </a:tcPr>
                </a:tc>
              </a:tr>
              <a:tr h="441960">
                <a:tc>
                  <a:txBody>
                    <a:bodyPr/>
                    <a:lstStyle/>
                    <a:p>
                      <a:pPr algn="l"/>
                      <a:r>
                        <a:rPr sz="1300" b="0" i="0">
                          <a:solidFill>
                            <a:srgbClr val="333333"/>
                          </a:solidFill>
                          <a:latin typeface="Calibri"/>
                        </a:rPr>
                        <a:t>Option Pro (SNMP/IA)</a:t>
                      </a:r>
                    </a:p>
                  </a:txBody>
                  <a:tcPr>
                    <a:solidFill>
                      <a:srgbClr val="FFFFFF"/>
                    </a:solidFill>
                  </a:tcPr>
                </a:tc>
                <a:tc>
                  <a:txBody>
                    <a:bodyPr/>
                    <a:lstStyle/>
                    <a:p>
                      <a:pPr algn="ctr"/>
                      <a:r>
                        <a:rPr sz="1300" b="0" i="0">
                          <a:solidFill>
                            <a:srgbClr val="333333"/>
                          </a:solidFill>
                          <a:latin typeface="Calibri"/>
                        </a:rPr>
                        <a:t>3 × 500 €</a:t>
                      </a:r>
                    </a:p>
                  </a:txBody>
                  <a:tcPr>
                    <a:solidFill>
                      <a:srgbClr val="FFFFFF"/>
                    </a:solidFill>
                  </a:tcPr>
                </a:tc>
                <a:tc>
                  <a:txBody>
                    <a:bodyPr/>
                    <a:lstStyle/>
                    <a:p>
                      <a:pPr algn="ctr"/>
                      <a:r>
                        <a:rPr sz="1300" b="1" i="0">
                          <a:solidFill>
                            <a:srgbClr val="198754"/>
                          </a:solidFill>
                          <a:latin typeface="Calibri"/>
                        </a:rPr>
                        <a:t>1 500 €</a:t>
                      </a:r>
                    </a:p>
                  </a:txBody>
                  <a:tcPr>
                    <a:solidFill>
                      <a:srgbClr val="FFFFFF"/>
                    </a:solidFill>
                  </a:tcPr>
                </a:tc>
              </a:tr>
              <a:tr h="441960">
                <a:tc>
                  <a:txBody>
                    <a:bodyPr/>
                    <a:lstStyle/>
                    <a:p>
                      <a:pPr algn="l"/>
                      <a:r>
                        <a:rPr sz="1300" b="0" i="0">
                          <a:solidFill>
                            <a:srgbClr val="333333"/>
                          </a:solidFill>
                          <a:latin typeface="Calibri"/>
                        </a:rPr>
                        <a:t>Pénalités SLA évitées</a:t>
                      </a:r>
                    </a:p>
                  </a:txBody>
                  <a:tcPr>
                    <a:solidFill>
                      <a:srgbClr val="F1F3F5"/>
                    </a:solidFill>
                  </a:tcPr>
                </a:tc>
                <a:tc>
                  <a:txBody>
                    <a:bodyPr/>
                    <a:lstStyle/>
                    <a:p>
                      <a:pPr algn="ctr"/>
                      <a:r>
                        <a:rPr sz="1300" b="0" i="0">
                          <a:solidFill>
                            <a:srgbClr val="333333"/>
                          </a:solidFill>
                          <a:latin typeface="Calibri"/>
                        </a:rPr>
                        <a:t>estimation</a:t>
                      </a:r>
                    </a:p>
                  </a:txBody>
                  <a:tcPr>
                    <a:solidFill>
                      <a:srgbClr val="F1F3F5"/>
                    </a:solidFill>
                  </a:tcPr>
                </a:tc>
                <a:tc>
                  <a:txBody>
                    <a:bodyPr/>
                    <a:lstStyle/>
                    <a:p>
                      <a:pPr algn="ctr"/>
                      <a:r>
                        <a:rPr sz="1300" b="1" i="0">
                          <a:solidFill>
                            <a:srgbClr val="198754"/>
                          </a:solidFill>
                          <a:latin typeface="Calibri"/>
                        </a:rPr>
                        <a:t>+ gains</a:t>
                      </a:r>
                    </a:p>
                  </a:txBody>
                  <a:tcPr>
                    <a:solidFill>
                      <a:srgbClr val="F1F3F5"/>
                    </a:solidFill>
                  </a:tcPr>
                </a:tc>
              </a:tr>
              <a:tr h="441960">
                <a:tc>
                  <a:txBody>
                    <a:bodyPr/>
                    <a:lstStyle/>
                    <a:p>
                      <a:pPr algn="l"/>
                      <a:r>
                        <a:rPr sz="1300" b="0" i="0">
                          <a:solidFill>
                            <a:srgbClr val="333333"/>
                          </a:solidFill>
                          <a:latin typeface="Calibri"/>
                        </a:rPr>
                        <a:t>Total an 1</a:t>
                      </a:r>
                    </a:p>
                  </a:txBody>
                  <a:tcPr>
                    <a:solidFill>
                      <a:srgbClr val="FFFFFF"/>
                    </a:solidFill>
                  </a:tcPr>
                </a:tc>
                <a:tc>
                  <a:txBody>
                    <a:bodyPr/>
                    <a:lstStyle/>
                    <a:p>
                      <a:pPr algn="ctr"/>
                      <a:r>
                        <a:rPr sz="1300" b="0" i="0">
                          <a:solidFill>
                            <a:srgbClr val="333333"/>
                          </a:solidFill>
                          <a:latin typeface="Calibri"/>
                        </a:rPr>
                        <a:t/>
                      </a:r>
                    </a:p>
                  </a:txBody>
                  <a:tcPr>
                    <a:solidFill>
                      <a:srgbClr val="FFFFFF"/>
                    </a:solidFill>
                  </a:tcPr>
                </a:tc>
                <a:tc>
                  <a:txBody>
                    <a:bodyPr/>
                    <a:lstStyle/>
                    <a:p>
                      <a:pPr algn="ctr"/>
                      <a:r>
                        <a:rPr sz="1300" b="1" i="0">
                          <a:solidFill>
                            <a:srgbClr val="198754"/>
                          </a:solidFill>
                          <a:latin typeface="Calibri"/>
                        </a:rPr>
                        <a:t>≈ 9 300 €</a:t>
                      </a:r>
                    </a:p>
                  </a:txBody>
                  <a:tcPr>
                    <a:solidFill>
                      <a:srgbClr val="FFFFFF"/>
                    </a:solidFill>
                  </a:tcPr>
                </a:tc>
              </a:tr>
            </a:tbl>
          </a:graphicData>
        </a:graphic>
      </p:graphicFrame>
      <p:sp>
        <p:nvSpPr>
          <p:cNvPr id="9" name="Rectangle 8"/>
          <p:cNvSpPr/>
          <p:nvPr/>
        </p:nvSpPr>
        <p:spPr>
          <a:xfrm>
            <a:off x="640080" y="53949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3949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Double retour pour OPEN MOISE : revenus récurrents (offre managée) + économies internes (moins d'astreinte, pénalités SLA évitées). Investissement ≈ 200 € amorti dès le 1er client.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(feuille de route OPEN MOISE) :</a:t>
            </a:r>
          </a:p>
          <a:p>
            <a:pPr lvl="1">
              <a:spcAft>
                <a:spcPts val="600"/>
              </a:spcAft>
            </a:pPr>
            <a:r>
              <a:rPr sz="1600" b="0" i="0">
                <a:solidFill>
                  <a:srgbClr val="333333"/>
                </a:solidFill>
                <a:latin typeface="Calibri"/>
              </a:rPr>
              <a:t>–  Intégration SNMP (performances détaillées des équipements clients)</a:t>
            </a:r>
          </a:p>
          <a:p>
            <a:pPr lvl="1">
              <a:spcAft>
                <a:spcPts val="600"/>
              </a:spcAft>
            </a:pPr>
            <a:r>
              <a:rPr sz="1600" b="0" i="0">
                <a:solidFill>
                  <a:srgbClr val="333333"/>
                </a:solidFill>
                <a:latin typeface="Calibri"/>
              </a:rPr>
              <a:t>–  Machine Learning : détection d'anomalies sur l'historique multi-clients</a:t>
            </a:r>
          </a:p>
          <a:p>
            <a:pPr lvl="1">
              <a:spcAft>
                <a:spcPts val="600"/>
              </a:spcAft>
            </a:pPr>
            <a:r>
              <a:rPr sz="1600" b="0" i="0">
                <a:solidFill>
                  <a:srgbClr val="333333"/>
                </a:solidFill>
                <a:latin typeface="Calibri"/>
              </a:rPr>
              <a:t>–  Maintenance prédictive vendable comme offre premium · Auto-remédiation (AIOps)</a:t>
            </a:r>
          </a:p>
          <a:p>
            <a:pPr lvl="1">
              <a:spcAft>
                <a:spcPts val="600"/>
              </a:spcAft>
            </a:pPr>
            <a:r>
              <a:rPr sz="1600" b="0" i="0">
                <a:solidFill>
                  <a:srgbClr val="333333"/>
                </a:solidFill>
                <a:latin typeface="Calibri"/>
              </a:rPr>
              <a:t>–  Portail multi-clients · Conteneurisation (Docker/K8s) · SMS, Slack, Teams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98754"/>
                </a:solidFill>
                <a:latin typeface="Calibri"/>
              </a:rPr>
              <a:t>•  Pour OPEN MOISE : un outil fonctionnel, testé, 100 % open-source</a:t>
            </a:r>
          </a:p>
          <a:p>
            <a:pPr>
              <a:spcAft>
                <a:spcPts val="1400"/>
              </a:spcAft>
            </a:pPr>
            <a:r>
              <a:rPr sz="2100" b="1" i="0">
                <a:solidFill>
                  <a:srgbClr val="198754"/>
                </a:solidFill>
                <a:latin typeface="Calibri"/>
              </a:rPr>
              <a:t>•  Détection temps réel (&lt; 2 min) → SLA clients mieux respectés</a:t>
            </a:r>
          </a:p>
          <a:p>
            <a:pPr>
              <a:spcAft>
                <a:spcPts val="1400"/>
              </a:spcAft>
            </a:pPr>
            <a:r>
              <a:rPr sz="2100" b="1" i="0">
                <a:solidFill>
                  <a:srgbClr val="198754"/>
                </a:solidFill>
                <a:latin typeface="Calibri"/>
              </a:rPr>
              <a:t>•  Double valeur : économies internes + nouvelle offre managée</a:t>
            </a:r>
          </a:p>
          <a:p>
            <a:pPr>
              <a:spcAft>
                <a:spcPts val="1400"/>
              </a:spcAft>
            </a:pPr>
            <a:r>
              <a:rPr sz="21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154313" y="1234440"/>
            <a:ext cx="7883069"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5 tables : utilisateurs, equipements, journaux, alertes, statistiques (clés primaires PK, clés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