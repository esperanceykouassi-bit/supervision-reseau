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en stage - les pannes détectées trop tard - et une conviction : on peut résoudre ce problème sans budget colossal grâce à l'open-source. C'est à la fois un défi d'ingénieur et une opportunité de marché.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 des réseaux toujours plus complexes et critiques. Pourtant, sur le terrain, beaucoup surveillent encore à la main. Résultat : on apprend la panne par les plaintes, sans aucune trace, et les outils du marché paraissent inaccessibles.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que je formule clairement : détecter en temps réel et réduire le temps d'intervention, avec une solution automatisée, fiable ET accessible financièrement.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à ce vide : une solution complète mais légère. Elle découvre, surveille, confirme, journalise, alerte et affiche - le tout assemblé à partir de briques open-source éprouvées.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 je montre le tableau de bord, j'éteins un équipement devant vous, et vous verrez l'alerte Telegram arriver sur mon téléphone en temps réel. Puis je le rallume pour montrer le rétablissement.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captures matérialisent chaque fonctionnalité clé. La plus parlante est la notification Telegram reçue sur le téléphone : la preuve concrète de la valeur ajoutée pour l'administrateur.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Côté business, je vise les structures sans gros budget IT et les infogérants. Mon modèle est l'open-core : le cœur est gratuit pour créer l'adoption, et je monétise les services et une édition Pro avec SNMP et 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ne prétends pas battre Zabbix sur les très grandes infrastructures. Ma stratégie est celle de l'océan bleu : occuper le segment que les géants négligent - les petites structures - avec un produit simple et gratuit.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Financièrement, l'entrée est quasi nulle : pas de licence, juste un petit serveur. Côté revenus, même avec des hypothèses prudentes, on dépasse 9 000 € la première année. Pour le client, le retour vient de la réduction des coûts d'indisponibilité : la solution est rentabilisée dès le premier incident majeur évité.</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ma feuille de route : SNMP, puis l'IA pour passer d'une supervision réactive à une supervision prédictive.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livre un produit réel et performant, doublé d'un modèle économique crédible, et ouvert vers l'avenir de la supervision : le prédictif. J'ai montré qu'on pouvait rendre la haute disponibilité accessible à tous.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pour une infrastructure toujours disponible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OPEN MOISE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640080" y="1463040"/>
            <a:ext cx="5486400" cy="4937760"/>
          </a:xfrm>
          <a:prstGeom prst="rect">
            <a:avLst/>
          </a:prstGeom>
          <a:noFill/>
        </p:spPr>
        <p:txBody>
          <a:bodyPr wrap="square">
            <a:spAutoFit/>
          </a:bodyPr>
          <a:lstStyle/>
          <a:p>
            <a:pPr>
              <a:spcAft>
                <a:spcPts val="1200"/>
              </a:spcAft>
            </a:pPr>
            <a:r>
              <a:rPr sz="2000" b="1" i="0">
                <a:solidFill>
                  <a:srgbClr val="0D3B66"/>
                </a:solidFill>
                <a:latin typeface="Calibri"/>
              </a:rPr>
              <a:t>•  Introduction — L'annonce du sujet</a:t>
            </a:r>
          </a:p>
          <a:p>
            <a:pPr>
              <a:spcAft>
                <a:spcPts val="1200"/>
              </a:spcAft>
            </a:pPr>
            <a:r>
              <a:rPr sz="2000" b="0" i="0">
                <a:solidFill>
                  <a:srgbClr val="333333"/>
                </a:solidFill>
                <a:latin typeface="Calibri"/>
              </a:rPr>
              <a:t>•  1.  Contexte et identification du problème</a:t>
            </a:r>
          </a:p>
          <a:p>
            <a:pPr>
              <a:spcAft>
                <a:spcPts val="1200"/>
              </a:spcAft>
            </a:pPr>
            <a:r>
              <a:rPr sz="2000" b="0" i="0">
                <a:solidFill>
                  <a:srgbClr val="333333"/>
                </a:solidFill>
                <a:latin typeface="Calibri"/>
              </a:rPr>
              <a:t>•  2.  Objectifs et résultats attendus</a:t>
            </a:r>
          </a:p>
          <a:p>
            <a:pPr>
              <a:spcAft>
                <a:spcPts val="1200"/>
              </a:spcAft>
            </a:pPr>
            <a:r>
              <a:rPr sz="2000" b="0" i="0">
                <a:solidFill>
                  <a:srgbClr val="333333"/>
                </a:solidFill>
                <a:latin typeface="Calibri"/>
              </a:rPr>
              <a:t>•  3.  Démarche méthodologique</a:t>
            </a:r>
          </a:p>
          <a:p>
            <a:pPr>
              <a:spcAft>
                <a:spcPts val="1200"/>
              </a:spcAft>
            </a:pPr>
            <a:r>
              <a:rPr sz="2000" b="0" i="0">
                <a:solidFill>
                  <a:srgbClr val="333333"/>
                </a:solidFill>
                <a:latin typeface="Calibri"/>
              </a:rPr>
              <a:t>•  4.  État des lieux &amp; solution proposée</a:t>
            </a:r>
          </a:p>
          <a:p>
            <a:pPr>
              <a:spcAft>
                <a:spcPts val="1200"/>
              </a:spcAft>
            </a:pPr>
            <a:r>
              <a:rPr sz="2000" b="0" i="0">
                <a:solidFill>
                  <a:srgbClr val="333333"/>
                </a:solidFill>
                <a:latin typeface="Calibri"/>
              </a:rPr>
              <a:t>•  5.  Axe de différenciation (innovation)</a:t>
            </a:r>
          </a:p>
          <a:p>
            <a:pPr>
              <a:spcAft>
                <a:spcPts val="1200"/>
              </a:spcAft>
            </a:pPr>
            <a:r>
              <a:rPr sz="2000" b="0" i="0">
                <a:solidFill>
                  <a:srgbClr val="333333"/>
                </a:solidFill>
                <a:latin typeface="Calibri"/>
              </a:rPr>
              <a:t>•  6.  Étude de faisabilité &amp; conception</a:t>
            </a:r>
          </a:p>
        </p:txBody>
      </p:sp>
      <p:sp>
        <p:nvSpPr>
          <p:cNvPr id="5" name="TextBox 4"/>
          <p:cNvSpPr txBox="1"/>
          <p:nvPr/>
        </p:nvSpPr>
        <p:spPr>
          <a:xfrm>
            <a:off x="6309360" y="1463040"/>
            <a:ext cx="5486400" cy="4937760"/>
          </a:xfrm>
          <a:prstGeom prst="rect">
            <a:avLst/>
          </a:prstGeom>
          <a:noFill/>
        </p:spPr>
        <p:txBody>
          <a:bodyPr wrap="square">
            <a:spAutoFit/>
          </a:bodyPr>
          <a:lstStyle/>
          <a:p>
            <a:pPr>
              <a:spcAft>
                <a:spcPts val="1200"/>
              </a:spcAft>
            </a:pPr>
            <a:r>
              <a:rPr sz="2000" b="0" i="0">
                <a:solidFill>
                  <a:srgbClr val="333333"/>
                </a:solidFill>
                <a:latin typeface="Calibri"/>
              </a:rPr>
              <a:t>•  7.  Fonctionnement technique</a:t>
            </a:r>
          </a:p>
          <a:p>
            <a:pPr>
              <a:spcAft>
                <a:spcPts val="1200"/>
              </a:spcAft>
            </a:pPr>
            <a:r>
              <a:rPr sz="2000" b="1" i="0">
                <a:solidFill>
                  <a:srgbClr val="D62828"/>
                </a:solidFill>
                <a:latin typeface="Calibri"/>
              </a:rPr>
              <a:t>•  8.  Démonstration</a:t>
            </a:r>
          </a:p>
          <a:p>
            <a:pPr>
              <a:spcAft>
                <a:spcPts val="1200"/>
              </a:spcAft>
            </a:pPr>
            <a:r>
              <a:rPr sz="2000" b="0" i="0">
                <a:solidFill>
                  <a:srgbClr val="333333"/>
                </a:solidFill>
                <a:latin typeface="Calibri"/>
              </a:rPr>
              <a:t>•  9.  Marketing, vente &amp; concurrence</a:t>
            </a:r>
          </a:p>
          <a:p>
            <a:pPr>
              <a:spcAft>
                <a:spcPts val="1200"/>
              </a:spcAft>
            </a:pPr>
            <a:r>
              <a:rPr sz="2000" b="0" i="0">
                <a:solidFill>
                  <a:srgbClr val="333333"/>
                </a:solidFill>
                <a:latin typeface="Calibri"/>
              </a:rPr>
              <a:t>•  10. Prévisions financières</a:t>
            </a:r>
          </a:p>
          <a:p>
            <a:pPr>
              <a:spcAft>
                <a:spcPts val="1200"/>
              </a:spcAft>
            </a:pPr>
            <a:r>
              <a:rPr sz="2000" b="0" i="0">
                <a:solidFill>
                  <a:srgbClr val="333333"/>
                </a:solidFill>
                <a:latin typeface="Calibri"/>
              </a:rPr>
              <a:t>•  11. Limites &amp; perspectives</a:t>
            </a:r>
          </a:p>
          <a:p>
            <a:pPr>
              <a:spcAft>
                <a:spcPts val="1200"/>
              </a:spcAft>
            </a:pPr>
            <a:r>
              <a:rPr sz="2000" b="0" i="0">
                <a:solidFill>
                  <a:srgbClr val="333333"/>
                </a:solidFill>
                <a:latin typeface="Calibri"/>
              </a:rPr>
              <a:t/>
            </a:r>
          </a:p>
          <a:p>
            <a:pPr>
              <a:spcAft>
                <a:spcPts val="1200"/>
              </a:spcAft>
            </a:pPr>
            <a:r>
              <a:rPr sz="20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2000" b="0" i="0">
                <a:solidFill>
                  <a:srgbClr val="333333"/>
                </a:solidFill>
                <a:latin typeface="Calibri"/>
              </a:rPr>
              <a:t>•  Le sujet : concevoir, réaliser et valoriser un système qui surveille un réseau en continu, détecte automatiquement les pannes et alerte instantanément les administrateurs — 100 % open-source.</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Pourquoi ce thème ?</a:t>
            </a:r>
          </a:p>
          <a:p>
            <a:pPr lvl="1">
              <a:spcAft>
                <a:spcPts val="800"/>
              </a:spcAft>
            </a:pPr>
            <a:r>
              <a:rPr sz="1800" b="0" i="0">
                <a:solidFill>
                  <a:srgbClr val="333333"/>
                </a:solidFill>
                <a:latin typeface="Calibri"/>
              </a:rPr>
              <a:t>–  Le réseau est devenu le « système nerveux » de toute organisation</a:t>
            </a:r>
          </a:p>
          <a:p>
            <a:pPr lvl="1">
              <a:spcAft>
                <a:spcPts val="800"/>
              </a:spcAft>
            </a:pPr>
            <a:r>
              <a:rPr sz="1800" b="0" i="0">
                <a:solidFill>
                  <a:srgbClr val="333333"/>
                </a:solidFill>
                <a:latin typeface="Calibri"/>
              </a:rPr>
              <a:t>–  Une minute d'indisponibilité peut coûter très cher</a:t>
            </a:r>
          </a:p>
          <a:p>
            <a:pPr lvl="1">
              <a:spcAft>
                <a:spcPts val="800"/>
              </a:spcAft>
            </a:pPr>
            <a:r>
              <a:rPr sz="1800" b="0" i="0">
                <a:solidFill>
                  <a:srgbClr val="333333"/>
                </a:solidFill>
                <a:latin typeface="Calibri"/>
              </a:rPr>
              <a:t>–  Vécu de terrain : pannes découvertes trop tard, par les utilisateurs</a:t>
            </a:r>
          </a:p>
          <a:p>
            <a:pPr lvl="1">
              <a:spcAft>
                <a:spcPts val="800"/>
              </a:spcAft>
            </a:pPr>
            <a:r>
              <a:rPr sz="1800" b="0" i="0">
                <a:solidFill>
                  <a:srgbClr val="333333"/>
                </a:solidFill>
                <a:latin typeface="Calibri"/>
              </a:rPr>
              <a:t>–  Conviction : l'open-source rend la supervision accessible à tous</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Allier une expertise réseau à une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Structure d'accueil — OPEN MOISE</a:t>
            </a:r>
          </a:p>
        </p:txBody>
      </p:sp>
      <p:sp>
        <p:nvSpPr>
          <p:cNvPr id="4" name="TextBox 3"/>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OPEN MOISE — Entreprise de Services du Numérique (ESN)</a:t>
            </a:r>
          </a:p>
          <a:p>
            <a:pPr>
              <a:spcAft>
                <a:spcPts val="800"/>
              </a:spcAft>
            </a:pPr>
            <a:r>
              <a:rPr sz="2000" b="0" i="0">
                <a:solidFill>
                  <a:srgbClr val="333333"/>
                </a:solidFill>
                <a:latin typeface="Calibri"/>
              </a:rPr>
              <a:t/>
            </a:r>
          </a:p>
          <a:p>
            <a:pPr lvl="1">
              <a:spcAft>
                <a:spcPts val="800"/>
              </a:spcAft>
            </a:pPr>
            <a:r>
              <a:rPr sz="1800" b="0" i="0">
                <a:solidFill>
                  <a:srgbClr val="333333"/>
                </a:solidFill>
                <a:latin typeface="Calibri"/>
              </a:rPr>
              <a:t>–  Activités : infogérance, intégration réseau &amp; systèmes, développement, cybersécurité</a:t>
            </a:r>
          </a:p>
          <a:p>
            <a:pPr lvl="1">
              <a:spcAft>
                <a:spcPts val="800"/>
              </a:spcAft>
            </a:pPr>
            <a:r>
              <a:rPr sz="1800" b="0" i="0">
                <a:solidFill>
                  <a:srgbClr val="333333"/>
                </a:solidFill>
                <a:latin typeface="Calibri"/>
              </a:rPr>
              <a:t>–  Mission : garantir un SI performant, disponible et sécurisé à ses clients</a:t>
            </a:r>
          </a:p>
          <a:p>
            <a:pPr lvl="1">
              <a:spcAft>
                <a:spcPts val="800"/>
              </a:spcAft>
            </a:pPr>
            <a:r>
              <a:rPr sz="1800" b="0" i="0">
                <a:solidFill>
                  <a:srgbClr val="333333"/>
                </a:solidFill>
                <a:latin typeface="Calibri"/>
              </a:rPr>
              <a:t>–  [Effectif] collaborateurs · implantée à [ville] · depuis [année]</a:t>
            </a:r>
          </a:p>
          <a:p>
            <a:pPr lvl="1">
              <a:spcAft>
                <a:spcPts val="800"/>
              </a:spcAft>
            </a:pPr>
            <a:r>
              <a:rPr sz="1800" b="0" i="0">
                <a:solidFill>
                  <a:srgbClr val="333333"/>
                </a:solidFill>
                <a:latin typeface="Calibri"/>
              </a:rPr>
              <a:t>–  Projet mené au sein du [Pôle Infrastructures &amp; Supervision]</a:t>
            </a:r>
          </a:p>
        </p:txBody>
      </p:sp>
      <p:sp>
        <p:nvSpPr>
          <p:cNvPr id="5" name="Rectangle 4"/>
          <p:cNvSpPr/>
          <p:nvPr/>
        </p:nvSpPr>
        <p:spPr>
          <a:xfrm>
            <a:off x="640080" y="5029200"/>
            <a:ext cx="109728" cy="11887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029200"/>
            <a:ext cx="10771632" cy="118872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2000" b="0" i="0">
                <a:solidFill>
                  <a:srgbClr val="333333"/>
                </a:solidFill>
                <a:latin typeface="Calibri"/>
              </a:rPr>
              <a:t>•  Contexte : densification des réseaux (cloud, virtualisation, IoT) face à des exigences de disponibilité de plus en plus fortes (« 99,9 % »).</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Constat de terrain (PME / administrations) :</a:t>
            </a:r>
          </a:p>
          <a:p>
            <a:pPr lvl="1">
              <a:spcAft>
                <a:spcPts val="800"/>
              </a:spcAft>
            </a:pPr>
            <a:r>
              <a:rPr sz="1800" b="0" i="0">
                <a:solidFill>
                  <a:srgbClr val="333333"/>
                </a:solidFill>
                <a:latin typeface="Calibri"/>
              </a:rPr>
              <a:t>–  Supervision manuelle et épisodique (ping à la main)</a:t>
            </a:r>
          </a:p>
          <a:p>
            <a:pPr lvl="1">
              <a:spcAft>
                <a:spcPts val="800"/>
              </a:spcAft>
            </a:pPr>
            <a:r>
              <a:rPr sz="1800" b="0" i="0">
                <a:solidFill>
                  <a:srgbClr val="333333"/>
                </a:solidFill>
                <a:latin typeface="Calibri"/>
              </a:rPr>
              <a:t>–  Pannes signalées par les utilisateurs → réaction tardive</a:t>
            </a:r>
          </a:p>
          <a:p>
            <a:pPr lvl="1">
              <a:spcAft>
                <a:spcPts val="800"/>
              </a:spcAft>
            </a:pPr>
            <a:r>
              <a:rPr sz="1800" b="0" i="0">
                <a:solidFill>
                  <a:srgbClr val="333333"/>
                </a:solidFill>
                <a:latin typeface="Calibri"/>
              </a:rPr>
              <a:t>–  Aucune traçabilité des incidents, pas d'historique exploitable</a:t>
            </a:r>
          </a:p>
          <a:p>
            <a:pPr lvl="1">
              <a:spcAft>
                <a:spcPts val="800"/>
              </a:spcAft>
            </a:pPr>
            <a:r>
              <a:rPr sz="1800" b="0" i="0">
                <a:solidFill>
                  <a:srgbClr val="333333"/>
                </a:solidFill>
                <a:latin typeface="Calibri"/>
              </a:rPr>
              <a:t>–  Solutions professionnelles jugées trop chères ou trop complexes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200" b="1" i="1">
                <a:solidFill>
                  <a:srgbClr val="0D3B66"/>
                </a:solidFill>
                <a:latin typeface="Calibri"/>
              </a:rPr>
              <a:t>« Comment détecter en temps réel les pannes d'un réseau et réduire le temps d'intervention des administrateurs,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(sans fausses alertes) ?</a:t>
            </a:r>
          </a:p>
          <a:p>
            <a:pPr>
              <a:spcAft>
                <a:spcPts val="800"/>
              </a:spcAft>
            </a:pPr>
            <a:r>
              <a:rPr sz="1800" b="0" i="0">
                <a:solidFill>
                  <a:srgbClr val="FFFFFF"/>
                </a:solidFill>
                <a:latin typeface="Calibri"/>
              </a:rPr>
              <a:t>•  Comment notifier l'administrateur où qu'il soit, instantanément ?</a:t>
            </a:r>
          </a:p>
          <a:p>
            <a:pPr>
              <a:spcAft>
                <a:spcPts val="800"/>
              </a:spcAft>
            </a:pPr>
            <a:r>
              <a:rPr sz="1800" b="0" i="0">
                <a:solidFill>
                  <a:srgbClr val="FFFFFF"/>
                </a:solidFill>
                <a:latin typeface="Calibri"/>
              </a:rPr>
              <a:t>•  Comment offrir cette valeur à un coût quasi nul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livrer un produit fonctionnel, mesurablement plus performant que la supervision manuelle,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pour les petites structures.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Un système automatisé, modulaire et 100 % open-source qui :</a:t>
            </a:r>
          </a:p>
          <a:p>
            <a:pPr lvl="1">
              <a:spcAft>
                <a:spcPts val="800"/>
              </a:spcAft>
            </a:pPr>
            <a:r>
              <a:rPr sz="1800" b="0" i="0">
                <a:solidFill>
                  <a:srgbClr val="333333"/>
                </a:solidFill>
                <a:latin typeface="Calibri"/>
              </a:rPr>
              <a:t>–  découvre automatiquement les équipements du réseau</a:t>
            </a:r>
          </a:p>
          <a:p>
            <a:pPr lvl="1">
              <a:spcAft>
                <a:spcPts val="800"/>
              </a:spcAft>
            </a:pPr>
            <a:r>
              <a:rPr sz="1800" b="0" i="0">
                <a:solidFill>
                  <a:srgbClr val="333333"/>
                </a:solidFill>
                <a:latin typeface="Calibri"/>
              </a:rPr>
              <a:t>–  sonde en continu la disponibilité (ICMP) et les services (TCP)</a:t>
            </a:r>
          </a:p>
          <a:p>
            <a:pPr lvl="1">
              <a:spcAft>
                <a:spcPts val="800"/>
              </a:spcAft>
            </a:pPr>
            <a:r>
              <a:rPr sz="1800" b="0" i="0">
                <a:solidFill>
                  <a:srgbClr val="333333"/>
                </a:solidFill>
                <a:latin typeface="Calibri"/>
              </a:rPr>
              <a:t>–  confirme la panne (anti-faux positif) et journalise tout</a:t>
            </a:r>
          </a:p>
          <a:p>
            <a:pPr lvl="1">
              <a:spcAft>
                <a:spcPts val="800"/>
              </a:spcAft>
            </a:pPr>
            <a:r>
              <a:rPr sz="1800" b="0" i="0">
                <a:solidFill>
                  <a:srgbClr val="333333"/>
                </a:solidFill>
                <a:latin typeface="Calibri"/>
              </a:rPr>
              <a:t>–  alerte en temps réel par e-mail ET Telegram (push mobile)</a:t>
            </a:r>
          </a:p>
          <a:p>
            <a:pPr lvl="1">
              <a:spcAft>
                <a:spcPts val="800"/>
              </a:spcAft>
            </a:pPr>
            <a:r>
              <a:rPr sz="1800" b="0" i="0">
                <a:solidFill>
                  <a:srgbClr val="333333"/>
                </a:solidFill>
                <a:latin typeface="Calibri"/>
              </a:rPr>
              <a:t>–  offre un tableau de bord web temps réel + rapports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Axe de différenciation (innovation)</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Différenciateur</a:t>
                      </a:r>
                    </a:p>
                  </a:txBody>
                  <a:tcPr>
                    <a:solidFill>
                      <a:srgbClr val="0D3B66"/>
                    </a:solidFill>
                  </a:tcPr>
                </a:tc>
                <a:tc>
                  <a:txBody>
                    <a:bodyPr/>
                    <a:lstStyle/>
                    <a:p>
                      <a:pPr algn="ctr"/>
                      <a:r>
                        <a:rPr sz="1600" b="1" i="0">
                          <a:solidFill>
                            <a:srgbClr val="FFFFFF"/>
                          </a:solidFill>
                          <a:latin typeface="Calibri"/>
                        </a:rPr>
                        <a:t>Bénéfice client</a:t>
                      </a:r>
                    </a:p>
                  </a:txBody>
                  <a:tcPr>
                    <a:solidFill>
                      <a:srgbClr val="0D3B66"/>
                    </a:solidFill>
                  </a:tcPr>
                </a:tc>
              </a:tr>
              <a:tr h="518160">
                <a:tc>
                  <a:txBody>
                    <a:bodyPr/>
                    <a:lstStyle/>
                    <a:p>
                      <a:pPr algn="l"/>
                      <a:r>
                        <a:rPr sz="1600" b="0" i="0">
                          <a:solidFill>
                            <a:srgbClr val="333333"/>
                          </a:solidFill>
                          <a:latin typeface="Calibri"/>
                        </a:rPr>
                        <a:t>Alerte Telegram native</a:t>
                      </a:r>
                    </a:p>
                  </a:txBody>
                  <a:tcPr>
                    <a:solidFill>
                      <a:srgbClr val="FFFFFF"/>
                    </a:solidFill>
                  </a:tcPr>
                </a:tc>
                <a:tc>
                  <a:txBody>
                    <a:bodyPr/>
                    <a:lstStyle/>
                    <a:p>
                      <a:pPr algn="ctr"/>
                      <a:r>
                        <a:rPr sz="1600" b="0" i="0">
                          <a:solidFill>
                            <a:srgbClr val="333333"/>
                          </a:solidFill>
                          <a:latin typeface="Calibri"/>
                        </a:rPr>
                        <a:t>Notification push gratuite, admin alerté partout</a:t>
                      </a:r>
                    </a:p>
                  </a:txBody>
                  <a:tcPr>
                    <a:solidFill>
                      <a:srgbClr val="FFFFFF"/>
                    </a:solidFill>
                  </a:tcPr>
                </a:tc>
              </a:tr>
              <a:tr h="518160">
                <a:tc>
                  <a:txBody>
                    <a:bodyPr/>
                    <a:lstStyle/>
                    <a:p>
                      <a:pPr algn="l"/>
                      <a:r>
                        <a:rPr sz="1600" b="0" i="0">
                          <a:solidFill>
                            <a:srgbClr val="333333"/>
                          </a:solidFill>
                          <a:latin typeface="Calibri"/>
                        </a:rPr>
                        <a:t>Ultra-légère</a:t>
                      </a:r>
                    </a:p>
                  </a:txBody>
                  <a:tcPr>
                    <a:solidFill>
                      <a:srgbClr val="F1F3F5"/>
                    </a:solidFill>
                  </a:tcPr>
                </a:tc>
                <a:tc>
                  <a:txBody>
                    <a:bodyPr/>
                    <a:lstStyle/>
                    <a:p>
                      <a:pPr algn="ctr"/>
                      <a:r>
                        <a:rPr sz="1600" b="0" i="0">
                          <a:solidFill>
                            <a:srgbClr val="333333"/>
                          </a:solidFill>
                          <a:latin typeface="Calibri"/>
                        </a:rPr>
                        <a:t>Tourne sur un mini-serveur / VM 1 vCPU</a:t>
                      </a:r>
                    </a:p>
                  </a:txBody>
                  <a:tcPr>
                    <a:solidFill>
                      <a:srgbClr val="F1F3F5"/>
                    </a:solidFill>
                  </a:tcPr>
                </a:tc>
              </a:tr>
              <a:tr h="518160">
                <a:tc>
                  <a:txBody>
                    <a:bodyPr/>
                    <a:lstStyle/>
                    <a:p>
                      <a:pPr algn="l"/>
                      <a:r>
                        <a:rPr sz="1600" b="0" i="0">
                          <a:solidFill>
                            <a:srgbClr val="333333"/>
                          </a:solidFill>
                          <a:latin typeface="Calibri"/>
                        </a:rPr>
                        <a:t>Code 100 % ouvert &amp; maîtrisé</a:t>
                      </a:r>
                    </a:p>
                  </a:txBody>
                  <a:tcPr>
                    <a:solidFill>
                      <a:srgbClr val="FFFFFF"/>
                    </a:solidFill>
                  </a:tcPr>
                </a:tc>
                <a:tc>
                  <a:txBody>
                    <a:bodyPr/>
                    <a:lstStyle/>
                    <a:p>
                      <a:pPr algn="ctr"/>
                      <a:r>
                        <a:rPr sz="1600" b="0" i="0">
                          <a:solidFill>
                            <a:srgbClr val="333333"/>
                          </a:solidFill>
                          <a:latin typeface="Calibri"/>
                        </a:rPr>
                        <a:t>Personnalisation totale, zéro vendor lock-in</a:t>
                      </a:r>
                    </a:p>
                  </a:txBody>
                  <a:tcPr>
                    <a:solidFill>
                      <a:srgbClr val="FFFFFF"/>
                    </a:solidFill>
                  </a:tcPr>
                </a:tc>
              </a:tr>
              <a:tr h="518160">
                <a:tc>
                  <a:txBody>
                    <a:bodyPr/>
                    <a:lstStyle/>
                    <a:p>
                      <a:pPr algn="l"/>
                      <a:r>
                        <a:rPr sz="1600" b="0" i="0">
                          <a:solidFill>
                            <a:srgbClr val="333333"/>
                          </a:solidFill>
                          <a:latin typeface="Calibri"/>
                        </a:rPr>
                        <a:t>« Plug &amp; supervise »</a:t>
                      </a:r>
                    </a:p>
                  </a:txBody>
                  <a:tcPr>
                    <a:solidFill>
                      <a:srgbClr val="F1F3F5"/>
                    </a:solidFill>
                  </a:tcPr>
                </a:tc>
                <a:tc>
                  <a:txBody>
                    <a:bodyPr/>
                    <a:lstStyle/>
                    <a:p>
                      <a:pPr algn="ctr"/>
                      <a:r>
                        <a:rPr sz="1600" b="0" i="0">
                          <a:solidFill>
                            <a:srgbClr val="333333"/>
                          </a:solidFill>
                          <a:latin typeface="Calibri"/>
                        </a:rPr>
                        <a:t>Découverte auto. + déploiement en &lt; 30 min</a:t>
                      </a:r>
                    </a:p>
                  </a:txBody>
                  <a:tcPr>
                    <a:solidFill>
                      <a:srgbClr val="F1F3F5"/>
                    </a:solidFill>
                  </a:tcPr>
                </a:tc>
              </a:tr>
              <a:tr h="518160">
                <a:tc>
                  <a:txBody>
                    <a:bodyPr/>
                    <a:lstStyle/>
                    <a:p>
                      <a:pPr algn="l"/>
                      <a:r>
                        <a:rPr sz="1600" b="0" i="0">
                          <a:solidFill>
                            <a:srgbClr val="333333"/>
                          </a:solidFill>
                          <a:latin typeface="Calibri"/>
                        </a:rPr>
                        <a:t>Prête pour l'IA</a:t>
                      </a:r>
                    </a:p>
                  </a:txBody>
                  <a:tcPr>
                    <a:solidFill>
                      <a:srgbClr val="FFFFFF"/>
                    </a:solidFill>
                  </a:tcPr>
                </a:tc>
                <a:tc>
                  <a:txBody>
                    <a:bodyPr/>
                    <a:lstStyle/>
                    <a:p>
                      <a:pPr algn="ctr"/>
                      <a:r>
                        <a:rPr sz="1600" b="0" i="0">
                          <a:solidFill>
                            <a:srgbClr val="333333"/>
                          </a:solidFill>
                          <a:latin typeface="Calibri"/>
                        </a:rPr>
                        <a:t>Historique structuré → maintenance prédictive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L'innovation n'est pas une brique isolée, mais l'ASSEMBLAGE : simplicité + gratuité + notification mobile + extensibilité 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&amp; conception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maîtrisées, prototype réalisé et testé.</a:t>
            </a:r>
          </a:p>
          <a:p>
            <a:pPr>
              <a:spcAft>
                <a:spcPts val="800"/>
              </a:spcAft>
            </a:pPr>
            <a:r>
              <a:rPr sz="1900" b="0" i="0">
                <a:solidFill>
                  <a:srgbClr val="198754"/>
                </a:solidFill>
                <a:latin typeface="Calibri"/>
              </a:rPr>
              <a:t>•  Faisabilité économique ✓ — coût de licence nul, matériel minimal.</a:t>
            </a:r>
          </a:p>
          <a:p>
            <a:pPr>
              <a:spcAft>
                <a:spcPts val="800"/>
              </a:spcAft>
            </a:pPr>
            <a:r>
              <a:rPr sz="1900" b="0" i="0">
                <a:solidFill>
                  <a:srgbClr val="198754"/>
                </a:solidFill>
                <a:latin typeface="Calibri"/>
              </a:rPr>
              <a:t>•  Faisabilité organisationnelle ✓ — déploiement et prise en main rapides.</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(5 tables)</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de la solution</a:t>
            </a:r>
          </a:p>
        </p:txBody>
      </p:sp>
      <p:sp>
        <p:nvSpPr>
          <p:cNvPr id="5" name="Rectangle 4"/>
          <p:cNvSpPr/>
          <p:nvPr/>
        </p:nvSpPr>
        <p:spPr>
          <a:xfrm>
            <a:off x="1097280" y="1417320"/>
            <a:ext cx="9966960" cy="749808"/>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PRÉSENTATION   </a:t>
            </a:r>
            <a:r>
              <a:rPr sz="1500" b="0" i="0">
                <a:solidFill>
                  <a:srgbClr val="E8EEF4"/>
                </a:solidFill>
                <a:latin typeface="Calibri"/>
              </a:rPr>
              <a:t>— Tableau de bord Flask + Bootstrap + Chart.js</a:t>
            </a:r>
          </a:p>
        </p:txBody>
      </p:sp>
      <p:sp>
        <p:nvSpPr>
          <p:cNvPr id="6" name="Rectangle 5"/>
          <p:cNvSpPr/>
          <p:nvPr/>
        </p:nvSpPr>
        <p:spPr>
          <a:xfrm>
            <a:off x="1097280" y="2286000"/>
            <a:ext cx="9966960" cy="749808"/>
          </a:xfrm>
          <a:prstGeom prst="rect">
            <a:avLst/>
          </a:prstGeom>
          <a:solidFill>
            <a:srgbClr val="398AC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NOTIFICATION   </a:t>
            </a:r>
            <a:r>
              <a:rPr sz="1500" b="0" i="0">
                <a:solidFill>
                  <a:srgbClr val="E8EEF4"/>
                </a:solidFill>
                <a:latin typeface="Calibri"/>
              </a:rPr>
              <a:t>— E-mail (SMTP)  +  Telegram (push mobile)</a:t>
            </a:r>
          </a:p>
        </p:txBody>
      </p:sp>
      <p:sp>
        <p:nvSpPr>
          <p:cNvPr id="7" name="Rectangle 6"/>
          <p:cNvSpPr/>
          <p:nvPr/>
        </p:nvSpPr>
        <p:spPr>
          <a:xfrm>
            <a:off x="1097280" y="3154680"/>
            <a:ext cx="9966960" cy="74980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TRAITEMENT   </a:t>
            </a:r>
            <a:r>
              <a:rPr sz="1500" b="0" i="0">
                <a:solidFill>
                  <a:srgbClr val="E8EEF4"/>
                </a:solidFill>
                <a:latin typeface="Calibri"/>
              </a:rPr>
              <a:t>— Moteur Python + Cron (sondes ICMP / TCP)</a:t>
            </a:r>
          </a:p>
        </p:txBody>
      </p:sp>
      <p:sp>
        <p:nvSpPr>
          <p:cNvPr id="8" name="Rectangle 7"/>
          <p:cNvSpPr/>
          <p:nvPr/>
        </p:nvSpPr>
        <p:spPr>
          <a:xfrm>
            <a:off x="1097280" y="4023360"/>
            <a:ext cx="9966960" cy="749808"/>
          </a:xfrm>
          <a:prstGeom prst="rect">
            <a:avLst/>
          </a:prstGeom>
          <a:solidFill>
            <a:srgbClr val="1B4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DONNÉES   </a:t>
            </a:r>
            <a:r>
              <a:rPr sz="1500" b="0" i="0">
                <a:solidFill>
                  <a:srgbClr val="E8EEF4"/>
                </a:solidFill>
                <a:latin typeface="Calibri"/>
              </a:rPr>
              <a:t>— Base MySQL (historique, alertes, configuration)</a:t>
            </a:r>
          </a:p>
        </p:txBody>
      </p:sp>
      <p:sp>
        <p:nvSpPr>
          <p:cNvPr id="9" name="Rectangle 8"/>
          <p:cNvSpPr/>
          <p:nvPr/>
        </p:nvSpPr>
        <p:spPr>
          <a:xfrm>
            <a:off x="1097280" y="4892040"/>
            <a:ext cx="9966960" cy="749808"/>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SYSTÈME   </a:t>
            </a:r>
            <a:r>
              <a:rPr sz="1500" b="0" i="0">
                <a:solidFill>
                  <a:srgbClr val="E8EEF4"/>
                </a:solidFill>
                <a:latin typeface="Calibri"/>
              </a:rPr>
              <a:t>— Serveur Linux Ubuntu</a:t>
            </a:r>
          </a:p>
        </p:txBody>
      </p:sp>
      <p:sp>
        <p:nvSpPr>
          <p:cNvPr id="10" name="Rectangle 9"/>
          <p:cNvSpPr/>
          <p:nvPr/>
        </p:nvSpPr>
        <p:spPr>
          <a:xfrm>
            <a:off x="640080" y="5806440"/>
            <a:ext cx="109728" cy="8686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5806440"/>
            <a:ext cx="10771632" cy="8686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Choix clé : découplage moteur de collecte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technique — le cycle automatisé</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 vue temps réel : équipements UP, KPI, graphiques</a:t>
            </a:r>
          </a:p>
          <a:p>
            <a:pPr>
              <a:spcAft>
                <a:spcPts val="1200"/>
              </a:spcAft>
            </a:pPr>
            <a:r>
              <a:rPr sz="2000" b="0" i="0">
                <a:solidFill>
                  <a:srgbClr val="FFFFFF"/>
                </a:solidFill>
                <a:latin typeface="Calibri"/>
              </a:rPr>
              <a:t>2.  Je débranche / éteins un équipement supervisé</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L'alerte arrive : e-mail + notification Telegram sur le téléphone</a:t>
            </a:r>
          </a:p>
          <a:p>
            <a:pPr>
              <a:spcAft>
                <a:spcPts val="1200"/>
              </a:spcAft>
            </a:pPr>
            <a:r>
              <a:rPr sz="2000" b="0" i="0">
                <a:solidFill>
                  <a:srgbClr val="FFFFFF"/>
                </a:solidFill>
                <a:latin typeface="Calibri"/>
              </a:rPr>
              <a:t>5.  Je rallume → notification de rétablissement + acquittement auto</a:t>
            </a:r>
          </a:p>
          <a:p>
            <a:pPr>
              <a:spcAft>
                <a:spcPts val="1200"/>
              </a:spcAft>
            </a:pPr>
            <a:r>
              <a:rPr sz="2000" b="0" i="0">
                <a:solidFill>
                  <a:srgbClr val="FFFFFF"/>
                </a:solidFill>
                <a:latin typeface="Calibri"/>
              </a:rPr>
              <a:t>6.  Page Rapports : historique, taux de disponibilité, latences</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captures clés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a:t>
                      </a:r>
                    </a:p>
                  </a:txBody>
                  <a:tcPr>
                    <a:solidFill>
                      <a:srgbClr val="0D3B66"/>
                    </a:solidFill>
                  </a:tcPr>
                </a:tc>
              </a:tr>
              <a:tr h="496388">
                <a:tc>
                  <a:txBody>
                    <a:bodyPr/>
                    <a:lstStyle/>
                    <a:p>
                      <a:pPr algn="l"/>
                      <a:r>
                        <a:rPr sz="1600" b="0" i="0">
                          <a:solidFill>
                            <a:srgbClr val="333333"/>
                          </a:solidFill>
                          <a:latin typeface="Calibri"/>
                        </a:rPr>
                        <a:t>Connexion</a:t>
                      </a:r>
                    </a:p>
                  </a:txBody>
                  <a:tcPr>
                    <a:solidFill>
                      <a:srgbClr val="FFFFFF"/>
                    </a:solidFill>
                  </a:tcPr>
                </a:tc>
                <a:tc>
                  <a:txBody>
                    <a:bodyPr/>
                    <a:lstStyle/>
                    <a:p>
                      <a:pPr algn="ctr"/>
                      <a:r>
                        <a:rPr sz="1600" b="0" i="0">
                          <a:solidFill>
                            <a:srgbClr val="333333"/>
                          </a:solidFill>
                          <a:latin typeface="Calibri"/>
                        </a:rPr>
                        <a:t>Accès sécurisé</a:t>
                      </a:r>
                    </a:p>
                  </a:txBody>
                  <a:tcPr>
                    <a:solidFill>
                      <a:srgbClr val="FFFFFF"/>
                    </a:solidFill>
                  </a:tcPr>
                </a:tc>
              </a:tr>
              <a:tr h="496388">
                <a:tc>
                  <a:txBody>
                    <a:bodyPr/>
                    <a:lstStyle/>
                    <a:p>
                      <a:pPr algn="l"/>
                      <a:r>
                        <a:rPr sz="1600" b="0" i="0">
                          <a:solidFill>
                            <a:srgbClr val="333333"/>
                          </a:solidFill>
                          <a:latin typeface="Calibri"/>
                        </a:rPr>
                        <a:t>Tableau de bord</a:t>
                      </a:r>
                    </a:p>
                  </a:txBody>
                  <a:tcPr>
                    <a:solidFill>
                      <a:srgbClr val="F1F3F5"/>
                    </a:solidFill>
                  </a:tcPr>
                </a:tc>
                <a:tc>
                  <a:txBody>
                    <a:bodyPr/>
                    <a:lstStyle/>
                    <a:p>
                      <a:pPr algn="ctr"/>
                      <a:r>
                        <a:rPr sz="1600" b="0" i="0">
                          <a:solidFill>
                            <a:srgbClr val="333333"/>
                          </a:solidFill>
                          <a:latin typeface="Calibri"/>
                        </a:rPr>
                        <a:t>Supervision temps réel, KPI, anneau de disponibilité</a:t>
                      </a:r>
                    </a:p>
                  </a:txBody>
                  <a:tcPr>
                    <a:solidFill>
                      <a:srgbClr val="F1F3F5"/>
                    </a:solidFill>
                  </a:tcPr>
                </a:tc>
              </a:tr>
              <a:tr h="496388">
                <a:tc>
                  <a:txBody>
                    <a:bodyPr/>
                    <a:lstStyle/>
                    <a:p>
                      <a:pPr algn="l"/>
                      <a:r>
                        <a:rPr sz="1600" b="0" i="0">
                          <a:solidFill>
                            <a:srgbClr val="333333"/>
                          </a:solidFill>
                          <a:latin typeface="Calibri"/>
                        </a:rPr>
                        <a:t>Équipements</a:t>
                      </a:r>
                    </a:p>
                  </a:txBody>
                  <a:tcPr>
                    <a:solidFill>
                      <a:srgbClr val="FFFFFF"/>
                    </a:solidFill>
                  </a:tcPr>
                </a:tc>
                <a:tc>
                  <a:txBody>
                    <a:bodyPr/>
                    <a:lstStyle/>
                    <a:p>
                      <a:pPr algn="ctr"/>
                      <a:r>
                        <a:rPr sz="1600" b="0" i="0">
                          <a:solidFill>
                            <a:srgbClr val="333333"/>
                          </a:solidFill>
                          <a:latin typeface="Calibri"/>
                        </a:rPr>
                        <a:t>Inventaire + découverte automatique</a:t>
                      </a:r>
                    </a:p>
                  </a:txBody>
                  <a:tcPr>
                    <a:solidFill>
                      <a:srgbClr val="FFFFFF"/>
                    </a:solidFill>
                  </a:tcPr>
                </a:tc>
              </a:tr>
              <a:tr h="496388">
                <a:tc>
                  <a:txBody>
                    <a:bodyPr/>
                    <a:lstStyle/>
                    <a:p>
                      <a:pPr algn="l"/>
                      <a:r>
                        <a:rPr sz="1600" b="0" i="0">
                          <a:solidFill>
                            <a:srgbClr val="333333"/>
                          </a:solidFill>
                          <a:latin typeface="Calibri"/>
                        </a:rPr>
                        <a:t>Alertes</a:t>
                      </a:r>
                    </a:p>
                  </a:txBody>
                  <a:tcPr>
                    <a:solidFill>
                      <a:srgbClr val="F1F3F5"/>
                    </a:solidFill>
                  </a:tcPr>
                </a:tc>
                <a:tc>
                  <a:txBody>
                    <a:bodyPr/>
                    <a:lstStyle/>
                    <a:p>
                      <a:pPr algn="ctr"/>
                      <a:r>
                        <a:rPr sz="1600" b="0" i="0">
                          <a:solidFill>
                            <a:srgbClr val="333333"/>
                          </a:solidFill>
                          <a:latin typeface="Calibri"/>
                        </a:rPr>
                        <a:t>Historique + acquittement</a:t>
                      </a:r>
                    </a:p>
                  </a:txBody>
                  <a:tcPr>
                    <a:solidFill>
                      <a:srgbClr val="F1F3F5"/>
                    </a:solidFill>
                  </a:tcPr>
                </a:tc>
              </a:tr>
              <a:tr h="496388">
                <a:tc>
                  <a:txBody>
                    <a:bodyPr/>
                    <a:lstStyle/>
                    <a:p>
                      <a:pPr algn="l"/>
                      <a:r>
                        <a:rPr sz="1600" b="0" i="0">
                          <a:solidFill>
                            <a:srgbClr val="333333"/>
                          </a:solidFill>
                          <a:latin typeface="Calibri"/>
                        </a:rPr>
                        <a:t>Notification Telegram</a:t>
                      </a:r>
                    </a:p>
                  </a:txBody>
                  <a:tcPr>
                    <a:solidFill>
                      <a:srgbClr val="FFFFFF"/>
                    </a:solidFill>
                  </a:tcPr>
                </a:tc>
                <a:tc>
                  <a:txBody>
                    <a:bodyPr/>
                    <a:lstStyle/>
                    <a:p>
                      <a:pPr algn="ctr"/>
                      <a:r>
                        <a:rPr sz="1600" b="0" i="0">
                          <a:solidFill>
                            <a:srgbClr val="333333"/>
                          </a:solidFill>
                          <a:latin typeface="Calibri"/>
                        </a:rPr>
                        <a:t>Alerte push reçue sur smartphone</a:t>
                      </a:r>
                    </a:p>
                  </a:txBody>
                  <a:tcPr>
                    <a:solidFill>
                      <a:srgbClr val="FFFFFF"/>
                    </a:solidFill>
                  </a:tcPr>
                </a:tc>
              </a:tr>
              <a:tr h="496392">
                <a:tc>
                  <a:txBody>
                    <a:bodyPr/>
                    <a:lstStyle/>
                    <a:p>
                      <a:pPr algn="l"/>
                      <a:r>
                        <a:rPr sz="1600" b="0" i="0">
                          <a:solidFill>
                            <a:srgbClr val="333333"/>
                          </a:solidFill>
                          <a:latin typeface="Calibri"/>
                        </a:rPr>
                        <a:t>Rapports</a:t>
                      </a:r>
                    </a:p>
                  </a:txBody>
                  <a:tcPr>
                    <a:solidFill>
                      <a:srgbClr val="F1F3F5"/>
                    </a:solidFill>
                  </a:tcPr>
                </a:tc>
                <a:tc>
                  <a:txBody>
                    <a:bodyPr/>
                    <a:lstStyle/>
                    <a:p>
                      <a:pPr algn="ctr"/>
                      <a:r>
                        <a:rPr sz="1600" b="0" i="0">
                          <a:solidFill>
                            <a:srgbClr val="333333"/>
                          </a:solidFill>
                          <a:latin typeface="Calibri"/>
                        </a:rPr>
                        <a:t>Statistiques &amp; graphiques exportables</a:t>
                      </a:r>
                    </a:p>
                  </a:txBody>
                  <a:tcPr>
                    <a:solidFill>
                      <a:srgbClr val="F1F3F5"/>
                    </a:solidFill>
                  </a:tcPr>
                </a:tc>
              </a:tr>
            </a:tbl>
          </a:graphicData>
        </a:graphic>
      </p:graphicFrame>
      <p:sp>
        <p:nvSpPr>
          <p:cNvPr id="6" name="Rectangle 5"/>
          <p:cNvSpPr/>
          <p:nvPr/>
        </p:nvSpPr>
        <p:spPr>
          <a:xfrm>
            <a:off x="640080" y="5212080"/>
            <a:ext cx="109728" cy="82296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À insérer : les captures d'écran réelles de l'application déployée.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71600"/>
            <a:ext cx="10881360" cy="4572000"/>
          </a:xfrm>
          <a:prstGeom prst="rect">
            <a:avLst/>
          </a:prstGeom>
          <a:noFill/>
        </p:spPr>
        <p:txBody>
          <a:bodyPr wrap="square">
            <a:spAutoFit/>
          </a:bodyPr>
          <a:lstStyle/>
          <a:p>
            <a:pPr>
              <a:spcAft>
                <a:spcPts val="800"/>
              </a:spcAft>
            </a:pPr>
            <a:r>
              <a:rPr sz="1800" b="0" i="0">
                <a:solidFill>
                  <a:srgbClr val="333333"/>
                </a:solidFill>
                <a:latin typeface="Calibri"/>
              </a:rPr>
              <a:t>•  Cible : PME, écoles, administrations, cybercafés, hébergeurs, MSP (infogérants).</a:t>
            </a:r>
          </a:p>
          <a:p>
            <a:pPr>
              <a:spcAft>
                <a:spcPts val="800"/>
              </a:spcAft>
            </a:pPr>
            <a:r>
              <a:rPr sz="1800" b="0" i="0">
                <a:solidFill>
                  <a:srgbClr val="333333"/>
                </a:solidFill>
                <a:latin typeface="Calibri"/>
              </a:rPr>
              <a:t/>
            </a:r>
          </a:p>
          <a:p>
            <a:pPr>
              <a:spcAft>
                <a:spcPts val="800"/>
              </a:spcAft>
            </a:pPr>
            <a:r>
              <a:rPr sz="1800" b="1" i="0">
                <a:solidFill>
                  <a:srgbClr val="0D3B66"/>
                </a:solidFill>
                <a:latin typeface="Calibri"/>
              </a:rPr>
              <a:t>•  Proposition de valeur :</a:t>
            </a:r>
          </a:p>
          <a:p>
            <a:pPr lvl="1">
              <a:spcAft>
                <a:spcPts val="800"/>
              </a:spcAft>
            </a:pPr>
            <a:r>
              <a:rPr sz="1600" b="0" i="0">
                <a:solidFill>
                  <a:srgbClr val="0D6EFD"/>
                </a:solidFill>
                <a:latin typeface="Calibri"/>
              </a:rPr>
              <a:t>–  « Supervisez votre réseau et soyez alerté sur votre téléphone en cas de panne — sans licence, sans complexité. »</a:t>
            </a:r>
          </a:p>
          <a:p>
            <a:pPr>
              <a:spcAft>
                <a:spcPts val="800"/>
              </a:spcAft>
            </a:pPr>
            <a:r>
              <a:rPr sz="1800" b="0" i="0">
                <a:solidFill>
                  <a:srgbClr val="333333"/>
                </a:solidFill>
                <a:latin typeface="Calibri"/>
              </a:rPr>
              <a:t/>
            </a:r>
          </a:p>
          <a:p>
            <a:pPr>
              <a:spcAft>
                <a:spcPts val="800"/>
              </a:spcAft>
            </a:pPr>
            <a:r>
              <a:rPr sz="1800" b="1" i="0">
                <a:solidFill>
                  <a:srgbClr val="0D3B66"/>
                </a:solidFill>
                <a:latin typeface="Calibri"/>
              </a:rPr>
              <a:t>•  Modèle économique (open-core) :</a:t>
            </a:r>
          </a:p>
          <a:p>
            <a:pPr lvl="1">
              <a:spcAft>
                <a:spcPts val="800"/>
              </a:spcAft>
            </a:pPr>
            <a:r>
              <a:rPr sz="1600" b="0" i="0">
                <a:solidFill>
                  <a:srgbClr val="333333"/>
                </a:solidFill>
                <a:latin typeface="Calibri"/>
              </a:rPr>
              <a:t>–  Cœur open-source gratuit (adoption &amp; confiance)</a:t>
            </a:r>
          </a:p>
          <a:p>
            <a:pPr lvl="1">
              <a:spcAft>
                <a:spcPts val="800"/>
              </a:spcAft>
            </a:pPr>
            <a:r>
              <a:rPr sz="1600" b="0" i="0">
                <a:solidFill>
                  <a:srgbClr val="333333"/>
                </a:solidFill>
                <a:latin typeface="Calibri"/>
              </a:rPr>
              <a:t>–  Services : installation, formation, support (abonnement)</a:t>
            </a:r>
          </a:p>
          <a:p>
            <a:pPr lvl="1">
              <a:spcAft>
                <a:spcPts val="800"/>
              </a:spcAft>
            </a:pPr>
            <a:r>
              <a:rPr sz="1600" b="0" i="0">
                <a:solidFill>
                  <a:srgbClr val="333333"/>
                </a:solidFill>
                <a:latin typeface="Calibri"/>
              </a:rPr>
              <a:t>–  Édition Pro : SNMP, multi-sites, IA prédictive, rapports avancés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Notre solution</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 ne pas affronter les géants sur le haut de gamme, mais dominer le segment délaissé des petites structures (« océan bleu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Coûts de mise en place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 (open-source)</a:t>
                      </a:r>
                    </a:p>
                  </a:txBody>
                  <a:tcPr>
                    <a:solidFill>
                      <a:srgbClr val="FFFFFF"/>
                    </a:solidFill>
                  </a:tcPr>
                </a:tc>
              </a:tr>
              <a:tr h="475488">
                <a:tc>
                  <a:txBody>
                    <a:bodyPr/>
                    <a:lstStyle/>
                    <a:p>
                      <a:pPr algn="l"/>
                      <a:r>
                        <a:rPr sz="1500" b="0" i="0">
                          <a:solidFill>
                            <a:srgbClr val="333333"/>
                          </a:solidFill>
                          <a:latin typeface="Calibri"/>
                        </a:rPr>
                        <a:t>Serveur (VM / mini-PC)</a:t>
                      </a:r>
                    </a:p>
                  </a:txBody>
                  <a:tcPr>
                    <a:solidFill>
                      <a:srgbClr val="F1F3F5"/>
                    </a:solidFill>
                  </a:tcPr>
                </a:tc>
                <a:tc>
                  <a:txBody>
                    <a:bodyPr/>
                    <a:lstStyle/>
                    <a:p>
                      <a:pPr algn="ctr"/>
                      <a:r>
                        <a:rPr sz="1500" b="0" i="0">
                          <a:solidFill>
                            <a:srgbClr val="333333"/>
                          </a:solidFill>
                          <a:latin typeface="Calibri"/>
                        </a:rPr>
                        <a:t>~150–300 €</a:t>
                      </a:r>
                    </a:p>
                  </a:txBody>
                  <a:tcPr>
                    <a:solidFill>
                      <a:srgbClr val="F1F3F5"/>
                    </a:solidFill>
                  </a:tcPr>
                </a:tc>
              </a:tr>
              <a:tr h="475488">
                <a:tc>
                  <a:txBody>
                    <a:bodyPr/>
                    <a:lstStyle/>
                    <a:p>
                      <a:pPr algn="l"/>
                      <a:r>
                        <a:rPr sz="1500" b="0" i="0">
                          <a:solidFill>
                            <a:srgbClr val="333333"/>
                          </a:solidFill>
                          <a:latin typeface="Calibri"/>
                        </a:rPr>
                        <a:t>Déploiement (temps)</a:t>
                      </a:r>
                    </a:p>
                  </a:txBody>
                  <a:tcPr>
                    <a:solidFill>
                      <a:srgbClr val="FFFFFF"/>
                    </a:solidFill>
                  </a:tcPr>
                </a:tc>
                <a:tc>
                  <a:txBody>
                    <a:bodyPr/>
                    <a:lstStyle/>
                    <a:p>
                      <a:pPr algn="ctr"/>
                      <a:r>
                        <a:rPr sz="1500" b="0" i="0">
                          <a:solidFill>
                            <a:srgbClr val="333333"/>
                          </a:solidFill>
                          <a:latin typeface="Calibri"/>
                        </a:rPr>
                        <a:t>~1 j de prestation</a:t>
                      </a:r>
                    </a:p>
                  </a:txBody>
                  <a:tcPr>
                    <a:solidFill>
                      <a:srgbClr val="FFFFFF"/>
                    </a:solidFill>
                  </a:tcPr>
                </a:tc>
              </a:tr>
              <a:tr h="475488">
                <a:tc>
                  <a:txBody>
                    <a:bodyPr/>
                    <a:lstStyle/>
                    <a:p>
                      <a:pPr algn="l"/>
                      <a:r>
                        <a:rPr sz="1500" b="0" i="0">
                          <a:solidFill>
                            <a:srgbClr val="333333"/>
                          </a:solidFill>
                          <a:latin typeface="Calibri"/>
                        </a:rPr>
                        <a:t>Total entrée</a:t>
                      </a:r>
                    </a:p>
                  </a:txBody>
                  <a:tcPr>
                    <a:solidFill>
                      <a:srgbClr val="F1F3F5"/>
                    </a:solidFill>
                  </a:tcPr>
                </a:tc>
                <a:tc>
                  <a:txBody>
                    <a:bodyPr/>
                    <a:lstStyle/>
                    <a:p>
                      <a:pPr algn="ctr"/>
                      <a:r>
                        <a:rPr sz="1500" b="0" i="0">
                          <a:solidFill>
                            <a:srgbClr val="333333"/>
                          </a:solidFill>
                          <a:latin typeface="Calibri"/>
                        </a:rPr>
                        <a:t>≈ 200 €</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700" b="1" i="0">
                <a:solidFill>
                  <a:srgbClr val="0D3B66"/>
                </a:solidFill>
                <a:latin typeface="Calibri"/>
              </a:rPr>
              <a:t>Revenus (scénario prestataire, an 1)</a:t>
            </a:r>
          </a:p>
        </p:txBody>
      </p:sp>
      <p:graphicFrame>
        <p:nvGraphicFramePr>
          <p:cNvPr id="8" name="Table 7"/>
          <p:cNvGraphicFramePr>
            <a:graphicFrameLocks noGrp="1"/>
          </p:cNvGraphicFramePr>
          <p:nvPr/>
        </p:nvGraphicFramePr>
        <p:xfrm>
          <a:off x="6309360" y="1737360"/>
          <a:ext cx="5394960" cy="2377440"/>
        </p:xfrm>
        <a:graphic>
          <a:graphicData uri="http://schemas.openxmlformats.org/drawingml/2006/table">
            <a:tbl>
              <a:tblPr firstRow="1" bandRow="1">
                <a:tableStyleId>{5C22544A-7EE6-4342-B048-85BDC9FD1C3A}</a:tableStyleId>
              </a:tblPr>
              <a:tblGrid>
                <a:gridCol w="1798320"/>
                <a:gridCol w="1798320"/>
                <a:gridCol w="1798320"/>
              </a:tblGrid>
              <a:tr h="475488">
                <a:tc>
                  <a:txBody>
                    <a:bodyPr/>
                    <a:lstStyle/>
                    <a:p>
                      <a:pPr algn="ctr"/>
                      <a:r>
                        <a:rPr sz="1400" b="1" i="0">
                          <a:solidFill>
                            <a:srgbClr val="FFFFFF"/>
                          </a:solidFill>
                          <a:latin typeface="Calibri"/>
                        </a:rPr>
                        <a:t>Source</a:t>
                      </a:r>
                    </a:p>
                  </a:txBody>
                  <a:tcPr>
                    <a:solidFill>
                      <a:srgbClr val="0D3B66"/>
                    </a:solidFill>
                  </a:tcPr>
                </a:tc>
                <a:tc>
                  <a:txBody>
                    <a:bodyPr/>
                    <a:lstStyle/>
                    <a:p>
                      <a:pPr algn="ctr"/>
                      <a:r>
                        <a:rPr sz="1400" b="1" i="0">
                          <a:solidFill>
                            <a:srgbClr val="FFFFFF"/>
                          </a:solidFill>
                          <a:latin typeface="Calibri"/>
                        </a:rPr>
                        <a:t>Hypothèse</a:t>
                      </a:r>
                    </a:p>
                  </a:txBody>
                  <a:tcPr>
                    <a:solidFill>
                      <a:srgbClr val="0D3B66"/>
                    </a:solidFill>
                  </a:tcPr>
                </a:tc>
                <a:tc>
                  <a:txBody>
                    <a:bodyPr/>
                    <a:lstStyle/>
                    <a:p>
                      <a:pPr algn="ctr"/>
                      <a:r>
                        <a:rPr sz="1400" b="1" i="0">
                          <a:solidFill>
                            <a:srgbClr val="FFFFFF"/>
                          </a:solidFill>
                          <a:latin typeface="Calibri"/>
                        </a:rPr>
                        <a:t>Revenu</a:t>
                      </a:r>
                    </a:p>
                  </a:txBody>
                  <a:tcPr>
                    <a:solidFill>
                      <a:srgbClr val="0D3B66"/>
                    </a:solidFill>
                  </a:tcPr>
                </a:tc>
              </a:tr>
              <a:tr h="475488">
                <a:tc>
                  <a:txBody>
                    <a:bodyPr/>
                    <a:lstStyle/>
                    <a:p>
                      <a:pPr algn="l"/>
                      <a:r>
                        <a:rPr sz="1400" b="0" i="0">
                          <a:solidFill>
                            <a:srgbClr val="333333"/>
                          </a:solidFill>
                          <a:latin typeface="Calibri"/>
                        </a:rPr>
                        <a:t>Installation+formation</a:t>
                      </a:r>
                    </a:p>
                  </a:txBody>
                  <a:tcPr>
                    <a:solidFill>
                      <a:srgbClr val="FFFFFF"/>
                    </a:solidFill>
                  </a:tcPr>
                </a:tc>
                <a:tc>
                  <a:txBody>
                    <a:bodyPr/>
                    <a:lstStyle/>
                    <a:p>
                      <a:pPr algn="ctr"/>
                      <a:r>
                        <a:rPr sz="1400" b="0" i="0">
                          <a:solidFill>
                            <a:srgbClr val="333333"/>
                          </a:solidFill>
                          <a:latin typeface="Calibri"/>
                        </a:rPr>
                        <a:t>10 × 300 €</a:t>
                      </a:r>
                    </a:p>
                  </a:txBody>
                  <a:tcPr>
                    <a:solidFill>
                      <a:srgbClr val="FFFFFF"/>
                    </a:solidFill>
                  </a:tcPr>
                </a:tc>
                <a:tc>
                  <a:txBody>
                    <a:bodyPr/>
                    <a:lstStyle/>
                    <a:p>
                      <a:pPr algn="ctr"/>
                      <a:r>
                        <a:rPr sz="1400" b="1" i="0">
                          <a:solidFill>
                            <a:srgbClr val="198754"/>
                          </a:solidFill>
                          <a:latin typeface="Calibri"/>
                        </a:rPr>
                        <a:t>3 000 €</a:t>
                      </a:r>
                    </a:p>
                  </a:txBody>
                  <a:tcPr>
                    <a:solidFill>
                      <a:srgbClr val="FFFFFF"/>
                    </a:solidFill>
                  </a:tcPr>
                </a:tc>
              </a:tr>
              <a:tr h="475488">
                <a:tc>
                  <a:txBody>
                    <a:bodyPr/>
                    <a:lstStyle/>
                    <a:p>
                      <a:pPr algn="l"/>
                      <a:r>
                        <a:rPr sz="1400" b="0" i="0">
                          <a:solidFill>
                            <a:srgbClr val="333333"/>
                          </a:solidFill>
                          <a:latin typeface="Calibri"/>
                        </a:rPr>
                        <a:t>Support (abonnement)</a:t>
                      </a:r>
                    </a:p>
                  </a:txBody>
                  <a:tcPr>
                    <a:solidFill>
                      <a:srgbClr val="F1F3F5"/>
                    </a:solidFill>
                  </a:tcPr>
                </a:tc>
                <a:tc>
                  <a:txBody>
                    <a:bodyPr/>
                    <a:lstStyle/>
                    <a:p>
                      <a:pPr algn="ctr"/>
                      <a:r>
                        <a:rPr sz="1400" b="0" i="0">
                          <a:solidFill>
                            <a:srgbClr val="333333"/>
                          </a:solidFill>
                          <a:latin typeface="Calibri"/>
                        </a:rPr>
                        <a:t>10 × 40 €/mois</a:t>
                      </a:r>
                    </a:p>
                  </a:txBody>
                  <a:tcPr>
                    <a:solidFill>
                      <a:srgbClr val="F1F3F5"/>
                    </a:solidFill>
                  </a:tcPr>
                </a:tc>
                <a:tc>
                  <a:txBody>
                    <a:bodyPr/>
                    <a:lstStyle/>
                    <a:p>
                      <a:pPr algn="ctr"/>
                      <a:r>
                        <a:rPr sz="1400" b="1" i="0">
                          <a:solidFill>
                            <a:srgbClr val="198754"/>
                          </a:solidFill>
                          <a:latin typeface="Calibri"/>
                        </a:rPr>
                        <a:t>4 800 €</a:t>
                      </a:r>
                    </a:p>
                  </a:txBody>
                  <a:tcPr>
                    <a:solidFill>
                      <a:srgbClr val="F1F3F5"/>
                    </a:solidFill>
                  </a:tcPr>
                </a:tc>
              </a:tr>
              <a:tr h="475488">
                <a:tc>
                  <a:txBody>
                    <a:bodyPr/>
                    <a:lstStyle/>
                    <a:p>
                      <a:pPr algn="l"/>
                      <a:r>
                        <a:rPr sz="1400" b="0" i="0">
                          <a:solidFill>
                            <a:srgbClr val="333333"/>
                          </a:solidFill>
                          <a:latin typeface="Calibri"/>
                        </a:rPr>
                        <a:t>Édition Pro</a:t>
                      </a:r>
                    </a:p>
                  </a:txBody>
                  <a:tcPr>
                    <a:solidFill>
                      <a:srgbClr val="FFFFFF"/>
                    </a:solidFill>
                  </a:tcPr>
                </a:tc>
                <a:tc>
                  <a:txBody>
                    <a:bodyPr/>
                    <a:lstStyle/>
                    <a:p>
                      <a:pPr algn="ctr"/>
                      <a:r>
                        <a:rPr sz="1400" b="0" i="0">
                          <a:solidFill>
                            <a:srgbClr val="333333"/>
                          </a:solidFill>
                          <a:latin typeface="Calibri"/>
                        </a:rPr>
                        <a:t>3 × 500 €</a:t>
                      </a:r>
                    </a:p>
                  </a:txBody>
                  <a:tcPr>
                    <a:solidFill>
                      <a:srgbClr val="FFFFFF"/>
                    </a:solidFill>
                  </a:tcPr>
                </a:tc>
                <a:tc>
                  <a:txBody>
                    <a:bodyPr/>
                    <a:lstStyle/>
                    <a:p>
                      <a:pPr algn="ctr"/>
                      <a:r>
                        <a:rPr sz="1400" b="1" i="0">
                          <a:solidFill>
                            <a:srgbClr val="198754"/>
                          </a:solidFill>
                          <a:latin typeface="Calibri"/>
                        </a:rPr>
                        <a:t>1 500 €</a:t>
                      </a:r>
                    </a:p>
                  </a:txBody>
                  <a:tcPr>
                    <a:solidFill>
                      <a:srgbClr val="FFFFFF"/>
                    </a:solidFill>
                  </a:tcPr>
                </a:tc>
              </a:tr>
              <a:tr h="475488">
                <a:tc>
                  <a:txBody>
                    <a:bodyPr/>
                    <a:lstStyle/>
                    <a:p>
                      <a:pPr algn="l"/>
                      <a:r>
                        <a:rPr sz="1400" b="0" i="0">
                          <a:solidFill>
                            <a:srgbClr val="333333"/>
                          </a:solidFill>
                          <a:latin typeface="Calibri"/>
                        </a:rPr>
                        <a:t>Total an 1</a:t>
                      </a:r>
                    </a:p>
                  </a:txBody>
                  <a:tcPr>
                    <a:solidFill>
                      <a:srgbClr val="F1F3F5"/>
                    </a:solidFill>
                  </a:tcPr>
                </a:tc>
                <a:tc>
                  <a:txBody>
                    <a:bodyPr/>
                    <a:lstStyle/>
                    <a:p>
                      <a:pPr algn="ctr"/>
                      <a:r>
                        <a:rPr sz="1400" b="0" i="0">
                          <a:solidFill>
                            <a:srgbClr val="333333"/>
                          </a:solidFill>
                          <a:latin typeface="Calibri"/>
                        </a:rPr>
                        <a:t/>
                      </a:r>
                    </a:p>
                  </a:txBody>
                  <a:tcPr>
                    <a:solidFill>
                      <a:srgbClr val="F1F3F5"/>
                    </a:solidFill>
                  </a:tcPr>
                </a:tc>
                <a:tc>
                  <a:txBody>
                    <a:bodyPr/>
                    <a:lstStyle/>
                    <a:p>
                      <a:pPr algn="ctr"/>
                      <a:r>
                        <a:rPr sz="1400" b="1" i="0">
                          <a:solidFill>
                            <a:srgbClr val="198754"/>
                          </a:solidFill>
                          <a:latin typeface="Calibri"/>
                        </a:rPr>
                        <a:t>≈ 9 300 €</a:t>
                      </a:r>
                    </a:p>
                  </a:txBody>
                  <a:tcPr>
                    <a:solidFill>
                      <a:srgbClr val="F1F3F5"/>
                    </a:solidFill>
                  </a:tcPr>
                </a:tc>
              </a:tr>
            </a:tbl>
          </a:graphicData>
        </a:graphic>
      </p:graphicFrame>
      <p:sp>
        <p:nvSpPr>
          <p:cNvPr id="9" name="Rectangle 8"/>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ROI client : 1 h de panne évitée ≫ coût de la solution (≈ 200 €). Elle s'autofinance dès le premier incident majeur évité.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a:t>
            </a:r>
          </a:p>
          <a:p>
            <a:pPr lvl="1">
              <a:spcAft>
                <a:spcPts val="600"/>
              </a:spcAft>
            </a:pPr>
            <a:r>
              <a:rPr sz="1600" b="0" i="0">
                <a:solidFill>
                  <a:srgbClr val="333333"/>
                </a:solidFill>
                <a:latin typeface="Calibri"/>
              </a:rPr>
              <a:t>–  Intégration SNMP (performances détaillées)</a:t>
            </a:r>
          </a:p>
          <a:p>
            <a:pPr lvl="1">
              <a:spcAft>
                <a:spcPts val="600"/>
              </a:spcAft>
            </a:pPr>
            <a:r>
              <a:rPr sz="1600" b="0" i="0">
                <a:solidFill>
                  <a:srgbClr val="333333"/>
                </a:solidFill>
                <a:latin typeface="Calibri"/>
              </a:rPr>
              <a:t>–  Machine Learning : détection d'anomalies</a:t>
            </a:r>
          </a:p>
          <a:p>
            <a:pPr lvl="1">
              <a:spcAft>
                <a:spcPts val="600"/>
              </a:spcAft>
            </a:pPr>
            <a:r>
              <a:rPr sz="1600" b="0" i="0">
                <a:solidFill>
                  <a:srgbClr val="333333"/>
                </a:solidFill>
                <a:latin typeface="Calibri"/>
              </a:rPr>
              <a:t>–  Maintenance prédictive (anticiper la panne) · Auto-remédiation (AIOps)</a:t>
            </a:r>
          </a:p>
          <a:p>
            <a:pPr lvl="1">
              <a:spcAft>
                <a:spcPts val="600"/>
              </a:spcAft>
            </a:pPr>
            <a:r>
              <a:rPr sz="1600" b="0" i="0">
                <a:solidFill>
                  <a:srgbClr val="333333"/>
                </a:solidFill>
                <a:latin typeface="Calibri"/>
              </a:rPr>
              <a:t>–  Conteneurisation (Docker/K8s) · Canaux SMS, Slack, Teams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200" b="1" i="0">
                <a:solidFill>
                  <a:srgbClr val="198754"/>
                </a:solidFill>
                <a:latin typeface="Calibri"/>
              </a:rPr>
              <a:t>•  Un produit fonctionnel, testé, 100 % open-source</a:t>
            </a:r>
          </a:p>
          <a:p>
            <a:pPr>
              <a:spcAft>
                <a:spcPts val="1400"/>
              </a:spcAft>
            </a:pPr>
            <a:r>
              <a:rPr sz="2200" b="1" i="0">
                <a:solidFill>
                  <a:srgbClr val="198754"/>
                </a:solidFill>
                <a:latin typeface="Calibri"/>
              </a:rPr>
              <a:t>•  Détection temps réel (&lt; 2 min) &amp; temps d'intervention réduit</a:t>
            </a:r>
          </a:p>
          <a:p>
            <a:pPr>
              <a:spcAft>
                <a:spcPts val="1400"/>
              </a:spcAft>
            </a:pPr>
            <a:r>
              <a:rPr sz="2200" b="1" i="0">
                <a:solidFill>
                  <a:srgbClr val="198754"/>
                </a:solidFill>
                <a:latin typeface="Calibri"/>
              </a:rPr>
              <a:t>•  Un modèle économique viable (open-core) sur un segment délaissé</a:t>
            </a:r>
          </a:p>
          <a:p>
            <a:pPr>
              <a:spcAft>
                <a:spcPts val="1400"/>
              </a:spcAft>
            </a:pPr>
            <a:r>
              <a:rPr sz="22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De la supervision réactive vers une supervision proactive, accessible et intelligente. L'automatisation transforme la disponibilité réseau en avantage à la portée de toutes les organisations.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