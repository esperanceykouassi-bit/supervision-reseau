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Mesdames et Messieurs les membres du jury. Je vous remercie de votre présence. Je vais vous présenter mon mémoire-projet : une solution d'automatisation de la supervision et de la détection des pannes réseau, pensée comme un véritable produit, du besoin du marché au modèle économique.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exposé suit le fil d'un projet d'entreprise : je pars du problème du marché, je présente la solution et sa technique, je la démontre, puis j'aborde son modèle économique avant de conclure sur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choisi ce thème car il croise une réalité observée chez OPEN MOISE - les pannes des réseaux clients détectées trop tard - et une conviction : on peut industrialiser la supervision sans budget colossal grâce à l'open-source. C'est un besoin direct de mon entreprise d'accueil.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Quelques mots sur mon entreprise d'accueil, OPEN MOISE : une ESN qui assure notamment l'infogérance et la supervision des réseaux de ses clients. Mon projet répond donc à un besoin direct de l'entreprise : détecter plus vite les pannes des parcs qu'elle exploite et respecter ses engagements de service.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contexte est celui d'OPEN MOISE : une ESN qui supervise les réseaux de ses clients sous engagement de service. Or cette supervision est encore largement manuelle. Résultat : on apprend la panne par le client lui-même, sans trace exploitable, ce qui met en péril le respect des SLA.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le projet répond à cette question centrale, formulée du point de vue d'OPEN MOISE : détecter en temps réel les pannes des réseaux supervisés et réduire le temps d'intervention des équipes, avec une solution automatisée, fiable et accessible. Les trois sous-questions guident ma conception.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 objectifs sont chiffrés, donc vérifiables. Le cœur : faire chuter le temps de détection de l'ordre de l'heure à moins de deux minutes, et le temps de réaction à moins de cinq minutes, sans coût de licence.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démarche est celle de l'ingénieur-chercheur : je conçois un système réel et je prouve sa valeur par la mesure. J'ai travaillé en cycles itératifs, à la DevOps, et j'évalue par comparaison avant/après sur des indicateurs objectifs.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analysé les références du marché : soit des usines à gaz puissantes mais complexes, soit des produits simples mais propriétaires et chers. Pour OPEN MOISE et ses clients PME, il existe un vide pour une solution légère, gratuite et sur mesure.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réponse au besoin d'OPEN MOISE : une solution complète mais légère. Elle découvre, surveille, confirme, journalise, alerte les équipes et affiche - le tout assemblé à partir de briques open-source éprouvées, et la journalisation sert aussi de preuve du respect des SLA.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innovation ne réside pas dans un protocole nouveau, mais dans un positionnement unique : combiner simplicité, gratuité, alerte mobile instantanée et ouverture vers l'IA. Là où chaque concurrent impose un sacrifice, ma solution réunit ces atouts. Telegram natif est mon marqueur.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projet est faisable sur les trois plans : technique - le prototype fonctionne -, économique - coût quasi nul - et organisationnel. J'ai rigoureusement conçu le système en UML et MERISE, sur une architecture en cinq couches.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l'architecture en cinq couches. Le choix d'ingénierie le plus important est le découplage entre la collecte et l'affichage : ils communiquent uniquement par la base de données, ce qui rend le système robuste.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formalisé toute la conception avec sept diagrammes UML, du diagramme de contexte au diagramme de déploiement. Les versions pleine page figurent en annexe pour le détail.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base de données, j'ai suivi la méthode MERISE : du modèle conceptuel - les entités et leurs associations - vers le modèle logique - les cinq tables relationnelles avec leurs clés - implémenté ensuite en MySQL.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Techniquement : toutes les deux minutes, Cron lance le moteur qui teste chaque équipement. Une panne n'est confirmée qu'après plusieurs échecs - pour éviter les fausses alertes - et une seule notification est envoyée par panne. Tout est parallélisé pour rester rapide.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sécurité a été pensée dès la conception, pas ajoutée après : secrets hors du code, mots de passe hachés, requêtes paramétrées contre l'injection SQL, communications chiffrées et moindre privilège sur la 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démonstration, je propose un scénario vivant tel qu'OPEN MOISE l'utiliserait : je montre le tableau de bord d'un parc client, je simule une panne, et vous verrez l'astreinte alertée par Telegram en temps réel. Puis je rétablis. J'ai un plan B en captures et vidéo.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captures matérialisent chaque fonctionnalité clé. La plus parlante est la notification Telegram reçue sur le téléphone : la preuve concrète de la valeur ajoutée pour les équipes d'astreinte d'OPEN MOISE.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OPEN MOISE, la solution a une double valeur : en interne, elle industrialise la supervision et fiabilise les SLA ; en externe, elle devient une nouvelle offre de supervision managée facturée aux clients. C'est à la fois une économie et une source de revenus récurrents.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MOISE ne cherche pas à battre Zabbix sur les très grandes infrastructures. Sa stratégie est l'océan bleu : se différencier auprès de ses clients PME avec une offre de supervision managée simple et sans licence, là où les géants sont trop chers ou trop lourds.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OPEN MOISE, l'investissement est quasi nul : pas de licence, un serveur mutualisé, un développement déjà réalisé en interne. Le retour est double : des revenus récurrents via l'offre de supervision managée, et des économies internes - moins de temps d'astreinte et des pénalités SLA évitées. L'investissement est amorti dès le premier client.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reste lucide sur les limites : pas encore de SNMP, réactivité bornée à deux minutes, et la question du superviseur lui-même. Mais ces limites tracent la feuille de route d'OPEN MOISE : SNMP, puis l'IA pour offrir à ses clients une supervision prédictive premium.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ce projet dote OPEN MOISE d'un outil réel et performant, qui fiabilise ses engagements de service, génère des économies et ouvre une nouvelle offre commerciale. Pour l'entreprise, c'est un avantage concurrentiel concret et durable.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de votre attention et je suis prêt à répondre à toutes vos questions, qu'elles soient techniques ou sur le volet économique.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en annexe les diagrammes détaillés, que je peux afficher pour répondre précisément à vos questions sur la conception.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grpSpPr/>
      <p:sp>
        <p:nvSpPr>
          <p:cNvPr id="2" name="Rectangle 1"/>
          <p:cNvSpPr/>
          <p:nvPr/>
        </p:nvSpPr>
        <p:spPr>
          <a:xfrm>
            <a:off x="0" y="2286000"/>
            <a:ext cx="12191695" cy="23774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423160"/>
            <a:ext cx="10698480" cy="2103120"/>
          </a:xfrm>
          <a:prstGeom prst="rect">
            <a:avLst/>
          </a:prstGeom>
          <a:noFill/>
        </p:spPr>
        <p:txBody>
          <a:bodyPr wrap="square" anchor="ctr">
            <a:spAutoFit/>
          </a:bodyPr>
          <a:lstStyle/>
          <a:p>
            <a:pPr algn="ctr"/>
            <a:r>
              <a:rPr sz="3600" b="1" i="0">
                <a:solidFill>
                  <a:srgbClr val="FFFFFF"/>
                </a:solidFill>
                <a:latin typeface="Calibri"/>
              </a:rPr>
              <a:t>Automatisation de la Supervision et de la
Détection des Pannes Réseau</a:t>
            </a:r>
          </a:p>
          <a:p>
            <a:pPr algn="ctr"/>
            <a:r>
              <a:rPr sz="1800" b="0" i="1">
                <a:solidFill>
                  <a:srgbClr val="DDE6F2"/>
                </a:solidFill>
                <a:latin typeface="Calibri"/>
              </a:rPr>
              <a:t>Une solution open-source déployée au sein d'OPEN MOISE (ESN d'infogérance)</a:t>
            </a:r>
          </a:p>
        </p:txBody>
      </p:sp>
      <p:sp>
        <p:nvSpPr>
          <p:cNvPr id="4" name="TextBox 3"/>
          <p:cNvSpPr txBox="1"/>
          <p:nvPr/>
        </p:nvSpPr>
        <p:spPr>
          <a:xfrm>
            <a:off x="731520" y="4937760"/>
            <a:ext cx="10698480" cy="1463040"/>
          </a:xfrm>
          <a:prstGeom prst="rect">
            <a:avLst/>
          </a:prstGeom>
          <a:noFill/>
        </p:spPr>
        <p:txBody>
          <a:bodyPr wrap="square">
            <a:spAutoFit/>
          </a:bodyPr>
          <a:lstStyle/>
          <a:p>
            <a:pPr algn="ctr"/>
            <a:r>
              <a:rPr sz="2000" b="1" i="0">
                <a:solidFill>
                  <a:srgbClr val="FFFFFF"/>
                </a:solidFill>
                <a:latin typeface="Calibri"/>
              </a:rPr>
              <a:t>[NOM Prénom] — Master 2 RIT</a:t>
            </a:r>
          </a:p>
          <a:p>
            <a:pPr algn="ctr"/>
            <a:r>
              <a:rPr sz="1600" b="0" i="0">
                <a:solidFill>
                  <a:srgbClr val="FFFFFF"/>
                </a:solidFill>
                <a:latin typeface="Calibri"/>
              </a:rPr>
              <a:t>Sous la direction de [Directeur de mémoire]</a:t>
            </a:r>
          </a:p>
          <a:p>
            <a:pPr algn="ctr"/>
            <a:r>
              <a:rPr sz="1400" b="0" i="0">
                <a:solidFill>
                  <a:srgbClr val="FFFFFF"/>
                </a:solidFill>
                <a:latin typeface="Calibri"/>
              </a:rPr>
              <a:t>Structure d'accueil : OPEN MOISE  •  Année académique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Plan de la présentation</a:t>
            </a:r>
          </a:p>
        </p:txBody>
      </p:sp>
      <p:sp>
        <p:nvSpPr>
          <p:cNvPr id="4" name="TextBox 3"/>
          <p:cNvSpPr txBox="1"/>
          <p:nvPr/>
        </p:nvSpPr>
        <p:spPr>
          <a:xfrm>
            <a:off x="640080" y="1463040"/>
            <a:ext cx="5486400" cy="4937760"/>
          </a:xfrm>
          <a:prstGeom prst="rect">
            <a:avLst/>
          </a:prstGeom>
          <a:noFill/>
        </p:spPr>
        <p:txBody>
          <a:bodyPr wrap="square">
            <a:spAutoFit/>
          </a:bodyPr>
          <a:lstStyle/>
          <a:p>
            <a:pPr>
              <a:spcAft>
                <a:spcPts val="1200"/>
              </a:spcAft>
            </a:pPr>
            <a:r>
              <a:rPr sz="2000" b="1" i="0">
                <a:solidFill>
                  <a:srgbClr val="0D3B66"/>
                </a:solidFill>
                <a:latin typeface="Calibri"/>
              </a:rPr>
              <a:t>•  Introduction — L'annonce du sujet</a:t>
            </a:r>
          </a:p>
          <a:p>
            <a:pPr>
              <a:spcAft>
                <a:spcPts val="1200"/>
              </a:spcAft>
            </a:pPr>
            <a:r>
              <a:rPr sz="2000" b="0" i="0">
                <a:solidFill>
                  <a:srgbClr val="333333"/>
                </a:solidFill>
                <a:latin typeface="Calibri"/>
              </a:rPr>
              <a:t>•  1.  Contexte et identification du problème</a:t>
            </a:r>
          </a:p>
          <a:p>
            <a:pPr>
              <a:spcAft>
                <a:spcPts val="1200"/>
              </a:spcAft>
            </a:pPr>
            <a:r>
              <a:rPr sz="2000" b="0" i="0">
                <a:solidFill>
                  <a:srgbClr val="333333"/>
                </a:solidFill>
                <a:latin typeface="Calibri"/>
              </a:rPr>
              <a:t>•  2.  Objectifs et résultats attendus</a:t>
            </a:r>
          </a:p>
          <a:p>
            <a:pPr>
              <a:spcAft>
                <a:spcPts val="1200"/>
              </a:spcAft>
            </a:pPr>
            <a:r>
              <a:rPr sz="2000" b="0" i="0">
                <a:solidFill>
                  <a:srgbClr val="333333"/>
                </a:solidFill>
                <a:latin typeface="Calibri"/>
              </a:rPr>
              <a:t>•  3.  Démarche méthodologique</a:t>
            </a:r>
          </a:p>
          <a:p>
            <a:pPr>
              <a:spcAft>
                <a:spcPts val="1200"/>
              </a:spcAft>
            </a:pPr>
            <a:r>
              <a:rPr sz="2000" b="0" i="0">
                <a:solidFill>
                  <a:srgbClr val="333333"/>
                </a:solidFill>
                <a:latin typeface="Calibri"/>
              </a:rPr>
              <a:t>•  4.  État des lieux &amp; solution proposée</a:t>
            </a:r>
          </a:p>
          <a:p>
            <a:pPr>
              <a:spcAft>
                <a:spcPts val="1200"/>
              </a:spcAft>
            </a:pPr>
            <a:r>
              <a:rPr sz="2000" b="0" i="0">
                <a:solidFill>
                  <a:srgbClr val="333333"/>
                </a:solidFill>
                <a:latin typeface="Calibri"/>
              </a:rPr>
              <a:t>•  5.  Axe de différenciation (innovation)</a:t>
            </a:r>
          </a:p>
          <a:p>
            <a:pPr>
              <a:spcAft>
                <a:spcPts val="1200"/>
              </a:spcAft>
            </a:pPr>
            <a:r>
              <a:rPr sz="2000" b="0" i="0">
                <a:solidFill>
                  <a:srgbClr val="333333"/>
                </a:solidFill>
                <a:latin typeface="Calibri"/>
              </a:rPr>
              <a:t>•  6.  Étude de faisabilité &amp; conception</a:t>
            </a:r>
          </a:p>
        </p:txBody>
      </p:sp>
      <p:sp>
        <p:nvSpPr>
          <p:cNvPr id="5" name="TextBox 4"/>
          <p:cNvSpPr txBox="1"/>
          <p:nvPr/>
        </p:nvSpPr>
        <p:spPr>
          <a:xfrm>
            <a:off x="6309360" y="1463040"/>
            <a:ext cx="5486400" cy="4937760"/>
          </a:xfrm>
          <a:prstGeom prst="rect">
            <a:avLst/>
          </a:prstGeom>
          <a:noFill/>
        </p:spPr>
        <p:txBody>
          <a:bodyPr wrap="square">
            <a:spAutoFit/>
          </a:bodyPr>
          <a:lstStyle/>
          <a:p>
            <a:pPr>
              <a:spcAft>
                <a:spcPts val="1200"/>
              </a:spcAft>
            </a:pPr>
            <a:r>
              <a:rPr sz="2000" b="0" i="0">
                <a:solidFill>
                  <a:srgbClr val="333333"/>
                </a:solidFill>
                <a:latin typeface="Calibri"/>
              </a:rPr>
              <a:t>•  7.  Fonctionnement technique</a:t>
            </a:r>
          </a:p>
          <a:p>
            <a:pPr>
              <a:spcAft>
                <a:spcPts val="1200"/>
              </a:spcAft>
            </a:pPr>
            <a:r>
              <a:rPr sz="2000" b="1" i="0">
                <a:solidFill>
                  <a:srgbClr val="D62828"/>
                </a:solidFill>
                <a:latin typeface="Calibri"/>
              </a:rPr>
              <a:t>•  8.  Démonstration</a:t>
            </a:r>
          </a:p>
          <a:p>
            <a:pPr>
              <a:spcAft>
                <a:spcPts val="1200"/>
              </a:spcAft>
            </a:pPr>
            <a:r>
              <a:rPr sz="2000" b="0" i="0">
                <a:solidFill>
                  <a:srgbClr val="333333"/>
                </a:solidFill>
                <a:latin typeface="Calibri"/>
              </a:rPr>
              <a:t>•  9.  Valorisation pour OPEN MOISE &amp; concurrence</a:t>
            </a:r>
          </a:p>
          <a:p>
            <a:pPr>
              <a:spcAft>
                <a:spcPts val="1200"/>
              </a:spcAft>
            </a:pPr>
            <a:r>
              <a:rPr sz="2000" b="0" i="0">
                <a:solidFill>
                  <a:srgbClr val="333333"/>
                </a:solidFill>
                <a:latin typeface="Calibri"/>
              </a:rPr>
              <a:t>•  10. Prévisions financières</a:t>
            </a:r>
          </a:p>
          <a:p>
            <a:pPr>
              <a:spcAft>
                <a:spcPts val="1200"/>
              </a:spcAft>
            </a:pPr>
            <a:r>
              <a:rPr sz="2000" b="0" i="0">
                <a:solidFill>
                  <a:srgbClr val="333333"/>
                </a:solidFill>
                <a:latin typeface="Calibri"/>
              </a:rPr>
              <a:t>•  11. Limites &amp; perspectives</a:t>
            </a:r>
          </a:p>
          <a:p>
            <a:pPr>
              <a:spcAft>
                <a:spcPts val="1200"/>
              </a:spcAft>
            </a:pPr>
            <a:r>
              <a:rPr sz="2000" b="0" i="0">
                <a:solidFill>
                  <a:srgbClr val="333333"/>
                </a:solidFill>
                <a:latin typeface="Calibri"/>
              </a:rPr>
              <a:t/>
            </a:r>
          </a:p>
          <a:p>
            <a:pPr>
              <a:spcAft>
                <a:spcPts val="1200"/>
              </a:spcAft>
            </a:pPr>
            <a:r>
              <a:rPr sz="2000" b="1" i="0">
                <a:solidFill>
                  <a:srgbClr val="0D3B66"/>
                </a:solidFill>
                <a:latin typeface="Calibri"/>
              </a:rPr>
              <a:t>•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Introduction — L'annonce du sujet</a:t>
            </a:r>
          </a:p>
        </p:txBody>
      </p:sp>
      <p:sp>
        <p:nvSpPr>
          <p:cNvPr id="4" name="TextBox 3"/>
          <p:cNvSpPr txBox="1"/>
          <p:nvPr/>
        </p:nvSpPr>
        <p:spPr>
          <a:xfrm>
            <a:off x="640080" y="1371600"/>
            <a:ext cx="10881360" cy="3657600"/>
          </a:xfrm>
          <a:prstGeom prst="rect">
            <a:avLst/>
          </a:prstGeom>
          <a:noFill/>
        </p:spPr>
        <p:txBody>
          <a:bodyPr wrap="square">
            <a:spAutoFit/>
          </a:bodyPr>
          <a:lstStyle/>
          <a:p>
            <a:pPr>
              <a:spcAft>
                <a:spcPts val="800"/>
              </a:spcAft>
            </a:pPr>
            <a:r>
              <a:rPr sz="1900" b="0" i="0">
                <a:solidFill>
                  <a:srgbClr val="333333"/>
                </a:solidFill>
                <a:latin typeface="Calibri"/>
              </a:rPr>
              <a:t>•  Le sujet : concevoir, réaliser et déployer chez OPEN MOISE un système qui surveille en continu les réseaux supervisés, détecte automatiquement les pannes et alerte instantanément les équipes — 100 % open-source.</a:t>
            </a:r>
          </a:p>
          <a:p>
            <a:pPr>
              <a:spcAft>
                <a:spcPts val="800"/>
              </a:spcAft>
            </a:pPr>
            <a:r>
              <a:rPr sz="1900" b="0" i="0">
                <a:solidFill>
                  <a:srgbClr val="333333"/>
                </a:solidFill>
                <a:latin typeface="Calibri"/>
              </a:rPr>
              <a:t/>
            </a:r>
          </a:p>
          <a:p>
            <a:pPr>
              <a:spcAft>
                <a:spcPts val="800"/>
              </a:spcAft>
            </a:pPr>
            <a:r>
              <a:rPr sz="1900" b="1" i="0">
                <a:solidFill>
                  <a:srgbClr val="0D3B66"/>
                </a:solidFill>
                <a:latin typeface="Calibri"/>
              </a:rPr>
              <a:t>•  Pourquoi ce thème ?</a:t>
            </a:r>
          </a:p>
          <a:p>
            <a:pPr lvl="1">
              <a:spcAft>
                <a:spcPts val="800"/>
              </a:spcAft>
            </a:pPr>
            <a:r>
              <a:rPr sz="1700" b="0" i="0">
                <a:solidFill>
                  <a:srgbClr val="333333"/>
                </a:solidFill>
                <a:latin typeface="Calibri"/>
              </a:rPr>
              <a:t>–  Le réseau est le « système nerveux » des clients d'OPEN MOISE</a:t>
            </a:r>
          </a:p>
          <a:p>
            <a:pPr lvl="1">
              <a:spcAft>
                <a:spcPts val="800"/>
              </a:spcAft>
            </a:pPr>
            <a:r>
              <a:rPr sz="1700" b="0" i="0">
                <a:solidFill>
                  <a:srgbClr val="333333"/>
                </a:solidFill>
                <a:latin typeface="Calibri"/>
              </a:rPr>
              <a:t>–  Une minute d'indisponibilité menace les engagements de service (SLA)</a:t>
            </a:r>
          </a:p>
          <a:p>
            <a:pPr lvl="1">
              <a:spcAft>
                <a:spcPts val="800"/>
              </a:spcAft>
            </a:pPr>
            <a:r>
              <a:rPr sz="1700" b="0" i="0">
                <a:solidFill>
                  <a:srgbClr val="333333"/>
                </a:solidFill>
                <a:latin typeface="Calibri"/>
              </a:rPr>
              <a:t>–  Vécu de terrain chez OPEN MOISE : pannes des parcs clients découvertes trop tard, souvent signalées par le client lui-même</a:t>
            </a:r>
          </a:p>
          <a:p>
            <a:pPr lvl="1">
              <a:spcAft>
                <a:spcPts val="800"/>
              </a:spcAft>
            </a:pPr>
            <a:r>
              <a:rPr sz="1700" b="0" i="0">
                <a:solidFill>
                  <a:srgbClr val="333333"/>
                </a:solidFill>
                <a:latin typeface="Calibri"/>
              </a:rPr>
              <a:t>–  Conviction : l'open-source permet d'industrialiser la supervision sans licence</a:t>
            </a:r>
          </a:p>
        </p:txBody>
      </p:sp>
      <p:sp>
        <p:nvSpPr>
          <p:cNvPr id="5" name="Rectangle 4"/>
          <p:cNvSpPr/>
          <p:nvPr/>
        </p:nvSpPr>
        <p:spPr>
          <a:xfrm>
            <a:off x="640080" y="5486400"/>
            <a:ext cx="109728"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5486400"/>
            <a:ext cx="10771632" cy="91440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Répondre à un besoin réel d'OPEN MOISE en alliant expertise réseau et démarche entrepreneuriale.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Structure d'accueil — OPEN MOISE</a:t>
            </a:r>
          </a:p>
        </p:txBody>
      </p:sp>
      <p:sp>
        <p:nvSpPr>
          <p:cNvPr id="4" name="TextBox 3"/>
          <p:cNvSpPr txBox="1"/>
          <p:nvPr/>
        </p:nvSpPr>
        <p:spPr>
          <a:xfrm>
            <a:off x="640080" y="1371600"/>
            <a:ext cx="10881360" cy="3291840"/>
          </a:xfrm>
          <a:prstGeom prst="rect">
            <a:avLst/>
          </a:prstGeom>
          <a:noFill/>
        </p:spPr>
        <p:txBody>
          <a:bodyPr wrap="square">
            <a:spAutoFit/>
          </a:bodyPr>
          <a:lstStyle/>
          <a:p>
            <a:pPr>
              <a:spcAft>
                <a:spcPts val="800"/>
              </a:spcAft>
            </a:pPr>
            <a:r>
              <a:rPr sz="2000" b="1" i="0">
                <a:solidFill>
                  <a:srgbClr val="0D3B66"/>
                </a:solidFill>
                <a:latin typeface="Calibri"/>
              </a:rPr>
              <a:t>•  OPEN MOISE — Entreprise de Services du Numérique (ESN)</a:t>
            </a:r>
          </a:p>
          <a:p>
            <a:pPr>
              <a:spcAft>
                <a:spcPts val="800"/>
              </a:spcAft>
            </a:pPr>
            <a:r>
              <a:rPr sz="2000" b="0" i="0">
                <a:solidFill>
                  <a:srgbClr val="333333"/>
                </a:solidFill>
                <a:latin typeface="Calibri"/>
              </a:rPr>
              <a:t/>
            </a:r>
          </a:p>
          <a:p>
            <a:pPr lvl="1">
              <a:spcAft>
                <a:spcPts val="800"/>
              </a:spcAft>
            </a:pPr>
            <a:r>
              <a:rPr sz="1800" b="0" i="0">
                <a:solidFill>
                  <a:srgbClr val="333333"/>
                </a:solidFill>
                <a:latin typeface="Calibri"/>
              </a:rPr>
              <a:t>–  Activités : infogérance, intégration réseau &amp; systèmes, développement, cybersécurité</a:t>
            </a:r>
          </a:p>
          <a:p>
            <a:pPr lvl="1">
              <a:spcAft>
                <a:spcPts val="800"/>
              </a:spcAft>
            </a:pPr>
            <a:r>
              <a:rPr sz="1800" b="0" i="0">
                <a:solidFill>
                  <a:srgbClr val="333333"/>
                </a:solidFill>
                <a:latin typeface="Calibri"/>
              </a:rPr>
              <a:t>–  Mission : garantir un SI performant, disponible et sécurisé à ses clients</a:t>
            </a:r>
          </a:p>
          <a:p>
            <a:pPr lvl="1">
              <a:spcAft>
                <a:spcPts val="800"/>
              </a:spcAft>
            </a:pPr>
            <a:r>
              <a:rPr sz="1800" b="0" i="0">
                <a:solidFill>
                  <a:srgbClr val="333333"/>
                </a:solidFill>
                <a:latin typeface="Calibri"/>
              </a:rPr>
              <a:t>–  [Effectif] collaborateurs · implantée à [ville] · depuis [année]</a:t>
            </a:r>
          </a:p>
          <a:p>
            <a:pPr lvl="1">
              <a:spcAft>
                <a:spcPts val="800"/>
              </a:spcAft>
            </a:pPr>
            <a:r>
              <a:rPr sz="1800" b="0" i="0">
                <a:solidFill>
                  <a:srgbClr val="333333"/>
                </a:solidFill>
                <a:latin typeface="Calibri"/>
              </a:rPr>
              <a:t>–  Projet mené au sein du [Pôle Infrastructures &amp; Supervision]</a:t>
            </a:r>
          </a:p>
        </p:txBody>
      </p:sp>
      <p:sp>
        <p:nvSpPr>
          <p:cNvPr id="5" name="Rectangle 4"/>
          <p:cNvSpPr/>
          <p:nvPr/>
        </p:nvSpPr>
        <p:spPr>
          <a:xfrm>
            <a:off x="640080" y="5029200"/>
            <a:ext cx="109728" cy="118872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5029200"/>
            <a:ext cx="10771632" cy="118872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ESN qui supervise les réseaux de ses clients, OPEN MOISE est directement concernée : ce projet est un outil interne stratégique pour tenir ses engagements de service (SLA) et maîtriser ses coûts.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1</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Contexte et identification du problème</a:t>
            </a:r>
          </a:p>
        </p:txBody>
      </p:sp>
      <p:sp>
        <p:nvSpPr>
          <p:cNvPr id="5" name="TextBox 4"/>
          <p:cNvSpPr txBox="1"/>
          <p:nvPr/>
        </p:nvSpPr>
        <p:spPr>
          <a:xfrm>
            <a:off x="640080" y="1371600"/>
            <a:ext cx="10881360" cy="4389120"/>
          </a:xfrm>
          <a:prstGeom prst="rect">
            <a:avLst/>
          </a:prstGeom>
          <a:noFill/>
        </p:spPr>
        <p:txBody>
          <a:bodyPr wrap="square">
            <a:spAutoFit/>
          </a:bodyPr>
          <a:lstStyle/>
          <a:p>
            <a:pPr>
              <a:spcAft>
                <a:spcPts val="800"/>
              </a:spcAft>
            </a:pPr>
            <a:r>
              <a:rPr sz="1900" b="0" i="0">
                <a:solidFill>
                  <a:srgbClr val="333333"/>
                </a:solidFill>
                <a:latin typeface="Calibri"/>
              </a:rPr>
              <a:t>•  Contexte : OPEN MOISE, ESN d'infogérance, exploite et supervise les réseaux de plusieurs clients, avec des engagements de disponibilité contractuels (SLA, « 99,9 % »).</a:t>
            </a:r>
          </a:p>
          <a:p>
            <a:pPr>
              <a:spcAft>
                <a:spcPts val="800"/>
              </a:spcAft>
            </a:pPr>
            <a:r>
              <a:rPr sz="1900" b="0" i="0">
                <a:solidFill>
                  <a:srgbClr val="333333"/>
                </a:solidFill>
                <a:latin typeface="Calibri"/>
              </a:rPr>
              <a:t/>
            </a:r>
          </a:p>
          <a:p>
            <a:pPr>
              <a:spcAft>
                <a:spcPts val="800"/>
              </a:spcAft>
            </a:pPr>
            <a:r>
              <a:rPr sz="1900" b="1" i="0">
                <a:solidFill>
                  <a:srgbClr val="0D3B66"/>
                </a:solidFill>
                <a:latin typeface="Calibri"/>
              </a:rPr>
              <a:t>•  Constat de terrain chez OPEN MOISE :</a:t>
            </a:r>
          </a:p>
          <a:p>
            <a:pPr lvl="1">
              <a:spcAft>
                <a:spcPts val="800"/>
              </a:spcAft>
            </a:pPr>
            <a:r>
              <a:rPr sz="1700" b="0" i="0">
                <a:solidFill>
                  <a:srgbClr val="333333"/>
                </a:solidFill>
                <a:latin typeface="Calibri"/>
              </a:rPr>
              <a:t>–  Supervision largement manuelle et épisodique (ping à la main)</a:t>
            </a:r>
          </a:p>
          <a:p>
            <a:pPr lvl="1">
              <a:spcAft>
                <a:spcPts val="800"/>
              </a:spcAft>
            </a:pPr>
            <a:r>
              <a:rPr sz="1700" b="0" i="0">
                <a:solidFill>
                  <a:srgbClr val="333333"/>
                </a:solidFill>
                <a:latin typeface="Calibri"/>
              </a:rPr>
              <a:t>–  Pannes des parcs clients signalées par le client → réaction tardive</a:t>
            </a:r>
          </a:p>
          <a:p>
            <a:pPr lvl="1">
              <a:spcAft>
                <a:spcPts val="800"/>
              </a:spcAft>
            </a:pPr>
            <a:r>
              <a:rPr sz="1700" b="0" i="0">
                <a:solidFill>
                  <a:srgbClr val="333333"/>
                </a:solidFill>
                <a:latin typeface="Calibri"/>
              </a:rPr>
              <a:t>–  Aucune traçabilité des incidents → SLA difficiles à prouver</a:t>
            </a:r>
          </a:p>
          <a:p>
            <a:pPr lvl="1">
              <a:spcAft>
                <a:spcPts val="800"/>
              </a:spcAft>
            </a:pPr>
            <a:r>
              <a:rPr sz="1700" b="0" i="0">
                <a:solidFill>
                  <a:srgbClr val="333333"/>
                </a:solidFill>
                <a:latin typeface="Calibri"/>
              </a:rPr>
              <a:t>–  Solutions du marché jugées trop chères ou trop lourdes à déployer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grpSpPr/>
      <p:sp>
        <p:nvSpPr>
          <p:cNvPr id="2" name="TextBox 1"/>
          <p:cNvSpPr txBox="1"/>
          <p:nvPr/>
        </p:nvSpPr>
        <p:spPr>
          <a:xfrm>
            <a:off x="457200" y="457200"/>
            <a:ext cx="11247120" cy="731520"/>
          </a:xfrm>
          <a:prstGeom prst="rect">
            <a:avLst/>
          </a:prstGeom>
          <a:noFill/>
        </p:spPr>
        <p:txBody>
          <a:bodyPr wrap="square">
            <a:spAutoFit/>
          </a:bodyPr>
          <a:lstStyle/>
          <a:p>
            <a:pPr algn="ctr"/>
            <a:r>
              <a:rPr sz="2400" b="1" i="0">
                <a:solidFill>
                  <a:srgbClr val="0D6EFD"/>
                </a:solidFill>
                <a:latin typeface="Calibri"/>
              </a:rPr>
              <a:t>LA PROBLÉMATIQUE</a:t>
            </a:r>
          </a:p>
        </p:txBody>
      </p:sp>
      <p:sp>
        <p:nvSpPr>
          <p:cNvPr id="3" name="Rectangle 2"/>
          <p:cNvSpPr/>
          <p:nvPr/>
        </p:nvSpPr>
        <p:spPr>
          <a:xfrm>
            <a:off x="914400" y="1554480"/>
            <a:ext cx="1033272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2100" b="1" i="1">
                <a:solidFill>
                  <a:srgbClr val="0D3B66"/>
                </a:solidFill>
                <a:latin typeface="Calibri"/>
              </a:rPr>
              <a:t>« Comment OPEN MOISE peut-elle détecter en temps réel les pannes des réseaux qu'elle supervise et réduire le temps d'intervention de ses équipes, à l'aide d'une solution automatisée, fiable et économiquement accessible ? »</a:t>
            </a:r>
          </a:p>
        </p:txBody>
      </p:sp>
      <p:sp>
        <p:nvSpPr>
          <p:cNvPr id="4" name="TextBox 3"/>
          <p:cNvSpPr txBox="1"/>
          <p:nvPr/>
        </p:nvSpPr>
        <p:spPr>
          <a:xfrm>
            <a:off x="914400" y="4206240"/>
            <a:ext cx="10332720" cy="2286000"/>
          </a:xfrm>
          <a:prstGeom prst="rect">
            <a:avLst/>
          </a:prstGeom>
          <a:noFill/>
        </p:spPr>
        <p:txBody>
          <a:bodyPr wrap="square">
            <a:spAutoFit/>
          </a:bodyPr>
          <a:lstStyle/>
          <a:p>
            <a:pPr>
              <a:spcAft>
                <a:spcPts val="800"/>
              </a:spcAft>
            </a:pPr>
            <a:r>
              <a:rPr sz="1800" b="1" i="0">
                <a:solidFill>
                  <a:srgbClr val="0D6EFD"/>
                </a:solidFill>
                <a:latin typeface="Calibri"/>
              </a:rPr>
              <a:t>Sous-questions :</a:t>
            </a:r>
          </a:p>
          <a:p>
            <a:pPr>
              <a:spcAft>
                <a:spcPts val="800"/>
              </a:spcAft>
            </a:pPr>
            <a:r>
              <a:rPr sz="1800" b="0" i="0">
                <a:solidFill>
                  <a:srgbClr val="FFFFFF"/>
                </a:solidFill>
                <a:latin typeface="Calibri"/>
              </a:rPr>
              <a:t>•  Comment automatiser une surveillance continue et fiable des parcs clients ?</a:t>
            </a:r>
          </a:p>
          <a:p>
            <a:pPr>
              <a:spcAft>
                <a:spcPts val="800"/>
              </a:spcAft>
            </a:pPr>
            <a:r>
              <a:rPr sz="1800" b="0" i="0">
                <a:solidFill>
                  <a:srgbClr val="FFFFFF"/>
                </a:solidFill>
                <a:latin typeface="Calibri"/>
              </a:rPr>
              <a:t>•  Comment alerter les équipes d'astreinte d'OPEN MOISE, où qu'elles soient ?</a:t>
            </a:r>
          </a:p>
          <a:p>
            <a:pPr>
              <a:spcAft>
                <a:spcPts val="800"/>
              </a:spcAft>
            </a:pPr>
            <a:r>
              <a:rPr sz="1800" b="0" i="0">
                <a:solidFill>
                  <a:srgbClr val="FFFFFF"/>
                </a:solidFill>
                <a:latin typeface="Calibri"/>
              </a:rPr>
              <a:t>•  Comment offrir cette valeur sans alourdir les coûts d'OPEN MOISE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2</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Objectifs et résultats attendus</a:t>
            </a:r>
          </a:p>
        </p:txBody>
      </p:sp>
      <p:graphicFrame>
        <p:nvGraphicFramePr>
          <p:cNvPr id="5" name="Table 4"/>
          <p:cNvGraphicFramePr>
            <a:graphicFrameLocks noGrp="1"/>
          </p:cNvGraphicFramePr>
          <p:nvPr/>
        </p:nvGraphicFramePr>
        <p:xfrm>
          <a:off x="640080" y="1371600"/>
          <a:ext cx="10881360" cy="3474720"/>
        </p:xfrm>
        <a:graphic>
          <a:graphicData uri="http://schemas.openxmlformats.org/drawingml/2006/table">
            <a:tbl>
              <a:tblPr firstRow="1" bandRow="1">
                <a:tableStyleId>{5C22544A-7EE6-4342-B048-85BDC9FD1C3A}</a:tableStyleId>
              </a:tblPr>
              <a:tblGrid>
                <a:gridCol w="5440680"/>
                <a:gridCol w="5440680"/>
              </a:tblGrid>
              <a:tr h="496388">
                <a:tc>
                  <a:txBody>
                    <a:bodyPr/>
                    <a:lstStyle/>
                    <a:p>
                      <a:pPr algn="ctr"/>
                      <a:r>
                        <a:rPr sz="1700" b="1" i="0">
                          <a:solidFill>
                            <a:srgbClr val="FFFFFF"/>
                          </a:solidFill>
                          <a:latin typeface="Calibri"/>
                        </a:rPr>
                        <a:t>Objectif</a:t>
                      </a:r>
                    </a:p>
                  </a:txBody>
                  <a:tcPr>
                    <a:solidFill>
                      <a:srgbClr val="0D3B66"/>
                    </a:solidFill>
                  </a:tcPr>
                </a:tc>
                <a:tc>
                  <a:txBody>
                    <a:bodyPr/>
                    <a:lstStyle/>
                    <a:p>
                      <a:pPr algn="ctr"/>
                      <a:r>
                        <a:rPr sz="1700" b="1" i="0">
                          <a:solidFill>
                            <a:srgbClr val="FFFFFF"/>
                          </a:solidFill>
                          <a:latin typeface="Calibri"/>
                        </a:rPr>
                        <a:t>Résultat attendu (indicateur)</a:t>
                      </a:r>
                    </a:p>
                  </a:txBody>
                  <a:tcPr>
                    <a:solidFill>
                      <a:srgbClr val="0D3B66"/>
                    </a:solidFill>
                  </a:tcPr>
                </a:tc>
              </a:tr>
              <a:tr h="496388">
                <a:tc>
                  <a:txBody>
                    <a:bodyPr/>
                    <a:lstStyle/>
                    <a:p>
                      <a:pPr algn="l"/>
                      <a:r>
                        <a:rPr sz="1700" b="0" i="0">
                          <a:solidFill>
                            <a:srgbClr val="333333"/>
                          </a:solidFill>
                          <a:latin typeface="Calibri"/>
                        </a:rPr>
                        <a:t>Détecter les pannes en temps réel</a:t>
                      </a:r>
                    </a:p>
                  </a:txBody>
                  <a:tcPr>
                    <a:solidFill>
                      <a:srgbClr val="FFFFFF"/>
                    </a:solidFill>
                  </a:tcPr>
                </a:tc>
                <a:tc>
                  <a:txBody>
                    <a:bodyPr/>
                    <a:lstStyle/>
                    <a:p>
                      <a:pPr algn="ctr"/>
                      <a:r>
                        <a:rPr sz="1700" b="1" i="0">
                          <a:solidFill>
                            <a:srgbClr val="198754"/>
                          </a:solidFill>
                          <a:latin typeface="Calibri"/>
                        </a:rPr>
                        <a:t>MTTD &lt; 2 min  (vs ~60 min)</a:t>
                      </a:r>
                    </a:p>
                  </a:txBody>
                  <a:tcPr>
                    <a:solidFill>
                      <a:srgbClr val="FFFFFF"/>
                    </a:solidFill>
                  </a:tcPr>
                </a:tc>
              </a:tr>
              <a:tr h="496388">
                <a:tc>
                  <a:txBody>
                    <a:bodyPr/>
                    <a:lstStyle/>
                    <a:p>
                      <a:pPr algn="l"/>
                      <a:r>
                        <a:rPr sz="1700" b="0" i="0">
                          <a:solidFill>
                            <a:srgbClr val="333333"/>
                          </a:solidFill>
                          <a:latin typeface="Calibri"/>
                        </a:rPr>
                        <a:t>Alerter instantanément</a:t>
                      </a:r>
                    </a:p>
                  </a:txBody>
                  <a:tcPr>
                    <a:solidFill>
                      <a:srgbClr val="F1F3F5"/>
                    </a:solidFill>
                  </a:tcPr>
                </a:tc>
                <a:tc>
                  <a:txBody>
                    <a:bodyPr/>
                    <a:lstStyle/>
                    <a:p>
                      <a:pPr algn="ctr"/>
                      <a:r>
                        <a:rPr sz="1700" b="1" i="0">
                          <a:solidFill>
                            <a:srgbClr val="198754"/>
                          </a:solidFill>
                          <a:latin typeface="Calibri"/>
                        </a:rPr>
                        <a:t>MTTR &lt; 5 min  (vs ~45 min)</a:t>
                      </a:r>
                    </a:p>
                  </a:txBody>
                  <a:tcPr>
                    <a:solidFill>
                      <a:srgbClr val="F1F3F5"/>
                    </a:solidFill>
                  </a:tcPr>
                </a:tc>
              </a:tr>
              <a:tr h="496388">
                <a:tc>
                  <a:txBody>
                    <a:bodyPr/>
                    <a:lstStyle/>
                    <a:p>
                      <a:pPr algn="l"/>
                      <a:r>
                        <a:rPr sz="1700" b="0" i="0">
                          <a:solidFill>
                            <a:srgbClr val="333333"/>
                          </a:solidFill>
                          <a:latin typeface="Calibri"/>
                        </a:rPr>
                        <a:t>Automatiser la surveillance</a:t>
                      </a:r>
                    </a:p>
                  </a:txBody>
                  <a:tcPr>
                    <a:solidFill>
                      <a:srgbClr val="FFFFFF"/>
                    </a:solidFill>
                  </a:tcPr>
                </a:tc>
                <a:tc>
                  <a:txBody>
                    <a:bodyPr/>
                    <a:lstStyle/>
                    <a:p>
                      <a:pPr algn="ctr"/>
                      <a:r>
                        <a:rPr sz="1700" b="1" i="0">
                          <a:solidFill>
                            <a:srgbClr val="198754"/>
                          </a:solidFill>
                          <a:latin typeface="Calibri"/>
                        </a:rPr>
                        <a:t>0 intervention humaine sur la collecte</a:t>
                      </a:r>
                    </a:p>
                  </a:txBody>
                  <a:tcPr>
                    <a:solidFill>
                      <a:srgbClr val="FFFFFF"/>
                    </a:solidFill>
                  </a:tcPr>
                </a:tc>
              </a:tr>
              <a:tr h="496388">
                <a:tc>
                  <a:txBody>
                    <a:bodyPr/>
                    <a:lstStyle/>
                    <a:p>
                      <a:pPr algn="l"/>
                      <a:r>
                        <a:rPr sz="1700" b="0" i="0">
                          <a:solidFill>
                            <a:srgbClr val="333333"/>
                          </a:solidFill>
                          <a:latin typeface="Calibri"/>
                        </a:rPr>
                        <a:t>Assurer la traçabilité</a:t>
                      </a:r>
                    </a:p>
                  </a:txBody>
                  <a:tcPr>
                    <a:solidFill>
                      <a:srgbClr val="F1F3F5"/>
                    </a:solidFill>
                  </a:tcPr>
                </a:tc>
                <a:tc>
                  <a:txBody>
                    <a:bodyPr/>
                    <a:lstStyle/>
                    <a:p>
                      <a:pPr algn="ctr"/>
                      <a:r>
                        <a:rPr sz="1700" b="1" i="0">
                          <a:solidFill>
                            <a:srgbClr val="198754"/>
                          </a:solidFill>
                          <a:latin typeface="Calibri"/>
                        </a:rPr>
                        <a:t>100 % des événements journalisés</a:t>
                      </a:r>
                    </a:p>
                  </a:txBody>
                  <a:tcPr>
                    <a:solidFill>
                      <a:srgbClr val="F1F3F5"/>
                    </a:solidFill>
                  </a:tcPr>
                </a:tc>
              </a:tr>
              <a:tr h="496388">
                <a:tc>
                  <a:txBody>
                    <a:bodyPr/>
                    <a:lstStyle/>
                    <a:p>
                      <a:pPr algn="l"/>
                      <a:r>
                        <a:rPr sz="1700" b="0" i="0">
                          <a:solidFill>
                            <a:srgbClr val="333333"/>
                          </a:solidFill>
                          <a:latin typeface="Calibri"/>
                        </a:rPr>
                        <a:t>Améliorer la disponibilité</a:t>
                      </a:r>
                    </a:p>
                  </a:txBody>
                  <a:tcPr>
                    <a:solidFill>
                      <a:srgbClr val="FFFFFF"/>
                    </a:solidFill>
                  </a:tcPr>
                </a:tc>
                <a:tc>
                  <a:txBody>
                    <a:bodyPr/>
                    <a:lstStyle/>
                    <a:p>
                      <a:pPr algn="ctr"/>
                      <a:r>
                        <a:rPr sz="1700" b="1" i="0">
                          <a:solidFill>
                            <a:srgbClr val="198754"/>
                          </a:solidFill>
                          <a:latin typeface="Calibri"/>
                        </a:rPr>
                        <a:t>+2 pts  (~97,5 % → ~99,5 %)</a:t>
                      </a:r>
                    </a:p>
                  </a:txBody>
                  <a:tcPr>
                    <a:solidFill>
                      <a:srgbClr val="FFFFFF"/>
                    </a:solidFill>
                  </a:tcPr>
                </a:tc>
              </a:tr>
              <a:tr h="496392">
                <a:tc>
                  <a:txBody>
                    <a:bodyPr/>
                    <a:lstStyle/>
                    <a:p>
                      <a:pPr algn="l"/>
                      <a:r>
                        <a:rPr sz="1700" b="0" i="0">
                          <a:solidFill>
                            <a:srgbClr val="333333"/>
                          </a:solidFill>
                          <a:latin typeface="Calibri"/>
                        </a:rPr>
                        <a:t>Maîtriser le coût</a:t>
                      </a:r>
                    </a:p>
                  </a:txBody>
                  <a:tcPr>
                    <a:solidFill>
                      <a:srgbClr val="F1F3F5"/>
                    </a:solidFill>
                  </a:tcPr>
                </a:tc>
                <a:tc>
                  <a:txBody>
                    <a:bodyPr/>
                    <a:lstStyle/>
                    <a:p>
                      <a:pPr algn="ctr"/>
                      <a:r>
                        <a:rPr sz="1700" b="1" i="0">
                          <a:solidFill>
                            <a:srgbClr val="198754"/>
                          </a:solidFill>
                          <a:latin typeface="Calibri"/>
                        </a:rPr>
                        <a:t>0 € de licence (open-source)</a:t>
                      </a:r>
                    </a:p>
                  </a:txBody>
                  <a:tcPr>
                    <a:solidFill>
                      <a:srgbClr val="F1F3F5"/>
                    </a:solidFill>
                  </a:tcPr>
                </a:tc>
              </a:tr>
            </a:tbl>
          </a:graphicData>
        </a:graphic>
      </p:graphicFrame>
      <p:sp>
        <p:nvSpPr>
          <p:cNvPr id="6" name="Rectangle 5"/>
          <p:cNvSpPr/>
          <p:nvPr/>
        </p:nvSpPr>
        <p:spPr>
          <a:xfrm>
            <a:off x="640080" y="5212080"/>
            <a:ext cx="109728" cy="10058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5212080"/>
            <a:ext cx="10771632" cy="100584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Objectif général : doter OPEN MOISE d'un outil fonctionnel, mesurablement plus performant que sa supervision manuelle actuelle, pour un coût négligeable.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3</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Démarche méthodologique</a:t>
            </a:r>
          </a:p>
        </p:txBody>
      </p:sp>
      <p:sp>
        <p:nvSpPr>
          <p:cNvPr id="5" name="TextBox 4"/>
          <p:cNvSpPr txBox="1"/>
          <p:nvPr/>
        </p:nvSpPr>
        <p:spPr>
          <a:xfrm>
            <a:off x="640080" y="1371600"/>
            <a:ext cx="10881360" cy="1645920"/>
          </a:xfrm>
          <a:prstGeom prst="rect">
            <a:avLst/>
          </a:prstGeom>
          <a:noFill/>
        </p:spPr>
        <p:txBody>
          <a:bodyPr wrap="square">
            <a:spAutoFit/>
          </a:bodyPr>
          <a:lstStyle/>
          <a:p>
            <a:pPr>
              <a:spcAft>
                <a:spcPts val="800"/>
              </a:spcAft>
            </a:pPr>
            <a:r>
              <a:rPr sz="2000" b="0" i="0">
                <a:solidFill>
                  <a:srgbClr val="333333"/>
                </a:solidFill>
                <a:latin typeface="Calibri"/>
              </a:rPr>
              <a:t>•  Type : recherche appliquée / expérimentale — paradigme Design Science (on conçoit un artefact et on MESURE son efficacité).</a:t>
            </a:r>
          </a:p>
          <a:p>
            <a:pPr>
              <a:spcAft>
                <a:spcPts val="800"/>
              </a:spcAft>
            </a:pPr>
            <a:r>
              <a:rPr sz="2000" b="0" i="0">
                <a:solidFill>
                  <a:srgbClr val="333333"/>
                </a:solidFill>
                <a:latin typeface="Calibri"/>
              </a:rPr>
              <a:t/>
            </a:r>
          </a:p>
          <a:p>
            <a:pPr>
              <a:spcAft>
                <a:spcPts val="800"/>
              </a:spcAft>
            </a:pPr>
            <a:r>
              <a:rPr sz="2000" b="1" i="0">
                <a:solidFill>
                  <a:srgbClr val="0D3B66"/>
                </a:solidFill>
                <a:latin typeface="Calibri"/>
              </a:rPr>
              <a:t>•  Cycle de travail itératif (inspiré DevOps) :</a:t>
            </a:r>
          </a:p>
        </p:txBody>
      </p:sp>
      <p:sp>
        <p:nvSpPr>
          <p:cNvPr id="6" name="Rectangle 5"/>
          <p:cNvSpPr/>
          <p:nvPr/>
        </p:nvSpPr>
        <p:spPr>
          <a:xfrm>
            <a:off x="822960" y="3200400"/>
            <a:ext cx="10515600" cy="82296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0D3B66"/>
                </a:solidFill>
                <a:latin typeface="Calibri"/>
              </a:rPr>
              <a:t>Analyse → Conception (UML/MERISE) → Développement → Test → Intégration → Mesure</a:t>
            </a:r>
          </a:p>
        </p:txBody>
      </p:sp>
      <p:sp>
        <p:nvSpPr>
          <p:cNvPr id="7" name="TextBox 6"/>
          <p:cNvSpPr txBox="1"/>
          <p:nvPr/>
        </p:nvSpPr>
        <p:spPr>
          <a:xfrm>
            <a:off x="640080" y="4297680"/>
            <a:ext cx="10881360" cy="1463040"/>
          </a:xfrm>
          <a:prstGeom prst="rect">
            <a:avLst/>
          </a:prstGeom>
          <a:noFill/>
        </p:spPr>
        <p:txBody>
          <a:bodyPr wrap="square">
            <a:spAutoFit/>
          </a:bodyPr>
          <a:lstStyle/>
          <a:p>
            <a:pPr>
              <a:spcAft>
                <a:spcPts val="800"/>
              </a:spcAft>
            </a:pPr>
            <a:r>
              <a:rPr sz="1900" b="0" i="0">
                <a:solidFill>
                  <a:srgbClr val="333333"/>
                </a:solidFill>
                <a:latin typeface="Calibri"/>
              </a:rPr>
              <a:t>•  Outils &amp; livrables : recherche documentaire · observation terrain · prototypage · collecte automatisée des métriques (journaux) · comparaison avant/après (manuel vs automatisé).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4</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État des lieux des solutions existantes</a:t>
            </a:r>
          </a:p>
        </p:txBody>
      </p:sp>
      <p:graphicFrame>
        <p:nvGraphicFramePr>
          <p:cNvPr id="5" name="Table 4"/>
          <p:cNvGraphicFramePr>
            <a:graphicFrameLocks noGrp="1"/>
          </p:cNvGraphicFramePr>
          <p:nvPr/>
        </p:nvGraphicFramePr>
        <p:xfrm>
          <a:off x="640080" y="1371600"/>
          <a:ext cx="10881360" cy="3108960"/>
        </p:xfrm>
        <a:graphic>
          <a:graphicData uri="http://schemas.openxmlformats.org/drawingml/2006/table">
            <a:tbl>
              <a:tblPr firstRow="1" bandRow="1">
                <a:tableStyleId>{5C22544A-7EE6-4342-B048-85BDC9FD1C3A}</a:tableStyleId>
              </a:tblPr>
              <a:tblGrid>
                <a:gridCol w="2720340"/>
                <a:gridCol w="2720340"/>
                <a:gridCol w="2720340"/>
                <a:gridCol w="2720340"/>
              </a:tblGrid>
              <a:tr h="518160">
                <a:tc>
                  <a:txBody>
                    <a:bodyPr/>
                    <a:lstStyle/>
                    <a:p>
                      <a:pPr algn="ctr"/>
                      <a:r>
                        <a:rPr sz="1500" b="1" i="0">
                          <a:solidFill>
                            <a:srgbClr val="FFFFFF"/>
                          </a:solidFill>
                          <a:latin typeface="Calibri"/>
                        </a:rPr>
                        <a:t>Solution</a:t>
                      </a:r>
                    </a:p>
                  </a:txBody>
                  <a:tcPr>
                    <a:solidFill>
                      <a:srgbClr val="0D3B66"/>
                    </a:solidFill>
                  </a:tcPr>
                </a:tc>
                <a:tc>
                  <a:txBody>
                    <a:bodyPr/>
                    <a:lstStyle/>
                    <a:p>
                      <a:pPr algn="ctr"/>
                      <a:r>
                        <a:rPr sz="1500" b="1" i="0">
                          <a:solidFill>
                            <a:srgbClr val="FFFFFF"/>
                          </a:solidFill>
                          <a:latin typeface="Calibri"/>
                        </a:rPr>
                        <a:t>Type</a:t>
                      </a:r>
                    </a:p>
                  </a:txBody>
                  <a:tcPr>
                    <a:solidFill>
                      <a:srgbClr val="0D3B66"/>
                    </a:solidFill>
                  </a:tcPr>
                </a:tc>
                <a:tc>
                  <a:txBody>
                    <a:bodyPr/>
                    <a:lstStyle/>
                    <a:p>
                      <a:pPr algn="ctr"/>
                      <a:r>
                        <a:rPr sz="1500" b="1" i="0">
                          <a:solidFill>
                            <a:srgbClr val="FFFFFF"/>
                          </a:solidFill>
                          <a:latin typeface="Calibri"/>
                        </a:rPr>
                        <a:t>Atout</a:t>
                      </a:r>
                    </a:p>
                  </a:txBody>
                  <a:tcPr>
                    <a:solidFill>
                      <a:srgbClr val="0D3B66"/>
                    </a:solidFill>
                  </a:tcPr>
                </a:tc>
                <a:tc>
                  <a:txBody>
                    <a:bodyPr/>
                    <a:lstStyle/>
                    <a:p>
                      <a:pPr algn="ctr"/>
                      <a:r>
                        <a:rPr sz="1500" b="1" i="0">
                          <a:solidFill>
                            <a:srgbClr val="FFFFFF"/>
                          </a:solidFill>
                          <a:latin typeface="Calibri"/>
                        </a:rPr>
                        <a:t>Frein majeur</a:t>
                      </a:r>
                    </a:p>
                  </a:txBody>
                  <a:tcPr>
                    <a:solidFill>
                      <a:srgbClr val="0D3B66"/>
                    </a:solidFill>
                  </a:tcPr>
                </a:tc>
              </a:tr>
              <a:tr h="518160">
                <a:tc>
                  <a:txBody>
                    <a:bodyPr/>
                    <a:lstStyle/>
                    <a:p>
                      <a:pPr algn="l"/>
                      <a:r>
                        <a:rPr sz="1500" b="0" i="0">
                          <a:solidFill>
                            <a:srgbClr val="333333"/>
                          </a:solidFill>
                          <a:latin typeface="Calibri"/>
                        </a:rPr>
                        <a:t>Nagios</a:t>
                      </a:r>
                    </a:p>
                  </a:txBody>
                  <a:tcPr>
                    <a:solidFill>
                      <a:srgbClr val="FFFFFF"/>
                    </a:solidFill>
                  </a:tcPr>
                </a:tc>
                <a:tc>
                  <a:txBody>
                    <a:bodyPr/>
                    <a:lstStyle/>
                    <a:p>
                      <a:pPr algn="ctr"/>
                      <a:r>
                        <a:rPr sz="1500" b="0" i="0">
                          <a:solidFill>
                            <a:srgbClr val="333333"/>
                          </a:solidFill>
                          <a:latin typeface="Calibri"/>
                        </a:rPr>
                        <a:t>Open-source</a:t>
                      </a:r>
                    </a:p>
                  </a:txBody>
                  <a:tcPr>
                    <a:solidFill>
                      <a:srgbClr val="FFFFFF"/>
                    </a:solidFill>
                  </a:tcPr>
                </a:tc>
                <a:tc>
                  <a:txBody>
                    <a:bodyPr/>
                    <a:lstStyle/>
                    <a:p>
                      <a:pPr algn="ctr"/>
                      <a:r>
                        <a:rPr sz="1500" b="0" i="0">
                          <a:solidFill>
                            <a:srgbClr val="333333"/>
                          </a:solidFill>
                          <a:latin typeface="Calibri"/>
                        </a:rPr>
                        <a:t>Éprouvé, extensible</a:t>
                      </a:r>
                    </a:p>
                  </a:txBody>
                  <a:tcPr>
                    <a:solidFill>
                      <a:srgbClr val="FFFFFF"/>
                    </a:solidFill>
                  </a:tcPr>
                </a:tc>
                <a:tc>
                  <a:txBody>
                    <a:bodyPr/>
                    <a:lstStyle/>
                    <a:p>
                      <a:pPr algn="ctr"/>
                      <a:r>
                        <a:rPr sz="1500" b="0" i="0">
                          <a:solidFill>
                            <a:srgbClr val="333333"/>
                          </a:solidFill>
                          <a:latin typeface="Calibri"/>
                        </a:rPr>
                        <a:t>Config. complexe</a:t>
                      </a:r>
                    </a:p>
                  </a:txBody>
                  <a:tcPr>
                    <a:solidFill>
                      <a:srgbClr val="FFFFFF"/>
                    </a:solidFill>
                  </a:tcPr>
                </a:tc>
              </a:tr>
              <a:tr h="518160">
                <a:tc>
                  <a:txBody>
                    <a:bodyPr/>
                    <a:lstStyle/>
                    <a:p>
                      <a:pPr algn="l"/>
                      <a:r>
                        <a:rPr sz="1500" b="0" i="0">
                          <a:solidFill>
                            <a:srgbClr val="333333"/>
                          </a:solidFill>
                          <a:latin typeface="Calibri"/>
                        </a:rPr>
                        <a:t>Zabbix</a:t>
                      </a:r>
                    </a:p>
                  </a:txBody>
                  <a:tcPr>
                    <a:solidFill>
                      <a:srgbClr val="F1F3F5"/>
                    </a:solidFill>
                  </a:tcPr>
                </a:tc>
                <a:tc>
                  <a:txBody>
                    <a:bodyPr/>
                    <a:lstStyle/>
                    <a:p>
                      <a:pPr algn="ctr"/>
                      <a:r>
                        <a:rPr sz="1500" b="0" i="0">
                          <a:solidFill>
                            <a:srgbClr val="333333"/>
                          </a:solidFill>
                          <a:latin typeface="Calibri"/>
                        </a:rPr>
                        <a:t>Open-source</a:t>
                      </a:r>
                    </a:p>
                  </a:txBody>
                  <a:tcPr>
                    <a:solidFill>
                      <a:srgbClr val="F1F3F5"/>
                    </a:solidFill>
                  </a:tcPr>
                </a:tc>
                <a:tc>
                  <a:txBody>
                    <a:bodyPr/>
                    <a:lstStyle/>
                    <a:p>
                      <a:pPr algn="ctr"/>
                      <a:r>
                        <a:rPr sz="1500" b="0" i="0">
                          <a:solidFill>
                            <a:srgbClr val="333333"/>
                          </a:solidFill>
                          <a:latin typeface="Calibri"/>
                        </a:rPr>
                        <a:t>Très complet</a:t>
                      </a:r>
                    </a:p>
                  </a:txBody>
                  <a:tcPr>
                    <a:solidFill>
                      <a:srgbClr val="F1F3F5"/>
                    </a:solidFill>
                  </a:tcPr>
                </a:tc>
                <a:tc>
                  <a:txBody>
                    <a:bodyPr/>
                    <a:lstStyle/>
                    <a:p>
                      <a:pPr algn="ctr"/>
                      <a:r>
                        <a:rPr sz="1500" b="0" i="0">
                          <a:solidFill>
                            <a:srgbClr val="333333"/>
                          </a:solidFill>
                          <a:latin typeface="Calibri"/>
                        </a:rPr>
                        <a:t>Gourmand en ressources</a:t>
                      </a:r>
                    </a:p>
                  </a:txBody>
                  <a:tcPr>
                    <a:solidFill>
                      <a:srgbClr val="F1F3F5"/>
                    </a:solidFill>
                  </a:tcPr>
                </a:tc>
              </a:tr>
              <a:tr h="518160">
                <a:tc>
                  <a:txBody>
                    <a:bodyPr/>
                    <a:lstStyle/>
                    <a:p>
                      <a:pPr algn="l"/>
                      <a:r>
                        <a:rPr sz="1500" b="0" i="0">
                          <a:solidFill>
                            <a:srgbClr val="333333"/>
                          </a:solidFill>
                          <a:latin typeface="Calibri"/>
                        </a:rPr>
                        <a:t>Centreon</a:t>
                      </a:r>
                    </a:p>
                  </a:txBody>
                  <a:tcPr>
                    <a:solidFill>
                      <a:srgbClr val="FFFFFF"/>
                    </a:solidFill>
                  </a:tcPr>
                </a:tc>
                <a:tc>
                  <a:txBody>
                    <a:bodyPr/>
                    <a:lstStyle/>
                    <a:p>
                      <a:pPr algn="ctr"/>
                      <a:r>
                        <a:rPr sz="1500" b="0" i="0">
                          <a:solidFill>
                            <a:srgbClr val="333333"/>
                          </a:solidFill>
                          <a:latin typeface="Calibri"/>
                        </a:rPr>
                        <a:t>Mixte</a:t>
                      </a:r>
                    </a:p>
                  </a:txBody>
                  <a:tcPr>
                    <a:solidFill>
                      <a:srgbClr val="FFFFFF"/>
                    </a:solidFill>
                  </a:tcPr>
                </a:tc>
                <a:tc>
                  <a:txBody>
                    <a:bodyPr/>
                    <a:lstStyle/>
                    <a:p>
                      <a:pPr algn="ctr"/>
                      <a:r>
                        <a:rPr sz="1500" b="0" i="0">
                          <a:solidFill>
                            <a:srgbClr val="333333"/>
                          </a:solidFill>
                          <a:latin typeface="Calibri"/>
                        </a:rPr>
                        <a:t>Interface soignée</a:t>
                      </a:r>
                    </a:p>
                  </a:txBody>
                  <a:tcPr>
                    <a:solidFill>
                      <a:srgbClr val="FFFFFF"/>
                    </a:solidFill>
                  </a:tcPr>
                </a:tc>
                <a:tc>
                  <a:txBody>
                    <a:bodyPr/>
                    <a:lstStyle/>
                    <a:p>
                      <a:pPr algn="ctr"/>
                      <a:r>
                        <a:rPr sz="1500" b="0" i="0">
                          <a:solidFill>
                            <a:srgbClr val="333333"/>
                          </a:solidFill>
                          <a:latin typeface="Calibri"/>
                        </a:rPr>
                        <a:t>Modules avancés payants</a:t>
                      </a:r>
                    </a:p>
                  </a:txBody>
                  <a:tcPr>
                    <a:solidFill>
                      <a:srgbClr val="FFFFFF"/>
                    </a:solidFill>
                  </a:tcPr>
                </a:tc>
              </a:tr>
              <a:tr h="518160">
                <a:tc>
                  <a:txBody>
                    <a:bodyPr/>
                    <a:lstStyle/>
                    <a:p>
                      <a:pPr algn="l"/>
                      <a:r>
                        <a:rPr sz="1500" b="0" i="0">
                          <a:solidFill>
                            <a:srgbClr val="333333"/>
                          </a:solidFill>
                          <a:latin typeface="Calibri"/>
                        </a:rPr>
                        <a:t>PRTG</a:t>
                      </a:r>
                    </a:p>
                  </a:txBody>
                  <a:tcPr>
                    <a:solidFill>
                      <a:srgbClr val="F1F3F5"/>
                    </a:solidFill>
                  </a:tcPr>
                </a:tc>
                <a:tc>
                  <a:txBody>
                    <a:bodyPr/>
                    <a:lstStyle/>
                    <a:p>
                      <a:pPr algn="ctr"/>
                      <a:r>
                        <a:rPr sz="1500" b="0" i="0">
                          <a:solidFill>
                            <a:srgbClr val="333333"/>
                          </a:solidFill>
                          <a:latin typeface="Calibri"/>
                        </a:rPr>
                        <a:t>Propriétaire</a:t>
                      </a:r>
                    </a:p>
                  </a:txBody>
                  <a:tcPr>
                    <a:solidFill>
                      <a:srgbClr val="F1F3F5"/>
                    </a:solidFill>
                  </a:tcPr>
                </a:tc>
                <a:tc>
                  <a:txBody>
                    <a:bodyPr/>
                    <a:lstStyle/>
                    <a:p>
                      <a:pPr algn="ctr"/>
                      <a:r>
                        <a:rPr sz="1500" b="0" i="0">
                          <a:solidFill>
                            <a:srgbClr val="333333"/>
                          </a:solidFill>
                          <a:latin typeface="Calibri"/>
                        </a:rPr>
                        <a:t>Simple</a:t>
                      </a:r>
                    </a:p>
                  </a:txBody>
                  <a:tcPr>
                    <a:solidFill>
                      <a:srgbClr val="F1F3F5"/>
                    </a:solidFill>
                  </a:tcPr>
                </a:tc>
                <a:tc>
                  <a:txBody>
                    <a:bodyPr/>
                    <a:lstStyle/>
                    <a:p>
                      <a:pPr algn="ctr"/>
                      <a:r>
                        <a:rPr sz="1500" b="0" i="0">
                          <a:solidFill>
                            <a:srgbClr val="333333"/>
                          </a:solidFill>
                          <a:latin typeface="Calibri"/>
                        </a:rPr>
                        <a:t>Payant, Windows</a:t>
                      </a:r>
                    </a:p>
                  </a:txBody>
                  <a:tcPr>
                    <a:solidFill>
                      <a:srgbClr val="F1F3F5"/>
                    </a:solidFill>
                  </a:tcPr>
                </a:tc>
              </a:tr>
              <a:tr h="518160">
                <a:tc>
                  <a:txBody>
                    <a:bodyPr/>
                    <a:lstStyle/>
                    <a:p>
                      <a:pPr algn="l"/>
                      <a:r>
                        <a:rPr sz="1500" b="0" i="0">
                          <a:solidFill>
                            <a:srgbClr val="333333"/>
                          </a:solidFill>
                          <a:latin typeface="Calibri"/>
                        </a:rPr>
                        <a:t>SolarWinds</a:t>
                      </a:r>
                    </a:p>
                  </a:txBody>
                  <a:tcPr>
                    <a:solidFill>
                      <a:srgbClr val="FFFFFF"/>
                    </a:solidFill>
                  </a:tcPr>
                </a:tc>
                <a:tc>
                  <a:txBody>
                    <a:bodyPr/>
                    <a:lstStyle/>
                    <a:p>
                      <a:pPr algn="ctr"/>
                      <a:r>
                        <a:rPr sz="1500" b="0" i="0">
                          <a:solidFill>
                            <a:srgbClr val="333333"/>
                          </a:solidFill>
                          <a:latin typeface="Calibri"/>
                        </a:rPr>
                        <a:t>Propriétaire</a:t>
                      </a:r>
                    </a:p>
                  </a:txBody>
                  <a:tcPr>
                    <a:solidFill>
                      <a:srgbClr val="FFFFFF"/>
                    </a:solidFill>
                  </a:tcPr>
                </a:tc>
                <a:tc>
                  <a:txBody>
                    <a:bodyPr/>
                    <a:lstStyle/>
                    <a:p>
                      <a:pPr algn="ctr"/>
                      <a:r>
                        <a:rPr sz="1500" b="0" i="0">
                          <a:solidFill>
                            <a:srgbClr val="333333"/>
                          </a:solidFill>
                          <a:latin typeface="Calibri"/>
                        </a:rPr>
                        <a:t>Haut de gamme</a:t>
                      </a:r>
                    </a:p>
                  </a:txBody>
                  <a:tcPr>
                    <a:solidFill>
                      <a:srgbClr val="FFFFFF"/>
                    </a:solidFill>
                  </a:tcPr>
                </a:tc>
                <a:tc>
                  <a:txBody>
                    <a:bodyPr/>
                    <a:lstStyle/>
                    <a:p>
                      <a:pPr algn="ctr"/>
                      <a:r>
                        <a:rPr sz="1500" b="0" i="0">
                          <a:solidFill>
                            <a:srgbClr val="333333"/>
                          </a:solidFill>
                          <a:latin typeface="Calibri"/>
                        </a:rPr>
                        <a:t>Très coûteux</a:t>
                      </a:r>
                    </a:p>
                  </a:txBody>
                  <a:tcPr>
                    <a:solidFill>
                      <a:srgbClr val="FFFFFF"/>
                    </a:solidFill>
                  </a:tcPr>
                </a:tc>
              </a:tr>
            </a:tbl>
          </a:graphicData>
        </a:graphic>
      </p:graphicFrame>
      <p:sp>
        <p:nvSpPr>
          <p:cNvPr id="6" name="Rectangle 5"/>
          <p:cNvSpPr/>
          <p:nvPr/>
        </p:nvSpPr>
        <p:spPr>
          <a:xfrm>
            <a:off x="640080" y="4937760"/>
            <a:ext cx="109728" cy="10058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4937760"/>
            <a:ext cx="10771632" cy="100584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Le vide identifié : rien de léger + gratuit + simple + sur mesure, avec notification mobile native, adapté à OPEN MOISE et à ses clients PME.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4</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Solution proposée</a:t>
            </a:r>
          </a:p>
        </p:txBody>
      </p:sp>
      <p:sp>
        <p:nvSpPr>
          <p:cNvPr id="5" name="TextBox 4"/>
          <p:cNvSpPr txBox="1"/>
          <p:nvPr/>
        </p:nvSpPr>
        <p:spPr>
          <a:xfrm>
            <a:off x="640080" y="1371600"/>
            <a:ext cx="10881360" cy="3291840"/>
          </a:xfrm>
          <a:prstGeom prst="rect">
            <a:avLst/>
          </a:prstGeom>
          <a:noFill/>
        </p:spPr>
        <p:txBody>
          <a:bodyPr wrap="square">
            <a:spAutoFit/>
          </a:bodyPr>
          <a:lstStyle/>
          <a:p>
            <a:pPr>
              <a:spcAft>
                <a:spcPts val="800"/>
              </a:spcAft>
            </a:pPr>
            <a:r>
              <a:rPr sz="1900" b="1" i="0">
                <a:solidFill>
                  <a:srgbClr val="0D3B66"/>
                </a:solidFill>
                <a:latin typeface="Calibri"/>
              </a:rPr>
              <a:t>•  Un outil de supervision pour OPEN MOISE, automatisé, modulaire et 100 % open-source, qui :</a:t>
            </a:r>
          </a:p>
          <a:p>
            <a:pPr lvl="1">
              <a:spcAft>
                <a:spcPts val="800"/>
              </a:spcAft>
            </a:pPr>
            <a:r>
              <a:rPr sz="1700" b="0" i="0">
                <a:solidFill>
                  <a:srgbClr val="333333"/>
                </a:solidFill>
                <a:latin typeface="Calibri"/>
              </a:rPr>
              <a:t>–  découvre automatiquement les équipements des réseaux clients</a:t>
            </a:r>
          </a:p>
          <a:p>
            <a:pPr lvl="1">
              <a:spcAft>
                <a:spcPts val="800"/>
              </a:spcAft>
            </a:pPr>
            <a:r>
              <a:rPr sz="1700" b="0" i="0">
                <a:solidFill>
                  <a:srgbClr val="333333"/>
                </a:solidFill>
                <a:latin typeface="Calibri"/>
              </a:rPr>
              <a:t>–  sonde en continu la disponibilité (ICMP) et les services (TCP)</a:t>
            </a:r>
          </a:p>
          <a:p>
            <a:pPr lvl="1">
              <a:spcAft>
                <a:spcPts val="800"/>
              </a:spcAft>
            </a:pPr>
            <a:r>
              <a:rPr sz="1700" b="0" i="0">
                <a:solidFill>
                  <a:srgbClr val="333333"/>
                </a:solidFill>
                <a:latin typeface="Calibri"/>
              </a:rPr>
              <a:t>–  confirme la panne (anti-faux positif) et journalise tout (preuve de SLA)</a:t>
            </a:r>
          </a:p>
          <a:p>
            <a:pPr lvl="1">
              <a:spcAft>
                <a:spcPts val="800"/>
              </a:spcAft>
            </a:pPr>
            <a:r>
              <a:rPr sz="1700" b="0" i="0">
                <a:solidFill>
                  <a:srgbClr val="333333"/>
                </a:solidFill>
                <a:latin typeface="Calibri"/>
              </a:rPr>
              <a:t>–  alerte les équipes d'OPEN MOISE par e-mail ET Telegram (push mobile)</a:t>
            </a:r>
          </a:p>
          <a:p>
            <a:pPr lvl="1">
              <a:spcAft>
                <a:spcPts val="800"/>
              </a:spcAft>
            </a:pPr>
            <a:r>
              <a:rPr sz="1700" b="0" i="0">
                <a:solidFill>
                  <a:srgbClr val="333333"/>
                </a:solidFill>
                <a:latin typeface="Calibri"/>
              </a:rPr>
              <a:t>–  offre un tableau de bord web temps réel + rapports clients</a:t>
            </a:r>
          </a:p>
        </p:txBody>
      </p:sp>
      <p:sp>
        <p:nvSpPr>
          <p:cNvPr id="6" name="Rectangle 5"/>
          <p:cNvSpPr/>
          <p:nvPr/>
        </p:nvSpPr>
        <p:spPr>
          <a:xfrm>
            <a:off x="640080" y="5120640"/>
            <a:ext cx="109728"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5120640"/>
            <a:ext cx="10771632" cy="91440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Stack : Ubuntu · Python · Cron · MySQL · Flask · Bootstrap · Bot Telegram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5</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Axe de différenciation (innovation)</a:t>
            </a:r>
          </a:p>
        </p:txBody>
      </p:sp>
      <p:graphicFrame>
        <p:nvGraphicFramePr>
          <p:cNvPr id="5" name="Table 4"/>
          <p:cNvGraphicFramePr>
            <a:graphicFrameLocks noGrp="1"/>
          </p:cNvGraphicFramePr>
          <p:nvPr/>
        </p:nvGraphicFramePr>
        <p:xfrm>
          <a:off x="640080" y="1371600"/>
          <a:ext cx="10881360" cy="3108960"/>
        </p:xfrm>
        <a:graphic>
          <a:graphicData uri="http://schemas.openxmlformats.org/drawingml/2006/table">
            <a:tbl>
              <a:tblPr firstRow="1" bandRow="1">
                <a:tableStyleId>{5C22544A-7EE6-4342-B048-85BDC9FD1C3A}</a:tableStyleId>
              </a:tblPr>
              <a:tblGrid>
                <a:gridCol w="5440680"/>
                <a:gridCol w="5440680"/>
              </a:tblGrid>
              <a:tr h="518160">
                <a:tc>
                  <a:txBody>
                    <a:bodyPr/>
                    <a:lstStyle/>
                    <a:p>
                      <a:pPr algn="ctr"/>
                      <a:r>
                        <a:rPr sz="1500" b="1" i="0">
                          <a:solidFill>
                            <a:srgbClr val="FFFFFF"/>
                          </a:solidFill>
                          <a:latin typeface="Calibri"/>
                        </a:rPr>
                        <a:t>Différenciateur</a:t>
                      </a:r>
                    </a:p>
                  </a:txBody>
                  <a:tcPr>
                    <a:solidFill>
                      <a:srgbClr val="0D3B66"/>
                    </a:solidFill>
                  </a:tcPr>
                </a:tc>
                <a:tc>
                  <a:txBody>
                    <a:bodyPr/>
                    <a:lstStyle/>
                    <a:p>
                      <a:pPr algn="ctr"/>
                      <a:r>
                        <a:rPr sz="1500" b="1" i="0">
                          <a:solidFill>
                            <a:srgbClr val="FFFFFF"/>
                          </a:solidFill>
                          <a:latin typeface="Calibri"/>
                        </a:rPr>
                        <a:t>Bénéfice pour OPEN MOISE</a:t>
                      </a:r>
                    </a:p>
                  </a:txBody>
                  <a:tcPr>
                    <a:solidFill>
                      <a:srgbClr val="0D3B66"/>
                    </a:solidFill>
                  </a:tcPr>
                </a:tc>
              </a:tr>
              <a:tr h="518160">
                <a:tc>
                  <a:txBody>
                    <a:bodyPr/>
                    <a:lstStyle/>
                    <a:p>
                      <a:pPr algn="l"/>
                      <a:r>
                        <a:rPr sz="1500" b="0" i="0">
                          <a:solidFill>
                            <a:srgbClr val="333333"/>
                          </a:solidFill>
                          <a:latin typeface="Calibri"/>
                        </a:rPr>
                        <a:t>Alerte Telegram native</a:t>
                      </a:r>
                    </a:p>
                  </a:txBody>
                  <a:tcPr>
                    <a:solidFill>
                      <a:srgbClr val="FFFFFF"/>
                    </a:solidFill>
                  </a:tcPr>
                </a:tc>
                <a:tc>
                  <a:txBody>
                    <a:bodyPr/>
                    <a:lstStyle/>
                    <a:p>
                      <a:pPr algn="ctr"/>
                      <a:r>
                        <a:rPr sz="1500" b="0" i="0">
                          <a:solidFill>
                            <a:srgbClr val="333333"/>
                          </a:solidFill>
                          <a:latin typeface="Calibri"/>
                        </a:rPr>
                        <a:t>Astreinte alertée partout, sans coût de notification</a:t>
                      </a:r>
                    </a:p>
                  </a:txBody>
                  <a:tcPr>
                    <a:solidFill>
                      <a:srgbClr val="FFFFFF"/>
                    </a:solidFill>
                  </a:tcPr>
                </a:tc>
              </a:tr>
              <a:tr h="518160">
                <a:tc>
                  <a:txBody>
                    <a:bodyPr/>
                    <a:lstStyle/>
                    <a:p>
                      <a:pPr algn="l"/>
                      <a:r>
                        <a:rPr sz="1500" b="0" i="0">
                          <a:solidFill>
                            <a:srgbClr val="333333"/>
                          </a:solidFill>
                          <a:latin typeface="Calibri"/>
                        </a:rPr>
                        <a:t>Ultra-légère</a:t>
                      </a:r>
                    </a:p>
                  </a:txBody>
                  <a:tcPr>
                    <a:solidFill>
                      <a:srgbClr val="F1F3F5"/>
                    </a:solidFill>
                  </a:tcPr>
                </a:tc>
                <a:tc>
                  <a:txBody>
                    <a:bodyPr/>
                    <a:lstStyle/>
                    <a:p>
                      <a:pPr algn="ctr"/>
                      <a:r>
                        <a:rPr sz="1500" b="0" i="0">
                          <a:solidFill>
                            <a:srgbClr val="333333"/>
                          </a:solidFill>
                          <a:latin typeface="Calibri"/>
                        </a:rPr>
                        <a:t>1 VM par client / mutualisée : coûts d'exploitation réduits</a:t>
                      </a:r>
                    </a:p>
                  </a:txBody>
                  <a:tcPr>
                    <a:solidFill>
                      <a:srgbClr val="F1F3F5"/>
                    </a:solidFill>
                  </a:tcPr>
                </a:tc>
              </a:tr>
              <a:tr h="518160">
                <a:tc>
                  <a:txBody>
                    <a:bodyPr/>
                    <a:lstStyle/>
                    <a:p>
                      <a:pPr algn="l"/>
                      <a:r>
                        <a:rPr sz="1500" b="0" i="0">
                          <a:solidFill>
                            <a:srgbClr val="333333"/>
                          </a:solidFill>
                          <a:latin typeface="Calibri"/>
                        </a:rPr>
                        <a:t>Code 100 % ouvert &amp; maîtrisé</a:t>
                      </a:r>
                    </a:p>
                  </a:txBody>
                  <a:tcPr>
                    <a:solidFill>
                      <a:srgbClr val="FFFFFF"/>
                    </a:solidFill>
                  </a:tcPr>
                </a:tc>
                <a:tc>
                  <a:txBody>
                    <a:bodyPr/>
                    <a:lstStyle/>
                    <a:p>
                      <a:pPr algn="ctr"/>
                      <a:r>
                        <a:rPr sz="1500" b="0" i="0">
                          <a:solidFill>
                            <a:srgbClr val="333333"/>
                          </a:solidFill>
                          <a:latin typeface="Calibri"/>
                        </a:rPr>
                        <a:t>Adaptable à chaque client, zéro vendor lock-in</a:t>
                      </a:r>
                    </a:p>
                  </a:txBody>
                  <a:tcPr>
                    <a:solidFill>
                      <a:srgbClr val="FFFFFF"/>
                    </a:solidFill>
                  </a:tcPr>
                </a:tc>
              </a:tr>
              <a:tr h="518160">
                <a:tc>
                  <a:txBody>
                    <a:bodyPr/>
                    <a:lstStyle/>
                    <a:p>
                      <a:pPr algn="l"/>
                      <a:r>
                        <a:rPr sz="1500" b="0" i="0">
                          <a:solidFill>
                            <a:srgbClr val="333333"/>
                          </a:solidFill>
                          <a:latin typeface="Calibri"/>
                        </a:rPr>
                        <a:t>« Plug &amp; supervise »</a:t>
                      </a:r>
                    </a:p>
                  </a:txBody>
                  <a:tcPr>
                    <a:solidFill>
                      <a:srgbClr val="F1F3F5"/>
                    </a:solidFill>
                  </a:tcPr>
                </a:tc>
                <a:tc>
                  <a:txBody>
                    <a:bodyPr/>
                    <a:lstStyle/>
                    <a:p>
                      <a:pPr algn="ctr"/>
                      <a:r>
                        <a:rPr sz="1500" b="0" i="0">
                          <a:solidFill>
                            <a:srgbClr val="333333"/>
                          </a:solidFill>
                          <a:latin typeface="Calibri"/>
                        </a:rPr>
                        <a:t>Onboarding d'un nouveau client en &lt; 30 min</a:t>
                      </a:r>
                    </a:p>
                  </a:txBody>
                  <a:tcPr>
                    <a:solidFill>
                      <a:srgbClr val="F1F3F5"/>
                    </a:solidFill>
                  </a:tcPr>
                </a:tc>
              </a:tr>
              <a:tr h="518160">
                <a:tc>
                  <a:txBody>
                    <a:bodyPr/>
                    <a:lstStyle/>
                    <a:p>
                      <a:pPr algn="l"/>
                      <a:r>
                        <a:rPr sz="1500" b="0" i="0">
                          <a:solidFill>
                            <a:srgbClr val="333333"/>
                          </a:solidFill>
                          <a:latin typeface="Calibri"/>
                        </a:rPr>
                        <a:t>Prête pour l'IA</a:t>
                      </a:r>
                    </a:p>
                  </a:txBody>
                  <a:tcPr>
                    <a:solidFill>
                      <a:srgbClr val="FFFFFF"/>
                    </a:solidFill>
                  </a:tcPr>
                </a:tc>
                <a:tc>
                  <a:txBody>
                    <a:bodyPr/>
                    <a:lstStyle/>
                    <a:p>
                      <a:pPr algn="ctr"/>
                      <a:r>
                        <a:rPr sz="1500" b="0" i="0">
                          <a:solidFill>
                            <a:srgbClr val="333333"/>
                          </a:solidFill>
                          <a:latin typeface="Calibri"/>
                        </a:rPr>
                        <a:t>Historique structuré → futur service prédictif vendable</a:t>
                      </a:r>
                    </a:p>
                  </a:txBody>
                  <a:tcPr>
                    <a:solidFill>
                      <a:srgbClr val="FFFFFF"/>
                    </a:solidFill>
                  </a:tcPr>
                </a:tc>
              </a:tr>
            </a:tbl>
          </a:graphicData>
        </a:graphic>
      </p:graphicFrame>
      <p:sp>
        <p:nvSpPr>
          <p:cNvPr id="6" name="Rectangle 5"/>
          <p:cNvSpPr/>
          <p:nvPr/>
        </p:nvSpPr>
        <p:spPr>
          <a:xfrm>
            <a:off x="640080" y="4937760"/>
            <a:ext cx="109728" cy="10058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4937760"/>
            <a:ext cx="10771632" cy="100584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Pour OPEN MOISE, l'innovation est l'ASSEMBLAGE : simplicité + gratuité + notification mobile + extensibilité IA → un avantage concurrentiel.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6</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Étude de faisabilité &amp; conception</a:t>
            </a:r>
          </a:p>
        </p:txBody>
      </p:sp>
      <p:sp>
        <p:nvSpPr>
          <p:cNvPr id="5" name="TextBox 4"/>
          <p:cNvSpPr txBox="1"/>
          <p:nvPr/>
        </p:nvSpPr>
        <p:spPr>
          <a:xfrm>
            <a:off x="640080" y="1371600"/>
            <a:ext cx="10881360" cy="4754880"/>
          </a:xfrm>
          <a:prstGeom prst="rect">
            <a:avLst/>
          </a:prstGeom>
          <a:noFill/>
        </p:spPr>
        <p:txBody>
          <a:bodyPr wrap="square">
            <a:spAutoFit/>
          </a:bodyPr>
          <a:lstStyle/>
          <a:p>
            <a:pPr>
              <a:spcAft>
                <a:spcPts val="800"/>
              </a:spcAft>
            </a:pPr>
            <a:r>
              <a:rPr sz="1900" b="0" i="0">
                <a:solidFill>
                  <a:srgbClr val="198754"/>
                </a:solidFill>
                <a:latin typeface="Calibri"/>
              </a:rPr>
              <a:t>•  Faisabilité technique ✓ — briques matures, compétences déjà présentes chez OPEN MOISE, prototype réalisé et testé.</a:t>
            </a:r>
          </a:p>
          <a:p>
            <a:pPr>
              <a:spcAft>
                <a:spcPts val="800"/>
              </a:spcAft>
            </a:pPr>
            <a:r>
              <a:rPr sz="1900" b="0" i="0">
                <a:solidFill>
                  <a:srgbClr val="198754"/>
                </a:solidFill>
                <a:latin typeface="Calibri"/>
              </a:rPr>
              <a:t>•  Faisabilité économique ✓ — coût de licence nul, matériel mutualisé OPEN MOISE.</a:t>
            </a:r>
          </a:p>
          <a:p>
            <a:pPr>
              <a:spcAft>
                <a:spcPts val="800"/>
              </a:spcAft>
            </a:pPr>
            <a:r>
              <a:rPr sz="1900" b="0" i="0">
                <a:solidFill>
                  <a:srgbClr val="198754"/>
                </a:solidFill>
                <a:latin typeface="Calibri"/>
              </a:rPr>
              <a:t>•  Faisabilité organisationnelle ✓ — intégrable au processus d'astreinte d'OPEN MOISE.</a:t>
            </a:r>
          </a:p>
          <a:p>
            <a:pPr>
              <a:spcAft>
                <a:spcPts val="800"/>
              </a:spcAft>
            </a:pPr>
            <a:r>
              <a:rPr sz="1900" b="0" i="0">
                <a:solidFill>
                  <a:srgbClr val="333333"/>
                </a:solidFill>
                <a:latin typeface="Calibri"/>
              </a:rPr>
              <a:t/>
            </a:r>
          </a:p>
          <a:p>
            <a:pPr>
              <a:spcAft>
                <a:spcPts val="800"/>
              </a:spcAft>
            </a:pPr>
            <a:r>
              <a:rPr sz="1900" b="1" i="0">
                <a:solidFill>
                  <a:srgbClr val="0D3B66"/>
                </a:solidFill>
                <a:latin typeface="Calibri"/>
              </a:rPr>
              <a:t>•  Conception formalisée :</a:t>
            </a:r>
          </a:p>
          <a:p>
            <a:pPr lvl="1">
              <a:spcAft>
                <a:spcPts val="800"/>
              </a:spcAft>
            </a:pPr>
            <a:r>
              <a:rPr sz="1700" b="0" i="0">
                <a:solidFill>
                  <a:srgbClr val="333333"/>
                </a:solidFill>
                <a:latin typeface="Calibri"/>
              </a:rPr>
              <a:t>–  UML : 7 diagrammes (contexte, cas d'usage, séquence, activité, classes, composants, déploiement)</a:t>
            </a:r>
          </a:p>
          <a:p>
            <a:pPr lvl="1">
              <a:spcAft>
                <a:spcPts val="800"/>
              </a:spcAft>
            </a:pPr>
            <a:r>
              <a:rPr sz="1700" b="0" i="0">
                <a:solidFill>
                  <a:srgbClr val="333333"/>
                </a:solidFill>
                <a:latin typeface="Calibri"/>
              </a:rPr>
              <a:t>–  MERISE : MCD → MLD → base MySQL (5 tables)</a:t>
            </a:r>
          </a:p>
          <a:p>
            <a:pPr lvl="1">
              <a:spcAft>
                <a:spcPts val="800"/>
              </a:spcAft>
            </a:pPr>
            <a:r>
              <a:rPr sz="1700" b="0" i="0">
                <a:solidFill>
                  <a:srgbClr val="333333"/>
                </a:solidFill>
                <a:latin typeface="Calibri"/>
              </a:rPr>
              <a:t>–  Architecture en 5 couches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6</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Architecture en 5 couches</a:t>
            </a:r>
          </a:p>
        </p:txBody>
      </p:sp>
      <p:pic>
        <p:nvPicPr>
          <p:cNvPr id="5" name="Picture 4" descr="architecture-5couches.png"/>
          <p:cNvPicPr>
            <a:picLocks noChangeAspect="1"/>
          </p:cNvPicPr>
          <p:nvPr/>
        </p:nvPicPr>
        <p:blipFill>
          <a:blip r:embed="rId2"/>
          <a:stretch>
            <a:fillRect/>
          </a:stretch>
        </p:blipFill>
        <p:spPr>
          <a:xfrm>
            <a:off x="1815213" y="1234440"/>
            <a:ext cx="8561269" cy="4846320"/>
          </a:xfrm>
          <a:prstGeom prst="rect">
            <a:avLst/>
          </a:prstGeom>
        </p:spPr>
      </p:pic>
      <p:sp>
        <p:nvSpPr>
          <p:cNvPr id="6" name="TextBox 5"/>
          <p:cNvSpPr txBox="1"/>
          <p:nvPr/>
        </p:nvSpPr>
        <p:spPr>
          <a:xfrm>
            <a:off x="457200" y="6172200"/>
            <a:ext cx="11247120" cy="457200"/>
          </a:xfrm>
          <a:prstGeom prst="rect">
            <a:avLst/>
          </a:prstGeom>
          <a:noFill/>
        </p:spPr>
        <p:txBody>
          <a:bodyPr wrap="square">
            <a:spAutoFit/>
          </a:bodyPr>
          <a:lstStyle/>
          <a:p>
            <a:pPr algn="ctr"/>
            <a:r>
              <a:rPr sz="1300" b="0" i="1">
                <a:solidFill>
                  <a:srgbClr val="333333"/>
                </a:solidFill>
                <a:latin typeface="Calibri"/>
              </a:rPr>
              <a:t>Découplage Moteur (Cron) ↔ Interface (Flask) : la surveillance continue même si le tableau de bord est arrêté.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6</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Conception UML — les 7 diagrammes</a:t>
            </a:r>
          </a:p>
        </p:txBody>
      </p:sp>
      <p:pic>
        <p:nvPicPr>
          <p:cNvPr id="5" name="Picture 4" descr="diagramme-contexte.png"/>
          <p:cNvPicPr>
            <a:picLocks noChangeAspect="1"/>
          </p:cNvPicPr>
          <p:nvPr/>
        </p:nvPicPr>
        <p:blipFill>
          <a:blip r:embed="rId2"/>
          <a:stretch>
            <a:fillRect/>
          </a:stretch>
        </p:blipFill>
        <p:spPr>
          <a:xfrm>
            <a:off x="320040" y="1325880"/>
            <a:ext cx="2743200" cy="979909"/>
          </a:xfrm>
          <a:prstGeom prst="rect">
            <a:avLst/>
          </a:prstGeom>
        </p:spPr>
      </p:pic>
      <p:sp>
        <p:nvSpPr>
          <p:cNvPr id="6" name="TextBox 5"/>
          <p:cNvSpPr txBox="1"/>
          <p:nvPr/>
        </p:nvSpPr>
        <p:spPr>
          <a:xfrm>
            <a:off x="320040" y="3493008"/>
            <a:ext cx="2743200" cy="365760"/>
          </a:xfrm>
          <a:prstGeom prst="rect">
            <a:avLst/>
          </a:prstGeom>
          <a:noFill/>
        </p:spPr>
        <p:txBody>
          <a:bodyPr wrap="square">
            <a:spAutoFit/>
          </a:bodyPr>
          <a:lstStyle/>
          <a:p>
            <a:pPr algn="ctr"/>
            <a:r>
              <a:rPr sz="1100" b="1" i="0">
                <a:solidFill>
                  <a:srgbClr val="0D3B66"/>
                </a:solidFill>
                <a:latin typeface="Calibri"/>
              </a:rPr>
              <a:t>1. Contexte</a:t>
            </a:r>
          </a:p>
        </p:txBody>
      </p:sp>
      <p:pic>
        <p:nvPicPr>
          <p:cNvPr id="7" name="Picture 6" descr="cas-utilisation.png"/>
          <p:cNvPicPr>
            <a:picLocks noChangeAspect="1"/>
          </p:cNvPicPr>
          <p:nvPr/>
        </p:nvPicPr>
        <p:blipFill>
          <a:blip r:embed="rId3"/>
          <a:stretch>
            <a:fillRect/>
          </a:stretch>
        </p:blipFill>
        <p:spPr>
          <a:xfrm>
            <a:off x="3227832" y="1325880"/>
            <a:ext cx="2743200" cy="1065499"/>
          </a:xfrm>
          <a:prstGeom prst="rect">
            <a:avLst/>
          </a:prstGeom>
        </p:spPr>
      </p:pic>
      <p:sp>
        <p:nvSpPr>
          <p:cNvPr id="8" name="TextBox 7"/>
          <p:cNvSpPr txBox="1"/>
          <p:nvPr/>
        </p:nvSpPr>
        <p:spPr>
          <a:xfrm>
            <a:off x="3227832" y="3493008"/>
            <a:ext cx="2743200" cy="365760"/>
          </a:xfrm>
          <a:prstGeom prst="rect">
            <a:avLst/>
          </a:prstGeom>
          <a:noFill/>
        </p:spPr>
        <p:txBody>
          <a:bodyPr wrap="square">
            <a:spAutoFit/>
          </a:bodyPr>
          <a:lstStyle/>
          <a:p>
            <a:pPr algn="ctr"/>
            <a:r>
              <a:rPr sz="1100" b="1" i="0">
                <a:solidFill>
                  <a:srgbClr val="0D3B66"/>
                </a:solidFill>
                <a:latin typeface="Calibri"/>
              </a:rPr>
              <a:t>2. Cas d'utilisation</a:t>
            </a:r>
          </a:p>
        </p:txBody>
      </p:sp>
      <p:pic>
        <p:nvPicPr>
          <p:cNvPr id="9" name="Picture 8" descr="diagramme-sequence.png"/>
          <p:cNvPicPr>
            <a:picLocks noChangeAspect="1"/>
          </p:cNvPicPr>
          <p:nvPr/>
        </p:nvPicPr>
        <p:blipFill>
          <a:blip r:embed="rId4"/>
          <a:stretch>
            <a:fillRect/>
          </a:stretch>
        </p:blipFill>
        <p:spPr>
          <a:xfrm>
            <a:off x="6135939" y="1325880"/>
            <a:ext cx="2742570" cy="2148840"/>
          </a:xfrm>
          <a:prstGeom prst="rect">
            <a:avLst/>
          </a:prstGeom>
        </p:spPr>
      </p:pic>
      <p:sp>
        <p:nvSpPr>
          <p:cNvPr id="10" name="TextBox 9"/>
          <p:cNvSpPr txBox="1"/>
          <p:nvPr/>
        </p:nvSpPr>
        <p:spPr>
          <a:xfrm>
            <a:off x="6135624" y="3493008"/>
            <a:ext cx="2743200" cy="365760"/>
          </a:xfrm>
          <a:prstGeom prst="rect">
            <a:avLst/>
          </a:prstGeom>
          <a:noFill/>
        </p:spPr>
        <p:txBody>
          <a:bodyPr wrap="square">
            <a:spAutoFit/>
          </a:bodyPr>
          <a:lstStyle/>
          <a:p>
            <a:pPr algn="ctr"/>
            <a:r>
              <a:rPr sz="1100" b="1" i="0">
                <a:solidFill>
                  <a:srgbClr val="0D3B66"/>
                </a:solidFill>
                <a:latin typeface="Calibri"/>
              </a:rPr>
              <a:t>3. Séquence</a:t>
            </a:r>
          </a:p>
        </p:txBody>
      </p:sp>
      <p:pic>
        <p:nvPicPr>
          <p:cNvPr id="11" name="Picture 10" descr="diagramme-activite.png"/>
          <p:cNvPicPr>
            <a:picLocks noChangeAspect="1"/>
          </p:cNvPicPr>
          <p:nvPr/>
        </p:nvPicPr>
        <p:blipFill>
          <a:blip r:embed="rId5"/>
          <a:stretch>
            <a:fillRect/>
          </a:stretch>
        </p:blipFill>
        <p:spPr>
          <a:xfrm>
            <a:off x="9742744" y="1325880"/>
            <a:ext cx="1344544" cy="2148840"/>
          </a:xfrm>
          <a:prstGeom prst="rect">
            <a:avLst/>
          </a:prstGeom>
        </p:spPr>
      </p:pic>
      <p:sp>
        <p:nvSpPr>
          <p:cNvPr id="12" name="TextBox 11"/>
          <p:cNvSpPr txBox="1"/>
          <p:nvPr/>
        </p:nvSpPr>
        <p:spPr>
          <a:xfrm>
            <a:off x="9043416" y="3493008"/>
            <a:ext cx="2743200" cy="365760"/>
          </a:xfrm>
          <a:prstGeom prst="rect">
            <a:avLst/>
          </a:prstGeom>
          <a:noFill/>
        </p:spPr>
        <p:txBody>
          <a:bodyPr wrap="square">
            <a:spAutoFit/>
          </a:bodyPr>
          <a:lstStyle/>
          <a:p>
            <a:pPr algn="ctr"/>
            <a:r>
              <a:rPr sz="1100" b="1" i="0">
                <a:solidFill>
                  <a:srgbClr val="0D3B66"/>
                </a:solidFill>
                <a:latin typeface="Calibri"/>
              </a:rPr>
              <a:t>4. Activité</a:t>
            </a:r>
          </a:p>
        </p:txBody>
      </p:sp>
      <p:pic>
        <p:nvPicPr>
          <p:cNvPr id="13" name="Picture 12" descr="diagramme-classes.png"/>
          <p:cNvPicPr>
            <a:picLocks noChangeAspect="1"/>
          </p:cNvPicPr>
          <p:nvPr/>
        </p:nvPicPr>
        <p:blipFill>
          <a:blip r:embed="rId6"/>
          <a:stretch>
            <a:fillRect/>
          </a:stretch>
        </p:blipFill>
        <p:spPr>
          <a:xfrm>
            <a:off x="320040" y="3977640"/>
            <a:ext cx="2743200" cy="1165665"/>
          </a:xfrm>
          <a:prstGeom prst="rect">
            <a:avLst/>
          </a:prstGeom>
        </p:spPr>
      </p:pic>
      <p:sp>
        <p:nvSpPr>
          <p:cNvPr id="14" name="TextBox 13"/>
          <p:cNvSpPr txBox="1"/>
          <p:nvPr/>
        </p:nvSpPr>
        <p:spPr>
          <a:xfrm>
            <a:off x="320040" y="6144768"/>
            <a:ext cx="2743200" cy="365760"/>
          </a:xfrm>
          <a:prstGeom prst="rect">
            <a:avLst/>
          </a:prstGeom>
          <a:noFill/>
        </p:spPr>
        <p:txBody>
          <a:bodyPr wrap="square">
            <a:spAutoFit/>
          </a:bodyPr>
          <a:lstStyle/>
          <a:p>
            <a:pPr algn="ctr"/>
            <a:r>
              <a:rPr sz="1100" b="1" i="0">
                <a:solidFill>
                  <a:srgbClr val="0D3B66"/>
                </a:solidFill>
                <a:latin typeface="Calibri"/>
              </a:rPr>
              <a:t>5. Classes</a:t>
            </a:r>
          </a:p>
        </p:txBody>
      </p:sp>
      <p:pic>
        <p:nvPicPr>
          <p:cNvPr id="15" name="Picture 14" descr="diagramme-composants.png"/>
          <p:cNvPicPr>
            <a:picLocks noChangeAspect="1"/>
          </p:cNvPicPr>
          <p:nvPr/>
        </p:nvPicPr>
        <p:blipFill>
          <a:blip r:embed="rId7"/>
          <a:stretch>
            <a:fillRect/>
          </a:stretch>
        </p:blipFill>
        <p:spPr>
          <a:xfrm>
            <a:off x="3227832" y="3977640"/>
            <a:ext cx="2743200" cy="1580949"/>
          </a:xfrm>
          <a:prstGeom prst="rect">
            <a:avLst/>
          </a:prstGeom>
        </p:spPr>
      </p:pic>
      <p:sp>
        <p:nvSpPr>
          <p:cNvPr id="16" name="TextBox 15"/>
          <p:cNvSpPr txBox="1"/>
          <p:nvPr/>
        </p:nvSpPr>
        <p:spPr>
          <a:xfrm>
            <a:off x="3227832" y="6144768"/>
            <a:ext cx="2743200" cy="365760"/>
          </a:xfrm>
          <a:prstGeom prst="rect">
            <a:avLst/>
          </a:prstGeom>
          <a:noFill/>
        </p:spPr>
        <p:txBody>
          <a:bodyPr wrap="square">
            <a:spAutoFit/>
          </a:bodyPr>
          <a:lstStyle/>
          <a:p>
            <a:pPr algn="ctr"/>
            <a:r>
              <a:rPr sz="1100" b="1" i="0">
                <a:solidFill>
                  <a:srgbClr val="0D3B66"/>
                </a:solidFill>
                <a:latin typeface="Calibri"/>
              </a:rPr>
              <a:t>6. Composants</a:t>
            </a:r>
          </a:p>
        </p:txBody>
      </p:sp>
      <p:pic>
        <p:nvPicPr>
          <p:cNvPr id="17" name="Picture 16" descr="diagramme-deploiement.png"/>
          <p:cNvPicPr>
            <a:picLocks noChangeAspect="1"/>
          </p:cNvPicPr>
          <p:nvPr/>
        </p:nvPicPr>
        <p:blipFill>
          <a:blip r:embed="rId8"/>
          <a:stretch>
            <a:fillRect/>
          </a:stretch>
        </p:blipFill>
        <p:spPr>
          <a:xfrm>
            <a:off x="6135624" y="3977640"/>
            <a:ext cx="2743200" cy="1191432"/>
          </a:xfrm>
          <a:prstGeom prst="rect">
            <a:avLst/>
          </a:prstGeom>
        </p:spPr>
      </p:pic>
      <p:sp>
        <p:nvSpPr>
          <p:cNvPr id="18" name="TextBox 17"/>
          <p:cNvSpPr txBox="1"/>
          <p:nvPr/>
        </p:nvSpPr>
        <p:spPr>
          <a:xfrm>
            <a:off x="6135624" y="6144768"/>
            <a:ext cx="2743200" cy="365760"/>
          </a:xfrm>
          <a:prstGeom prst="rect">
            <a:avLst/>
          </a:prstGeom>
          <a:noFill/>
        </p:spPr>
        <p:txBody>
          <a:bodyPr wrap="square">
            <a:spAutoFit/>
          </a:bodyPr>
          <a:lstStyle/>
          <a:p>
            <a:pPr algn="ctr"/>
            <a:r>
              <a:rPr sz="1100" b="1" i="0">
                <a:solidFill>
                  <a:srgbClr val="0D3B66"/>
                </a:solidFill>
                <a:latin typeface="Calibri"/>
              </a:rPr>
              <a:t>7. Déploiement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6</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MERISE : du MCD au MLD (base MySQL, 5 tables)</a:t>
            </a:r>
          </a:p>
        </p:txBody>
      </p:sp>
      <p:sp>
        <p:nvSpPr>
          <p:cNvPr id="5" name="TextBox 4"/>
          <p:cNvSpPr txBox="1"/>
          <p:nvPr/>
        </p:nvSpPr>
        <p:spPr>
          <a:xfrm>
            <a:off x="365760" y="1188720"/>
            <a:ext cx="5486400" cy="365760"/>
          </a:xfrm>
          <a:prstGeom prst="rect">
            <a:avLst/>
          </a:prstGeom>
          <a:noFill/>
        </p:spPr>
        <p:txBody>
          <a:bodyPr wrap="square">
            <a:spAutoFit/>
          </a:bodyPr>
          <a:lstStyle/>
          <a:p>
            <a:pPr algn="ctr"/>
            <a:r>
              <a:rPr sz="1600" b="1" i="0">
                <a:solidFill>
                  <a:srgbClr val="0D3B66"/>
                </a:solidFill>
                <a:latin typeface="Calibri"/>
              </a:rPr>
              <a:t>MCD — Modèle Conceptuel</a:t>
            </a:r>
          </a:p>
        </p:txBody>
      </p:sp>
      <p:pic>
        <p:nvPicPr>
          <p:cNvPr id="6" name="Picture 5" descr="mcd.png"/>
          <p:cNvPicPr>
            <a:picLocks noChangeAspect="1"/>
          </p:cNvPicPr>
          <p:nvPr/>
        </p:nvPicPr>
        <p:blipFill>
          <a:blip r:embed="rId2"/>
          <a:stretch>
            <a:fillRect/>
          </a:stretch>
        </p:blipFill>
        <p:spPr>
          <a:xfrm>
            <a:off x="411480" y="1600200"/>
            <a:ext cx="5394960" cy="3141605"/>
          </a:xfrm>
          <a:prstGeom prst="rect">
            <a:avLst/>
          </a:prstGeom>
        </p:spPr>
      </p:pic>
      <p:sp>
        <p:nvSpPr>
          <p:cNvPr id="7" name="TextBox 6"/>
          <p:cNvSpPr txBox="1"/>
          <p:nvPr/>
        </p:nvSpPr>
        <p:spPr>
          <a:xfrm>
            <a:off x="6309360" y="1188720"/>
            <a:ext cx="5486400" cy="365760"/>
          </a:xfrm>
          <a:prstGeom prst="rect">
            <a:avLst/>
          </a:prstGeom>
          <a:noFill/>
        </p:spPr>
        <p:txBody>
          <a:bodyPr wrap="square">
            <a:spAutoFit/>
          </a:bodyPr>
          <a:lstStyle/>
          <a:p>
            <a:pPr algn="ctr"/>
            <a:r>
              <a:rPr sz="1600" b="1" i="0">
                <a:solidFill>
                  <a:srgbClr val="0D3B66"/>
                </a:solidFill>
                <a:latin typeface="Calibri"/>
              </a:rPr>
              <a:t>MLD — Modèle Logique</a:t>
            </a:r>
          </a:p>
        </p:txBody>
      </p:sp>
      <p:pic>
        <p:nvPicPr>
          <p:cNvPr id="8" name="Picture 7" descr="mld.png"/>
          <p:cNvPicPr>
            <a:picLocks noChangeAspect="1"/>
          </p:cNvPicPr>
          <p:nvPr/>
        </p:nvPicPr>
        <p:blipFill>
          <a:blip r:embed="rId3"/>
          <a:stretch>
            <a:fillRect/>
          </a:stretch>
        </p:blipFill>
        <p:spPr>
          <a:xfrm>
            <a:off x="6355080" y="1600200"/>
            <a:ext cx="5394960" cy="331669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7</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Fonctionnement technique — le cycle automatisé</a:t>
            </a:r>
          </a:p>
        </p:txBody>
      </p:sp>
      <p:sp>
        <p:nvSpPr>
          <p:cNvPr id="5" name="TextBox 4"/>
          <p:cNvSpPr txBox="1"/>
          <p:nvPr/>
        </p:nvSpPr>
        <p:spPr>
          <a:xfrm>
            <a:off x="640080" y="1463040"/>
            <a:ext cx="10881360" cy="3291840"/>
          </a:xfrm>
          <a:prstGeom prst="rect">
            <a:avLst/>
          </a:prstGeom>
          <a:noFill/>
        </p:spPr>
        <p:txBody>
          <a:bodyPr wrap="square">
            <a:spAutoFit/>
          </a:bodyPr>
          <a:lstStyle/>
          <a:p>
            <a:pPr>
              <a:spcAft>
                <a:spcPts val="1200"/>
              </a:spcAft>
            </a:pPr>
            <a:r>
              <a:rPr sz="1900" b="0" i="0">
                <a:solidFill>
                  <a:srgbClr val="333333"/>
                </a:solidFill>
                <a:latin typeface="Calibri"/>
              </a:rPr>
              <a:t>•  1.  CRON déclenche le moteur toutes les 2 minutes</a:t>
            </a:r>
          </a:p>
          <a:p>
            <a:pPr>
              <a:spcAft>
                <a:spcPts val="1200"/>
              </a:spcAft>
            </a:pPr>
            <a:r>
              <a:rPr sz="1900" b="0" i="0">
                <a:solidFill>
                  <a:srgbClr val="333333"/>
                </a:solidFill>
                <a:latin typeface="Calibri"/>
              </a:rPr>
              <a:t>•  2.  Charge les équipements (MySQL) puis sonde ICMP (ping) + TCP (service)</a:t>
            </a:r>
          </a:p>
          <a:p>
            <a:pPr>
              <a:spcAft>
                <a:spcPts val="1200"/>
              </a:spcAft>
            </a:pPr>
            <a:r>
              <a:rPr sz="1900" b="0" i="0">
                <a:solidFill>
                  <a:srgbClr val="333333"/>
                </a:solidFill>
                <a:latin typeface="Calibri"/>
              </a:rPr>
              <a:t>•  3.  Met à jour le statut + journalise chaque vérification</a:t>
            </a:r>
          </a:p>
          <a:p>
            <a:pPr>
              <a:spcAft>
                <a:spcPts val="1200"/>
              </a:spcAft>
            </a:pPr>
            <a:r>
              <a:rPr sz="1900" b="0" i="0">
                <a:solidFill>
                  <a:srgbClr val="333333"/>
                </a:solidFill>
                <a:latin typeface="Calibri"/>
              </a:rPr>
              <a:t>•  4.  Seuil d'échecs atteint ? (anti-faux positif)</a:t>
            </a:r>
          </a:p>
          <a:p>
            <a:pPr>
              <a:spcAft>
                <a:spcPts val="1200"/>
              </a:spcAft>
            </a:pPr>
            <a:r>
              <a:rPr sz="1900" b="0" i="0">
                <a:solidFill>
                  <a:srgbClr val="333333"/>
                </a:solidFill>
                <a:latin typeface="Calibri"/>
              </a:rPr>
              <a:t>•  5.  ALERTE e-mail + Telegram  (avec anti-spam / dé-duplication)</a:t>
            </a:r>
          </a:p>
          <a:p>
            <a:pPr>
              <a:spcAft>
                <a:spcPts val="1200"/>
              </a:spcAft>
            </a:pPr>
            <a:r>
              <a:rPr sz="1900" b="0" i="0">
                <a:solidFill>
                  <a:srgbClr val="333333"/>
                </a:solidFill>
                <a:latin typeface="Calibri"/>
              </a:rPr>
              <a:t>•  6.  Retour en ligne (UP) → notification de rétablissement automatique</a:t>
            </a:r>
          </a:p>
        </p:txBody>
      </p:sp>
      <p:sp>
        <p:nvSpPr>
          <p:cNvPr id="6" name="Rectangle 5"/>
          <p:cNvSpPr/>
          <p:nvPr/>
        </p:nvSpPr>
        <p:spPr>
          <a:xfrm>
            <a:off x="640080" y="5212080"/>
            <a:ext cx="109728" cy="10058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5212080"/>
            <a:ext cx="10771632" cy="100584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Robustesse : seuil d'échecs (pas de fausse alerte), dé-duplication (pas de spam), sondes parallélisées (scan d'un /24 en ~12 s), journaux à rotation.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7</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Sécurité « by design »</a:t>
            </a:r>
          </a:p>
        </p:txBody>
      </p:sp>
      <p:graphicFrame>
        <p:nvGraphicFramePr>
          <p:cNvPr id="5" name="Table 4"/>
          <p:cNvGraphicFramePr>
            <a:graphicFrameLocks noGrp="1"/>
          </p:cNvGraphicFramePr>
          <p:nvPr/>
        </p:nvGraphicFramePr>
        <p:xfrm>
          <a:off x="640080" y="1371600"/>
          <a:ext cx="10881360" cy="3657600"/>
        </p:xfrm>
        <a:graphic>
          <a:graphicData uri="http://schemas.openxmlformats.org/drawingml/2006/table">
            <a:tbl>
              <a:tblPr firstRow="1" bandRow="1">
                <a:tableStyleId>{5C22544A-7EE6-4342-B048-85BDC9FD1C3A}</a:tableStyleId>
              </a:tblPr>
              <a:tblGrid>
                <a:gridCol w="5440680"/>
                <a:gridCol w="5440680"/>
              </a:tblGrid>
              <a:tr h="522514">
                <a:tc>
                  <a:txBody>
                    <a:bodyPr/>
                    <a:lstStyle/>
                    <a:p>
                      <a:pPr algn="ctr"/>
                      <a:r>
                        <a:rPr sz="1600" b="1" i="0">
                          <a:solidFill>
                            <a:srgbClr val="FFFFFF"/>
                          </a:solidFill>
                          <a:latin typeface="Calibri"/>
                        </a:rPr>
                        <a:t>Risque</a:t>
                      </a:r>
                    </a:p>
                  </a:txBody>
                  <a:tcPr>
                    <a:solidFill>
                      <a:srgbClr val="0D3B66"/>
                    </a:solidFill>
                  </a:tcPr>
                </a:tc>
                <a:tc>
                  <a:txBody>
                    <a:bodyPr/>
                    <a:lstStyle/>
                    <a:p>
                      <a:pPr algn="ctr"/>
                      <a:r>
                        <a:rPr sz="1600" b="1" i="0">
                          <a:solidFill>
                            <a:srgbClr val="FFFFFF"/>
                          </a:solidFill>
                          <a:latin typeface="Calibri"/>
                        </a:rPr>
                        <a:t>Parade implémentée</a:t>
                      </a:r>
                    </a:p>
                  </a:txBody>
                  <a:tcPr>
                    <a:solidFill>
                      <a:srgbClr val="0D3B66"/>
                    </a:solidFill>
                  </a:tcPr>
                </a:tc>
              </a:tr>
              <a:tr h="522514">
                <a:tc>
                  <a:txBody>
                    <a:bodyPr/>
                    <a:lstStyle/>
                    <a:p>
                      <a:pPr algn="l"/>
                      <a:r>
                        <a:rPr sz="1600" b="0" i="0">
                          <a:solidFill>
                            <a:srgbClr val="333333"/>
                          </a:solidFill>
                          <a:latin typeface="Calibri"/>
                        </a:rPr>
                        <a:t>Secrets dans le code</a:t>
                      </a:r>
                    </a:p>
                  </a:txBody>
                  <a:tcPr>
                    <a:solidFill>
                      <a:srgbClr val="FFFFFF"/>
                    </a:solidFill>
                  </a:tcPr>
                </a:tc>
                <a:tc>
                  <a:txBody>
                    <a:bodyPr/>
                    <a:lstStyle/>
                    <a:p>
                      <a:pPr algn="ctr"/>
                      <a:r>
                        <a:rPr sz="1600" b="0" i="0">
                          <a:solidFill>
                            <a:srgbClr val="333333"/>
                          </a:solidFill>
                          <a:latin typeface="Calibri"/>
                        </a:rPr>
                        <a:t>Variables d'environnement (.env non versionné)</a:t>
                      </a:r>
                    </a:p>
                  </a:txBody>
                  <a:tcPr>
                    <a:solidFill>
                      <a:srgbClr val="FFFFFF"/>
                    </a:solidFill>
                  </a:tcPr>
                </a:tc>
              </a:tr>
              <a:tr h="522514">
                <a:tc>
                  <a:txBody>
                    <a:bodyPr/>
                    <a:lstStyle/>
                    <a:p>
                      <a:pPr algn="l"/>
                      <a:r>
                        <a:rPr sz="1600" b="0" i="0">
                          <a:solidFill>
                            <a:srgbClr val="333333"/>
                          </a:solidFill>
                          <a:latin typeface="Calibri"/>
                        </a:rPr>
                        <a:t>Vol de mots de passe</a:t>
                      </a:r>
                    </a:p>
                  </a:txBody>
                  <a:tcPr>
                    <a:solidFill>
                      <a:srgbClr val="F1F3F5"/>
                    </a:solidFill>
                  </a:tcPr>
                </a:tc>
                <a:tc>
                  <a:txBody>
                    <a:bodyPr/>
                    <a:lstStyle/>
                    <a:p>
                      <a:pPr algn="ctr"/>
                      <a:r>
                        <a:rPr sz="1600" b="0" i="0">
                          <a:solidFill>
                            <a:srgbClr val="333333"/>
                          </a:solidFill>
                          <a:latin typeface="Calibri"/>
                        </a:rPr>
                        <a:t>Hachage pbkdf2:sha256 (jamais en clair)</a:t>
                      </a:r>
                    </a:p>
                  </a:txBody>
                  <a:tcPr>
                    <a:solidFill>
                      <a:srgbClr val="F1F3F5"/>
                    </a:solidFill>
                  </a:tcPr>
                </a:tc>
              </a:tr>
              <a:tr h="522514">
                <a:tc>
                  <a:txBody>
                    <a:bodyPr/>
                    <a:lstStyle/>
                    <a:p>
                      <a:pPr algn="l"/>
                      <a:r>
                        <a:rPr sz="1600" b="0" i="0">
                          <a:solidFill>
                            <a:srgbClr val="333333"/>
                          </a:solidFill>
                          <a:latin typeface="Calibri"/>
                        </a:rPr>
                        <a:t>Injection SQL</a:t>
                      </a:r>
                    </a:p>
                  </a:txBody>
                  <a:tcPr>
                    <a:solidFill>
                      <a:srgbClr val="FFFFFF"/>
                    </a:solidFill>
                  </a:tcPr>
                </a:tc>
                <a:tc>
                  <a:txBody>
                    <a:bodyPr/>
                    <a:lstStyle/>
                    <a:p>
                      <a:pPr algn="ctr"/>
                      <a:r>
                        <a:rPr sz="1600" b="0" i="0">
                          <a:solidFill>
                            <a:srgbClr val="333333"/>
                          </a:solidFill>
                          <a:latin typeface="Calibri"/>
                        </a:rPr>
                        <a:t>Requêtes paramétrées systématiques</a:t>
                      </a:r>
                    </a:p>
                  </a:txBody>
                  <a:tcPr>
                    <a:solidFill>
                      <a:srgbClr val="FFFFFF"/>
                    </a:solidFill>
                  </a:tcPr>
                </a:tc>
              </a:tr>
              <a:tr h="522514">
                <a:tc>
                  <a:txBody>
                    <a:bodyPr/>
                    <a:lstStyle/>
                    <a:p>
                      <a:pPr algn="l"/>
                      <a:r>
                        <a:rPr sz="1600" b="0" i="0">
                          <a:solidFill>
                            <a:srgbClr val="333333"/>
                          </a:solidFill>
                          <a:latin typeface="Calibri"/>
                        </a:rPr>
                        <a:t>Écoute des notifications</a:t>
                      </a:r>
                    </a:p>
                  </a:txBody>
                  <a:tcPr>
                    <a:solidFill>
                      <a:srgbClr val="F1F3F5"/>
                    </a:solidFill>
                  </a:tcPr>
                </a:tc>
                <a:tc>
                  <a:txBody>
                    <a:bodyPr/>
                    <a:lstStyle/>
                    <a:p>
                      <a:pPr algn="ctr"/>
                      <a:r>
                        <a:rPr sz="1600" b="0" i="0">
                          <a:solidFill>
                            <a:srgbClr val="333333"/>
                          </a:solidFill>
                          <a:latin typeface="Calibri"/>
                        </a:rPr>
                        <a:t>SMTP STARTTLS + Telegram HTTPS</a:t>
                      </a:r>
                    </a:p>
                  </a:txBody>
                  <a:tcPr>
                    <a:solidFill>
                      <a:srgbClr val="F1F3F5"/>
                    </a:solidFill>
                  </a:tcPr>
                </a:tc>
              </a:tr>
              <a:tr h="522514">
                <a:tc>
                  <a:txBody>
                    <a:bodyPr/>
                    <a:lstStyle/>
                    <a:p>
                      <a:pPr algn="l"/>
                      <a:r>
                        <a:rPr sz="1600" b="0" i="0">
                          <a:solidFill>
                            <a:srgbClr val="333333"/>
                          </a:solidFill>
                          <a:latin typeface="Calibri"/>
                        </a:rPr>
                        <a:t>Accès BDD trop large</a:t>
                      </a:r>
                    </a:p>
                  </a:txBody>
                  <a:tcPr>
                    <a:solidFill>
                      <a:srgbClr val="FFFFFF"/>
                    </a:solidFill>
                  </a:tcPr>
                </a:tc>
                <a:tc>
                  <a:txBody>
                    <a:bodyPr/>
                    <a:lstStyle/>
                    <a:p>
                      <a:pPr algn="ctr"/>
                      <a:r>
                        <a:rPr sz="1600" b="0" i="0">
                          <a:solidFill>
                            <a:srgbClr val="333333"/>
                          </a:solidFill>
                          <a:latin typeface="Calibri"/>
                        </a:rPr>
                        <a:t>Compte applicatif au moindre privilège</a:t>
                      </a:r>
                    </a:p>
                  </a:txBody>
                  <a:tcPr>
                    <a:solidFill>
                      <a:srgbClr val="FFFFFF"/>
                    </a:solidFill>
                  </a:tcPr>
                </a:tc>
              </a:tr>
              <a:tr h="522516">
                <a:tc>
                  <a:txBody>
                    <a:bodyPr/>
                    <a:lstStyle/>
                    <a:p>
                      <a:pPr algn="l"/>
                      <a:r>
                        <a:rPr sz="1600" b="0" i="0">
                          <a:solidFill>
                            <a:srgbClr val="333333"/>
                          </a:solidFill>
                          <a:latin typeface="Calibri"/>
                        </a:rPr>
                        <a:t>Accès non autorisé</a:t>
                      </a:r>
                    </a:p>
                  </a:txBody>
                  <a:tcPr>
                    <a:solidFill>
                      <a:srgbClr val="F1F3F5"/>
                    </a:solidFill>
                  </a:tcPr>
                </a:tc>
                <a:tc>
                  <a:txBody>
                    <a:bodyPr/>
                    <a:lstStyle/>
                    <a:p>
                      <a:pPr algn="ctr"/>
                      <a:r>
                        <a:rPr sz="1600" b="0" i="0">
                          <a:solidFill>
                            <a:srgbClr val="333333"/>
                          </a:solidFill>
                          <a:latin typeface="Calibri"/>
                        </a:rPr>
                        <a:t>Authentification du tableau de bord</a:t>
                      </a:r>
                    </a:p>
                  </a:txBody>
                  <a:tcPr>
                    <a:solidFill>
                      <a:srgbClr val="F1F3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grpSpPr/>
      <p:sp>
        <p:nvSpPr>
          <p:cNvPr id="2" name="Rectangle 1"/>
          <p:cNvSpPr/>
          <p:nvPr/>
        </p:nvSpPr>
        <p:spPr>
          <a:xfrm>
            <a:off x="0" y="54864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94360"/>
            <a:ext cx="11247120" cy="822960"/>
          </a:xfrm>
          <a:prstGeom prst="rect">
            <a:avLst/>
          </a:prstGeom>
          <a:noFill/>
        </p:spPr>
        <p:txBody>
          <a:bodyPr wrap="square" anchor="ctr">
            <a:spAutoFit/>
          </a:bodyPr>
          <a:lstStyle/>
          <a:p>
            <a:pPr algn="ctr"/>
            <a:r>
              <a:rPr sz="3000" b="1" i="0">
                <a:solidFill>
                  <a:srgbClr val="FFFFFF"/>
                </a:solidFill>
                <a:latin typeface="Calibri"/>
              </a:rPr>
              <a:t>8.  DÉMONSTRATION — scénario en direct</a:t>
            </a:r>
          </a:p>
        </p:txBody>
      </p:sp>
      <p:sp>
        <p:nvSpPr>
          <p:cNvPr id="4" name="TextBox 3"/>
          <p:cNvSpPr txBox="1"/>
          <p:nvPr/>
        </p:nvSpPr>
        <p:spPr>
          <a:xfrm>
            <a:off x="914400" y="1828800"/>
            <a:ext cx="10332720" cy="3840480"/>
          </a:xfrm>
          <a:prstGeom prst="rect">
            <a:avLst/>
          </a:prstGeom>
          <a:noFill/>
        </p:spPr>
        <p:txBody>
          <a:bodyPr wrap="square">
            <a:spAutoFit/>
          </a:bodyPr>
          <a:lstStyle/>
          <a:p>
            <a:pPr>
              <a:spcAft>
                <a:spcPts val="1200"/>
              </a:spcAft>
            </a:pPr>
            <a:r>
              <a:rPr sz="2000" b="0" i="0">
                <a:solidFill>
                  <a:srgbClr val="FFFFFF"/>
                </a:solidFill>
                <a:latin typeface="Calibri"/>
              </a:rPr>
              <a:t>1.  Tableau de bord OPEN MOISE — parc client supervisé en temps réel (UP/KPI)</a:t>
            </a:r>
          </a:p>
          <a:p>
            <a:pPr>
              <a:spcAft>
                <a:spcPts val="1200"/>
              </a:spcAft>
            </a:pPr>
            <a:r>
              <a:rPr sz="2000" b="0" i="0">
                <a:solidFill>
                  <a:srgbClr val="FFFFFF"/>
                </a:solidFill>
                <a:latin typeface="Calibri"/>
              </a:rPr>
              <a:t>2.  Je simule une panne sur un équipement d'un réseau client</a:t>
            </a:r>
          </a:p>
          <a:p>
            <a:pPr>
              <a:spcAft>
                <a:spcPts val="1200"/>
              </a:spcAft>
            </a:pPr>
            <a:r>
              <a:rPr sz="2000" b="0" i="0">
                <a:solidFill>
                  <a:srgbClr val="FFFFFF"/>
                </a:solidFill>
                <a:latin typeface="Calibri"/>
              </a:rPr>
              <a:t>3.  Au cycle suivant → le statut bascule en DOWN (badge rouge)</a:t>
            </a:r>
          </a:p>
          <a:p>
            <a:pPr>
              <a:spcAft>
                <a:spcPts val="1200"/>
              </a:spcAft>
            </a:pPr>
            <a:r>
              <a:rPr sz="2000" b="0" i="0">
                <a:solidFill>
                  <a:srgbClr val="FFFFFF"/>
                </a:solidFill>
                <a:latin typeface="Calibri"/>
              </a:rPr>
              <a:t>4.  L'astreinte OPEN MOISE est alertée : e-mail + Telegram sur le téléphone</a:t>
            </a:r>
          </a:p>
          <a:p>
            <a:pPr>
              <a:spcAft>
                <a:spcPts val="1200"/>
              </a:spcAft>
            </a:pPr>
            <a:r>
              <a:rPr sz="2000" b="0" i="0">
                <a:solidFill>
                  <a:srgbClr val="FFFFFF"/>
                </a:solidFill>
                <a:latin typeface="Calibri"/>
              </a:rPr>
              <a:t>5.  Je rétablis → notification de rétablissement + acquittement auto</a:t>
            </a:r>
          </a:p>
          <a:p>
            <a:pPr>
              <a:spcAft>
                <a:spcPts val="1200"/>
              </a:spcAft>
            </a:pPr>
            <a:r>
              <a:rPr sz="2000" b="0" i="0">
                <a:solidFill>
                  <a:srgbClr val="FFFFFF"/>
                </a:solidFill>
                <a:latin typeface="Calibri"/>
              </a:rPr>
              <a:t>6.  Page Rapports : preuve de disponibilité / SLA à présenter au client</a:t>
            </a:r>
          </a:p>
        </p:txBody>
      </p:sp>
      <p:sp>
        <p:nvSpPr>
          <p:cNvPr id="5" name="Rectangle 4"/>
          <p:cNvSpPr/>
          <p:nvPr/>
        </p:nvSpPr>
        <p:spPr>
          <a:xfrm>
            <a:off x="640080" y="5852160"/>
            <a:ext cx="109728"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5852160"/>
            <a:ext cx="10771632" cy="73152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Plan B : captures d'écran + courte vidéo si la démo live est impossible.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8</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Démonstration — captures clés</a:t>
            </a:r>
          </a:p>
        </p:txBody>
      </p:sp>
      <p:graphicFrame>
        <p:nvGraphicFramePr>
          <p:cNvPr id="5" name="Table 4"/>
          <p:cNvGraphicFramePr>
            <a:graphicFrameLocks noGrp="1"/>
          </p:cNvGraphicFramePr>
          <p:nvPr/>
        </p:nvGraphicFramePr>
        <p:xfrm>
          <a:off x="640080" y="1371600"/>
          <a:ext cx="10881360" cy="3474720"/>
        </p:xfrm>
        <a:graphic>
          <a:graphicData uri="http://schemas.openxmlformats.org/drawingml/2006/table">
            <a:tbl>
              <a:tblPr firstRow="1" bandRow="1">
                <a:tableStyleId>{5C22544A-7EE6-4342-B048-85BDC9FD1C3A}</a:tableStyleId>
              </a:tblPr>
              <a:tblGrid>
                <a:gridCol w="5440680"/>
                <a:gridCol w="5440680"/>
              </a:tblGrid>
              <a:tr h="496388">
                <a:tc>
                  <a:txBody>
                    <a:bodyPr/>
                    <a:lstStyle/>
                    <a:p>
                      <a:pPr algn="ctr"/>
                      <a:r>
                        <a:rPr sz="1600" b="1" i="0">
                          <a:solidFill>
                            <a:srgbClr val="FFFFFF"/>
                          </a:solidFill>
                          <a:latin typeface="Calibri"/>
                        </a:rPr>
                        <a:t>Écran</a:t>
                      </a:r>
                    </a:p>
                  </a:txBody>
                  <a:tcPr>
                    <a:solidFill>
                      <a:srgbClr val="0D3B66"/>
                    </a:solidFill>
                  </a:tcPr>
                </a:tc>
                <a:tc>
                  <a:txBody>
                    <a:bodyPr/>
                    <a:lstStyle/>
                    <a:p>
                      <a:pPr algn="ctr"/>
                      <a:r>
                        <a:rPr sz="1600" b="1" i="0">
                          <a:solidFill>
                            <a:srgbClr val="FFFFFF"/>
                          </a:solidFill>
                          <a:latin typeface="Calibri"/>
                        </a:rPr>
                        <a:t>Ce qu'il prouve</a:t>
                      </a:r>
                    </a:p>
                  </a:txBody>
                  <a:tcPr>
                    <a:solidFill>
                      <a:srgbClr val="0D3B66"/>
                    </a:solidFill>
                  </a:tcPr>
                </a:tc>
              </a:tr>
              <a:tr h="496388">
                <a:tc>
                  <a:txBody>
                    <a:bodyPr/>
                    <a:lstStyle/>
                    <a:p>
                      <a:pPr algn="l"/>
                      <a:r>
                        <a:rPr sz="1600" b="0" i="0">
                          <a:solidFill>
                            <a:srgbClr val="333333"/>
                          </a:solidFill>
                          <a:latin typeface="Calibri"/>
                        </a:rPr>
                        <a:t>Connexion</a:t>
                      </a:r>
                    </a:p>
                  </a:txBody>
                  <a:tcPr>
                    <a:solidFill>
                      <a:srgbClr val="FFFFFF"/>
                    </a:solidFill>
                  </a:tcPr>
                </a:tc>
                <a:tc>
                  <a:txBody>
                    <a:bodyPr/>
                    <a:lstStyle/>
                    <a:p>
                      <a:pPr algn="ctr"/>
                      <a:r>
                        <a:rPr sz="1600" b="0" i="0">
                          <a:solidFill>
                            <a:srgbClr val="333333"/>
                          </a:solidFill>
                          <a:latin typeface="Calibri"/>
                        </a:rPr>
                        <a:t>Accès sécurisé</a:t>
                      </a:r>
                    </a:p>
                  </a:txBody>
                  <a:tcPr>
                    <a:solidFill>
                      <a:srgbClr val="FFFFFF"/>
                    </a:solidFill>
                  </a:tcPr>
                </a:tc>
              </a:tr>
              <a:tr h="496388">
                <a:tc>
                  <a:txBody>
                    <a:bodyPr/>
                    <a:lstStyle/>
                    <a:p>
                      <a:pPr algn="l"/>
                      <a:r>
                        <a:rPr sz="1600" b="0" i="0">
                          <a:solidFill>
                            <a:srgbClr val="333333"/>
                          </a:solidFill>
                          <a:latin typeface="Calibri"/>
                        </a:rPr>
                        <a:t>Tableau de bord</a:t>
                      </a:r>
                    </a:p>
                  </a:txBody>
                  <a:tcPr>
                    <a:solidFill>
                      <a:srgbClr val="F1F3F5"/>
                    </a:solidFill>
                  </a:tcPr>
                </a:tc>
                <a:tc>
                  <a:txBody>
                    <a:bodyPr/>
                    <a:lstStyle/>
                    <a:p>
                      <a:pPr algn="ctr"/>
                      <a:r>
                        <a:rPr sz="1600" b="0" i="0">
                          <a:solidFill>
                            <a:srgbClr val="333333"/>
                          </a:solidFill>
                          <a:latin typeface="Calibri"/>
                        </a:rPr>
                        <a:t>Supervision temps réel, KPI, anneau de disponibilité</a:t>
                      </a:r>
                    </a:p>
                  </a:txBody>
                  <a:tcPr>
                    <a:solidFill>
                      <a:srgbClr val="F1F3F5"/>
                    </a:solidFill>
                  </a:tcPr>
                </a:tc>
              </a:tr>
              <a:tr h="496388">
                <a:tc>
                  <a:txBody>
                    <a:bodyPr/>
                    <a:lstStyle/>
                    <a:p>
                      <a:pPr algn="l"/>
                      <a:r>
                        <a:rPr sz="1600" b="0" i="0">
                          <a:solidFill>
                            <a:srgbClr val="333333"/>
                          </a:solidFill>
                          <a:latin typeface="Calibri"/>
                        </a:rPr>
                        <a:t>Équipements</a:t>
                      </a:r>
                    </a:p>
                  </a:txBody>
                  <a:tcPr>
                    <a:solidFill>
                      <a:srgbClr val="FFFFFF"/>
                    </a:solidFill>
                  </a:tcPr>
                </a:tc>
                <a:tc>
                  <a:txBody>
                    <a:bodyPr/>
                    <a:lstStyle/>
                    <a:p>
                      <a:pPr algn="ctr"/>
                      <a:r>
                        <a:rPr sz="1600" b="0" i="0">
                          <a:solidFill>
                            <a:srgbClr val="333333"/>
                          </a:solidFill>
                          <a:latin typeface="Calibri"/>
                        </a:rPr>
                        <a:t>Inventaire + découverte automatique</a:t>
                      </a:r>
                    </a:p>
                  </a:txBody>
                  <a:tcPr>
                    <a:solidFill>
                      <a:srgbClr val="FFFFFF"/>
                    </a:solidFill>
                  </a:tcPr>
                </a:tc>
              </a:tr>
              <a:tr h="496388">
                <a:tc>
                  <a:txBody>
                    <a:bodyPr/>
                    <a:lstStyle/>
                    <a:p>
                      <a:pPr algn="l"/>
                      <a:r>
                        <a:rPr sz="1600" b="0" i="0">
                          <a:solidFill>
                            <a:srgbClr val="333333"/>
                          </a:solidFill>
                          <a:latin typeface="Calibri"/>
                        </a:rPr>
                        <a:t>Alertes</a:t>
                      </a:r>
                    </a:p>
                  </a:txBody>
                  <a:tcPr>
                    <a:solidFill>
                      <a:srgbClr val="F1F3F5"/>
                    </a:solidFill>
                  </a:tcPr>
                </a:tc>
                <a:tc>
                  <a:txBody>
                    <a:bodyPr/>
                    <a:lstStyle/>
                    <a:p>
                      <a:pPr algn="ctr"/>
                      <a:r>
                        <a:rPr sz="1600" b="0" i="0">
                          <a:solidFill>
                            <a:srgbClr val="333333"/>
                          </a:solidFill>
                          <a:latin typeface="Calibri"/>
                        </a:rPr>
                        <a:t>Historique + acquittement</a:t>
                      </a:r>
                    </a:p>
                  </a:txBody>
                  <a:tcPr>
                    <a:solidFill>
                      <a:srgbClr val="F1F3F5"/>
                    </a:solidFill>
                  </a:tcPr>
                </a:tc>
              </a:tr>
              <a:tr h="496388">
                <a:tc>
                  <a:txBody>
                    <a:bodyPr/>
                    <a:lstStyle/>
                    <a:p>
                      <a:pPr algn="l"/>
                      <a:r>
                        <a:rPr sz="1600" b="0" i="0">
                          <a:solidFill>
                            <a:srgbClr val="333333"/>
                          </a:solidFill>
                          <a:latin typeface="Calibri"/>
                        </a:rPr>
                        <a:t>Notification Telegram</a:t>
                      </a:r>
                    </a:p>
                  </a:txBody>
                  <a:tcPr>
                    <a:solidFill>
                      <a:srgbClr val="FFFFFF"/>
                    </a:solidFill>
                  </a:tcPr>
                </a:tc>
                <a:tc>
                  <a:txBody>
                    <a:bodyPr/>
                    <a:lstStyle/>
                    <a:p>
                      <a:pPr algn="ctr"/>
                      <a:r>
                        <a:rPr sz="1600" b="0" i="0">
                          <a:solidFill>
                            <a:srgbClr val="333333"/>
                          </a:solidFill>
                          <a:latin typeface="Calibri"/>
                        </a:rPr>
                        <a:t>Alerte push reçue sur smartphone</a:t>
                      </a:r>
                    </a:p>
                  </a:txBody>
                  <a:tcPr>
                    <a:solidFill>
                      <a:srgbClr val="FFFFFF"/>
                    </a:solidFill>
                  </a:tcPr>
                </a:tc>
              </a:tr>
              <a:tr h="496392">
                <a:tc>
                  <a:txBody>
                    <a:bodyPr/>
                    <a:lstStyle/>
                    <a:p>
                      <a:pPr algn="l"/>
                      <a:r>
                        <a:rPr sz="1600" b="0" i="0">
                          <a:solidFill>
                            <a:srgbClr val="333333"/>
                          </a:solidFill>
                          <a:latin typeface="Calibri"/>
                        </a:rPr>
                        <a:t>Rapports</a:t>
                      </a:r>
                    </a:p>
                  </a:txBody>
                  <a:tcPr>
                    <a:solidFill>
                      <a:srgbClr val="F1F3F5"/>
                    </a:solidFill>
                  </a:tcPr>
                </a:tc>
                <a:tc>
                  <a:txBody>
                    <a:bodyPr/>
                    <a:lstStyle/>
                    <a:p>
                      <a:pPr algn="ctr"/>
                      <a:r>
                        <a:rPr sz="1600" b="0" i="0">
                          <a:solidFill>
                            <a:srgbClr val="333333"/>
                          </a:solidFill>
                          <a:latin typeface="Calibri"/>
                        </a:rPr>
                        <a:t>Statistiques &amp; graphiques exportables</a:t>
                      </a:r>
                    </a:p>
                  </a:txBody>
                  <a:tcPr>
                    <a:solidFill>
                      <a:srgbClr val="F1F3F5"/>
                    </a:solidFill>
                  </a:tcPr>
                </a:tc>
              </a:tr>
            </a:tbl>
          </a:graphicData>
        </a:graphic>
      </p:graphicFrame>
      <p:sp>
        <p:nvSpPr>
          <p:cNvPr id="6" name="Rectangle 5"/>
          <p:cNvSpPr/>
          <p:nvPr/>
        </p:nvSpPr>
        <p:spPr>
          <a:xfrm>
            <a:off x="640080" y="5212080"/>
            <a:ext cx="109728" cy="82296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5212080"/>
            <a:ext cx="10771632" cy="82296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À insérer : les captures d'écran réelles de l'application déployée chez OPEN MOISE.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9</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Valorisation pour OPEN MOISE &amp; concurrence</a:t>
            </a:r>
          </a:p>
        </p:txBody>
      </p:sp>
      <p:sp>
        <p:nvSpPr>
          <p:cNvPr id="5" name="TextBox 4"/>
          <p:cNvSpPr txBox="1"/>
          <p:nvPr/>
        </p:nvSpPr>
        <p:spPr>
          <a:xfrm>
            <a:off x="640080" y="1325880"/>
            <a:ext cx="10881360" cy="4754880"/>
          </a:xfrm>
          <a:prstGeom prst="rect">
            <a:avLst/>
          </a:prstGeom>
          <a:noFill/>
        </p:spPr>
        <p:txBody>
          <a:bodyPr wrap="square">
            <a:spAutoFit/>
          </a:bodyPr>
          <a:lstStyle/>
          <a:p>
            <a:pPr>
              <a:spcAft>
                <a:spcPts val="800"/>
              </a:spcAft>
            </a:pPr>
            <a:r>
              <a:rPr sz="1700" b="1" i="0">
                <a:solidFill>
                  <a:srgbClr val="0D3B66"/>
                </a:solidFill>
                <a:latin typeface="Calibri"/>
              </a:rPr>
              <a:t>•  Double valeur pour OPEN MOISE :</a:t>
            </a:r>
          </a:p>
          <a:p>
            <a:pPr lvl="1">
              <a:spcAft>
                <a:spcPts val="800"/>
              </a:spcAft>
            </a:pPr>
            <a:r>
              <a:rPr sz="1500" b="0" i="0">
                <a:solidFill>
                  <a:srgbClr val="333333"/>
                </a:solidFill>
                <a:latin typeface="Calibri"/>
              </a:rPr>
              <a:t>–  Outil INTERNE : industrialise la supervision, fiabilise les SLA, réduit l'astreinte</a:t>
            </a:r>
          </a:p>
          <a:p>
            <a:pPr lvl="1">
              <a:spcAft>
                <a:spcPts val="800"/>
              </a:spcAft>
            </a:pPr>
            <a:r>
              <a:rPr sz="1500" b="0" i="0">
                <a:solidFill>
                  <a:srgbClr val="333333"/>
                </a:solidFill>
                <a:latin typeface="Calibri"/>
              </a:rPr>
              <a:t>–  Nouvelle OFFRE : « Supervision managée » vendue aux clients d'OPEN MOISE</a:t>
            </a:r>
          </a:p>
          <a:p>
            <a:pPr>
              <a:spcAft>
                <a:spcPts val="800"/>
              </a:spcAft>
            </a:pPr>
            <a:r>
              <a:rPr sz="1700" b="0" i="0">
                <a:solidFill>
                  <a:srgbClr val="333333"/>
                </a:solidFill>
                <a:latin typeface="Calibri"/>
              </a:rPr>
              <a:t/>
            </a:r>
          </a:p>
          <a:p>
            <a:pPr>
              <a:spcAft>
                <a:spcPts val="800"/>
              </a:spcAft>
            </a:pPr>
            <a:r>
              <a:rPr sz="1700" b="1" i="0">
                <a:solidFill>
                  <a:srgbClr val="0D3B66"/>
                </a:solidFill>
                <a:latin typeface="Calibri"/>
              </a:rPr>
              <a:t>•  Proposition de valeur d'OPEN MOISE à ses clients :</a:t>
            </a:r>
          </a:p>
          <a:p>
            <a:pPr lvl="1">
              <a:spcAft>
                <a:spcPts val="800"/>
              </a:spcAft>
            </a:pPr>
            <a:r>
              <a:rPr sz="1500" b="0" i="0">
                <a:solidFill>
                  <a:srgbClr val="0D6EFD"/>
                </a:solidFill>
                <a:latin typeface="Calibri"/>
              </a:rPr>
              <a:t>–  « OPEN MOISE surveille votre réseau 24/7 et intervient avant que vous ne constatiez la panne. »</a:t>
            </a:r>
          </a:p>
          <a:p>
            <a:pPr>
              <a:spcAft>
                <a:spcPts val="800"/>
              </a:spcAft>
            </a:pPr>
            <a:r>
              <a:rPr sz="1700" b="0" i="0">
                <a:solidFill>
                  <a:srgbClr val="333333"/>
                </a:solidFill>
                <a:latin typeface="Calibri"/>
              </a:rPr>
              <a:t/>
            </a:r>
          </a:p>
          <a:p>
            <a:pPr>
              <a:spcAft>
                <a:spcPts val="800"/>
              </a:spcAft>
            </a:pPr>
            <a:r>
              <a:rPr sz="1700" b="1" i="0">
                <a:solidFill>
                  <a:srgbClr val="0D3B66"/>
                </a:solidFill>
                <a:latin typeface="Calibri"/>
              </a:rPr>
              <a:t>•  Monétisation (offre de service) :</a:t>
            </a:r>
          </a:p>
          <a:p>
            <a:pPr lvl="1">
              <a:spcAft>
                <a:spcPts val="800"/>
              </a:spcAft>
            </a:pPr>
            <a:r>
              <a:rPr sz="1500" b="0" i="0">
                <a:solidFill>
                  <a:srgbClr val="333333"/>
                </a:solidFill>
                <a:latin typeface="Calibri"/>
              </a:rPr>
              <a:t>–  Abonnement mensuel de supervision managée (par site / par équipement)</a:t>
            </a:r>
          </a:p>
          <a:p>
            <a:pPr lvl="1">
              <a:spcAft>
                <a:spcPts val="800"/>
              </a:spcAft>
            </a:pPr>
            <a:r>
              <a:rPr sz="1500" b="0" i="0">
                <a:solidFill>
                  <a:srgbClr val="333333"/>
                </a:solidFill>
                <a:latin typeface="Calibri"/>
              </a:rPr>
              <a:t>–  Option Pro : SNMP, multi-sites, IA prédictive, rapports SLA avancés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9</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Positionnement concurrentiel</a:t>
            </a:r>
          </a:p>
        </p:txBody>
      </p:sp>
      <p:graphicFrame>
        <p:nvGraphicFramePr>
          <p:cNvPr id="5" name="Table 4"/>
          <p:cNvGraphicFramePr>
            <a:graphicFrameLocks noGrp="1"/>
          </p:cNvGraphicFramePr>
          <p:nvPr/>
        </p:nvGraphicFramePr>
        <p:xfrm>
          <a:off x="640080" y="1371600"/>
          <a:ext cx="10881360" cy="3108960"/>
        </p:xfrm>
        <a:graphic>
          <a:graphicData uri="http://schemas.openxmlformats.org/drawingml/2006/table">
            <a:tbl>
              <a:tblPr firstRow="1" bandRow="1">
                <a:tableStyleId>{5C22544A-7EE6-4342-B048-85BDC9FD1C3A}</a:tableStyleId>
              </a:tblPr>
              <a:tblGrid>
                <a:gridCol w="2720340"/>
                <a:gridCol w="2720340"/>
                <a:gridCol w="2720340"/>
                <a:gridCol w="2720340"/>
              </a:tblGrid>
              <a:tr h="518160">
                <a:tc>
                  <a:txBody>
                    <a:bodyPr/>
                    <a:lstStyle/>
                    <a:p>
                      <a:pPr algn="ctr"/>
                      <a:r>
                        <a:rPr sz="1500" b="1" i="0">
                          <a:solidFill>
                            <a:srgbClr val="FFFFFF"/>
                          </a:solidFill>
                          <a:latin typeface="Calibri"/>
                        </a:rPr>
                        <a:t>Critère</a:t>
                      </a:r>
                    </a:p>
                  </a:txBody>
                  <a:tcPr>
                    <a:solidFill>
                      <a:srgbClr val="0D3B66"/>
                    </a:solidFill>
                  </a:tcPr>
                </a:tc>
                <a:tc>
                  <a:txBody>
                    <a:bodyPr/>
                    <a:lstStyle/>
                    <a:p>
                      <a:pPr algn="ctr"/>
                      <a:r>
                        <a:rPr sz="1500" b="1" i="0">
                          <a:solidFill>
                            <a:srgbClr val="FFFFFF"/>
                          </a:solidFill>
                          <a:latin typeface="Calibri"/>
                        </a:rPr>
                        <a:t>Nagios/Zabbix</a:t>
                      </a:r>
                    </a:p>
                  </a:txBody>
                  <a:tcPr>
                    <a:solidFill>
                      <a:srgbClr val="0D3B66"/>
                    </a:solidFill>
                  </a:tcPr>
                </a:tc>
                <a:tc>
                  <a:txBody>
                    <a:bodyPr/>
                    <a:lstStyle/>
                    <a:p>
                      <a:pPr algn="ctr"/>
                      <a:r>
                        <a:rPr sz="1500" b="1" i="0">
                          <a:solidFill>
                            <a:srgbClr val="FFFFFF"/>
                          </a:solidFill>
                          <a:latin typeface="Calibri"/>
                        </a:rPr>
                        <a:t>PRTG/SolarWinds</a:t>
                      </a:r>
                    </a:p>
                  </a:txBody>
                  <a:tcPr>
                    <a:solidFill>
                      <a:srgbClr val="0D3B66"/>
                    </a:solidFill>
                  </a:tcPr>
                </a:tc>
                <a:tc>
                  <a:txBody>
                    <a:bodyPr/>
                    <a:lstStyle/>
                    <a:p>
                      <a:pPr algn="ctr"/>
                      <a:r>
                        <a:rPr sz="1500" b="1" i="0">
                          <a:solidFill>
                            <a:srgbClr val="FFFFFF"/>
                          </a:solidFill>
                          <a:latin typeface="Calibri"/>
                        </a:rPr>
                        <a:t>Solution OPEN MOISE</a:t>
                      </a:r>
                    </a:p>
                  </a:txBody>
                  <a:tcPr>
                    <a:solidFill>
                      <a:srgbClr val="0D3B66"/>
                    </a:solidFill>
                  </a:tcPr>
                </a:tc>
              </a:tr>
              <a:tr h="518160">
                <a:tc>
                  <a:txBody>
                    <a:bodyPr/>
                    <a:lstStyle/>
                    <a:p>
                      <a:pPr algn="l"/>
                      <a:r>
                        <a:rPr sz="1500" b="0" i="0">
                          <a:solidFill>
                            <a:srgbClr val="333333"/>
                          </a:solidFill>
                          <a:latin typeface="Calibri"/>
                        </a:rPr>
                        <a:t>Prix</a:t>
                      </a:r>
                    </a:p>
                  </a:txBody>
                  <a:tcPr>
                    <a:solidFill>
                      <a:srgbClr val="FFFFFF"/>
                    </a:solidFill>
                  </a:tcPr>
                </a:tc>
                <a:tc>
                  <a:txBody>
                    <a:bodyPr/>
                    <a:lstStyle/>
                    <a:p>
                      <a:pPr algn="ctr"/>
                      <a:r>
                        <a:rPr sz="1500" b="0" i="0">
                          <a:solidFill>
                            <a:srgbClr val="333333"/>
                          </a:solidFill>
                          <a:latin typeface="Calibri"/>
                        </a:rPr>
                        <a:t>Gratuit mais coûteux</a:t>
                      </a:r>
                    </a:p>
                  </a:txBody>
                  <a:tcPr>
                    <a:solidFill>
                      <a:srgbClr val="FFFFFF"/>
                    </a:solidFill>
                  </a:tcPr>
                </a:tc>
                <a:tc>
                  <a:txBody>
                    <a:bodyPr/>
                    <a:lstStyle/>
                    <a:p>
                      <a:pPr algn="ctr"/>
                      <a:r>
                        <a:rPr sz="1500" b="0" i="0">
                          <a:solidFill>
                            <a:srgbClr val="333333"/>
                          </a:solidFill>
                          <a:latin typeface="Calibri"/>
                        </a:rPr>
                        <a:t>€€€</a:t>
                      </a:r>
                    </a:p>
                  </a:txBody>
                  <a:tcPr>
                    <a:solidFill>
                      <a:srgbClr val="FFFFFF"/>
                    </a:solidFill>
                  </a:tcPr>
                </a:tc>
                <a:tc>
                  <a:txBody>
                    <a:bodyPr/>
                    <a:lstStyle/>
                    <a:p>
                      <a:pPr algn="ctr"/>
                      <a:r>
                        <a:rPr sz="1500" b="1" i="0">
                          <a:solidFill>
                            <a:srgbClr val="198754"/>
                          </a:solidFill>
                          <a:latin typeface="Calibri"/>
                        </a:rPr>
                        <a:t>Gratuit + services</a:t>
                      </a:r>
                    </a:p>
                  </a:txBody>
                  <a:tcPr>
                    <a:solidFill>
                      <a:srgbClr val="FFFFFF"/>
                    </a:solidFill>
                  </a:tcPr>
                </a:tc>
              </a:tr>
              <a:tr h="518160">
                <a:tc>
                  <a:txBody>
                    <a:bodyPr/>
                    <a:lstStyle/>
                    <a:p>
                      <a:pPr algn="l"/>
                      <a:r>
                        <a:rPr sz="1500" b="0" i="0">
                          <a:solidFill>
                            <a:srgbClr val="333333"/>
                          </a:solidFill>
                          <a:latin typeface="Calibri"/>
                        </a:rPr>
                        <a:t>Simplicité</a:t>
                      </a:r>
                    </a:p>
                  </a:txBody>
                  <a:tcPr>
                    <a:solidFill>
                      <a:srgbClr val="F1F3F5"/>
                    </a:solidFill>
                  </a:tcPr>
                </a:tc>
                <a:tc>
                  <a:txBody>
                    <a:bodyPr/>
                    <a:lstStyle/>
                    <a:p>
                      <a:pPr algn="ctr"/>
                      <a:r>
                        <a:rPr sz="1500" b="0" i="0">
                          <a:solidFill>
                            <a:srgbClr val="333333"/>
                          </a:solidFill>
                          <a:latin typeface="Calibri"/>
                        </a:rPr>
                        <a:t>Faible</a:t>
                      </a:r>
                    </a:p>
                  </a:txBody>
                  <a:tcPr>
                    <a:solidFill>
                      <a:srgbClr val="F1F3F5"/>
                    </a:solidFill>
                  </a:tcPr>
                </a:tc>
                <a:tc>
                  <a:txBody>
                    <a:bodyPr/>
                    <a:lstStyle/>
                    <a:p>
                      <a:pPr algn="ctr"/>
                      <a:r>
                        <a:rPr sz="1500" b="0" i="0">
                          <a:solidFill>
                            <a:srgbClr val="333333"/>
                          </a:solidFill>
                          <a:latin typeface="Calibri"/>
                        </a:rPr>
                        <a:t>Élevée</a:t>
                      </a:r>
                    </a:p>
                  </a:txBody>
                  <a:tcPr>
                    <a:solidFill>
                      <a:srgbClr val="F1F3F5"/>
                    </a:solidFill>
                  </a:tcPr>
                </a:tc>
                <a:tc>
                  <a:txBody>
                    <a:bodyPr/>
                    <a:lstStyle/>
                    <a:p>
                      <a:pPr algn="ctr"/>
                      <a:r>
                        <a:rPr sz="1500" b="1" i="0">
                          <a:solidFill>
                            <a:srgbClr val="198754"/>
                          </a:solidFill>
                          <a:latin typeface="Calibri"/>
                        </a:rPr>
                        <a:t>Élevée</a:t>
                      </a:r>
                    </a:p>
                  </a:txBody>
                  <a:tcPr>
                    <a:solidFill>
                      <a:srgbClr val="F1F3F5"/>
                    </a:solidFill>
                  </a:tcPr>
                </a:tc>
              </a:tr>
              <a:tr h="518160">
                <a:tc>
                  <a:txBody>
                    <a:bodyPr/>
                    <a:lstStyle/>
                    <a:p>
                      <a:pPr algn="l"/>
                      <a:r>
                        <a:rPr sz="1500" b="0" i="0">
                          <a:solidFill>
                            <a:srgbClr val="333333"/>
                          </a:solidFill>
                          <a:latin typeface="Calibri"/>
                        </a:rPr>
                        <a:t>Légèreté</a:t>
                      </a:r>
                    </a:p>
                  </a:txBody>
                  <a:tcPr>
                    <a:solidFill>
                      <a:srgbClr val="FFFFFF"/>
                    </a:solidFill>
                  </a:tcPr>
                </a:tc>
                <a:tc>
                  <a:txBody>
                    <a:bodyPr/>
                    <a:lstStyle/>
                    <a:p>
                      <a:pPr algn="ctr"/>
                      <a:r>
                        <a:rPr sz="1500" b="0" i="0">
                          <a:solidFill>
                            <a:srgbClr val="333333"/>
                          </a:solidFill>
                          <a:latin typeface="Calibri"/>
                        </a:rPr>
                        <a:t>Moyenne/Faible</a:t>
                      </a:r>
                    </a:p>
                  </a:txBody>
                  <a:tcPr>
                    <a:solidFill>
                      <a:srgbClr val="FFFFFF"/>
                    </a:solidFill>
                  </a:tcPr>
                </a:tc>
                <a:tc>
                  <a:txBody>
                    <a:bodyPr/>
                    <a:lstStyle/>
                    <a:p>
                      <a:pPr algn="ctr"/>
                      <a:r>
                        <a:rPr sz="1500" b="0" i="0">
                          <a:solidFill>
                            <a:srgbClr val="333333"/>
                          </a:solidFill>
                          <a:latin typeface="Calibri"/>
                        </a:rPr>
                        <a:t>Faible</a:t>
                      </a:r>
                    </a:p>
                  </a:txBody>
                  <a:tcPr>
                    <a:solidFill>
                      <a:srgbClr val="FFFFFF"/>
                    </a:solidFill>
                  </a:tcPr>
                </a:tc>
                <a:tc>
                  <a:txBody>
                    <a:bodyPr/>
                    <a:lstStyle/>
                    <a:p>
                      <a:pPr algn="ctr"/>
                      <a:r>
                        <a:rPr sz="1500" b="1" i="0">
                          <a:solidFill>
                            <a:srgbClr val="198754"/>
                          </a:solidFill>
                          <a:latin typeface="Calibri"/>
                        </a:rPr>
                        <a:t>Très élevée</a:t>
                      </a:r>
                    </a:p>
                  </a:txBody>
                  <a:tcPr>
                    <a:solidFill>
                      <a:srgbClr val="FFFFFF"/>
                    </a:solidFill>
                  </a:tcPr>
                </a:tc>
              </a:tr>
              <a:tr h="518160">
                <a:tc>
                  <a:txBody>
                    <a:bodyPr/>
                    <a:lstStyle/>
                    <a:p>
                      <a:pPr algn="l"/>
                      <a:r>
                        <a:rPr sz="1500" b="0" i="0">
                          <a:solidFill>
                            <a:srgbClr val="333333"/>
                          </a:solidFill>
                          <a:latin typeface="Calibri"/>
                        </a:rPr>
                        <a:t>Alerte mobile native</a:t>
                      </a:r>
                    </a:p>
                  </a:txBody>
                  <a:tcPr>
                    <a:solidFill>
                      <a:srgbClr val="F1F3F5"/>
                    </a:solidFill>
                  </a:tcPr>
                </a:tc>
                <a:tc>
                  <a:txBody>
                    <a:bodyPr/>
                    <a:lstStyle/>
                    <a:p>
                      <a:pPr algn="ctr"/>
                      <a:r>
                        <a:rPr sz="1500" b="0" i="0">
                          <a:solidFill>
                            <a:srgbClr val="333333"/>
                          </a:solidFill>
                          <a:latin typeface="Calibri"/>
                        </a:rPr>
                        <a:t>Plugin</a:t>
                      </a:r>
                    </a:p>
                  </a:txBody>
                  <a:tcPr>
                    <a:solidFill>
                      <a:srgbClr val="F1F3F5"/>
                    </a:solidFill>
                  </a:tcPr>
                </a:tc>
                <a:tc>
                  <a:txBody>
                    <a:bodyPr/>
                    <a:lstStyle/>
                    <a:p>
                      <a:pPr algn="ctr"/>
                      <a:r>
                        <a:rPr sz="1500" b="0" i="0">
                          <a:solidFill>
                            <a:srgbClr val="333333"/>
                          </a:solidFill>
                          <a:latin typeface="Calibri"/>
                        </a:rPr>
                        <a:t>Appli</a:t>
                      </a:r>
                    </a:p>
                  </a:txBody>
                  <a:tcPr>
                    <a:solidFill>
                      <a:srgbClr val="F1F3F5"/>
                    </a:solidFill>
                  </a:tcPr>
                </a:tc>
                <a:tc>
                  <a:txBody>
                    <a:bodyPr/>
                    <a:lstStyle/>
                    <a:p>
                      <a:pPr algn="ctr"/>
                      <a:r>
                        <a:rPr sz="1500" b="1" i="0">
                          <a:solidFill>
                            <a:srgbClr val="198754"/>
                          </a:solidFill>
                          <a:latin typeface="Calibri"/>
                        </a:rPr>
                        <a:t>Telegram natif</a:t>
                      </a:r>
                    </a:p>
                  </a:txBody>
                  <a:tcPr>
                    <a:solidFill>
                      <a:srgbClr val="F1F3F5"/>
                    </a:solidFill>
                  </a:tcPr>
                </a:tc>
              </a:tr>
              <a:tr h="518160">
                <a:tc>
                  <a:txBody>
                    <a:bodyPr/>
                    <a:lstStyle/>
                    <a:p>
                      <a:pPr algn="l"/>
                      <a:r>
                        <a:rPr sz="1500" b="0" i="0">
                          <a:solidFill>
                            <a:srgbClr val="333333"/>
                          </a:solidFill>
                          <a:latin typeface="Calibri"/>
                        </a:rPr>
                        <a:t>Sur-mesure / ouvert</a:t>
                      </a:r>
                    </a:p>
                  </a:txBody>
                  <a:tcPr>
                    <a:solidFill>
                      <a:srgbClr val="FFFFFF"/>
                    </a:solidFill>
                  </a:tcPr>
                </a:tc>
                <a:tc>
                  <a:txBody>
                    <a:bodyPr/>
                    <a:lstStyle/>
                    <a:p>
                      <a:pPr algn="ctr"/>
                      <a:r>
                        <a:rPr sz="1500" b="0" i="0">
                          <a:solidFill>
                            <a:srgbClr val="333333"/>
                          </a:solidFill>
                          <a:latin typeface="Calibri"/>
                        </a:rPr>
                        <a:t>Limité</a:t>
                      </a:r>
                    </a:p>
                  </a:txBody>
                  <a:tcPr>
                    <a:solidFill>
                      <a:srgbClr val="FFFFFF"/>
                    </a:solidFill>
                  </a:tcPr>
                </a:tc>
                <a:tc>
                  <a:txBody>
                    <a:bodyPr/>
                    <a:lstStyle/>
                    <a:p>
                      <a:pPr algn="ctr"/>
                      <a:r>
                        <a:rPr sz="1500" b="0" i="0">
                          <a:solidFill>
                            <a:srgbClr val="333333"/>
                          </a:solidFill>
                          <a:latin typeface="Calibri"/>
                        </a:rPr>
                        <a:t>Non</a:t>
                      </a:r>
                    </a:p>
                  </a:txBody>
                  <a:tcPr>
                    <a:solidFill>
                      <a:srgbClr val="FFFFFF"/>
                    </a:solidFill>
                  </a:tcPr>
                </a:tc>
                <a:tc>
                  <a:txBody>
                    <a:bodyPr/>
                    <a:lstStyle/>
                    <a:p>
                      <a:pPr algn="ctr"/>
                      <a:r>
                        <a:rPr sz="1500" b="1" i="0">
                          <a:solidFill>
                            <a:srgbClr val="198754"/>
                          </a:solidFill>
                          <a:latin typeface="Calibri"/>
                        </a:rPr>
                        <a:t>Total</a:t>
                      </a:r>
                    </a:p>
                  </a:txBody>
                  <a:tcPr>
                    <a:solidFill>
                      <a:srgbClr val="FFFFFF"/>
                    </a:solidFill>
                  </a:tcPr>
                </a:tc>
              </a:tr>
            </a:tbl>
          </a:graphicData>
        </a:graphic>
      </p:graphicFrame>
      <p:sp>
        <p:nvSpPr>
          <p:cNvPr id="6" name="Rectangle 5"/>
          <p:cNvSpPr/>
          <p:nvPr/>
        </p:nvSpPr>
        <p:spPr>
          <a:xfrm>
            <a:off x="640080" y="4937760"/>
            <a:ext cx="109728" cy="10058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4937760"/>
            <a:ext cx="10771632" cy="100584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Stratégie d'OPEN MOISE : ne pas affronter les géants sur le haut de gamme, mais se différencier sur le segment des PME avec une offre managée simple et sans licence (« océan bleu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10</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Prévisions financières (OPEN MOISE)</a:t>
            </a:r>
          </a:p>
        </p:txBody>
      </p:sp>
      <p:sp>
        <p:nvSpPr>
          <p:cNvPr id="5" name="TextBox 4"/>
          <p:cNvSpPr txBox="1"/>
          <p:nvPr/>
        </p:nvSpPr>
        <p:spPr>
          <a:xfrm>
            <a:off x="640080" y="1234440"/>
            <a:ext cx="5394960" cy="457200"/>
          </a:xfrm>
          <a:prstGeom prst="rect">
            <a:avLst/>
          </a:prstGeom>
          <a:noFill/>
        </p:spPr>
        <p:txBody>
          <a:bodyPr wrap="square">
            <a:spAutoFit/>
          </a:bodyPr>
          <a:lstStyle/>
          <a:p>
            <a:r>
              <a:rPr sz="1700" b="1" i="0">
                <a:solidFill>
                  <a:srgbClr val="0D3B66"/>
                </a:solidFill>
                <a:latin typeface="Calibri"/>
              </a:rPr>
              <a:t>Investissement d'OPEN MOISE</a:t>
            </a:r>
          </a:p>
        </p:txBody>
      </p:sp>
      <p:graphicFrame>
        <p:nvGraphicFramePr>
          <p:cNvPr id="6" name="Table 5"/>
          <p:cNvGraphicFramePr>
            <a:graphicFrameLocks noGrp="1"/>
          </p:cNvGraphicFramePr>
          <p:nvPr/>
        </p:nvGraphicFramePr>
        <p:xfrm>
          <a:off x="640080" y="1737360"/>
          <a:ext cx="5394960" cy="2377440"/>
        </p:xfrm>
        <a:graphic>
          <a:graphicData uri="http://schemas.openxmlformats.org/drawingml/2006/table">
            <a:tbl>
              <a:tblPr firstRow="1" bandRow="1">
                <a:tableStyleId>{5C22544A-7EE6-4342-B048-85BDC9FD1C3A}</a:tableStyleId>
              </a:tblPr>
              <a:tblGrid>
                <a:gridCol w="2697480"/>
                <a:gridCol w="2697480"/>
              </a:tblGrid>
              <a:tr h="475488">
                <a:tc>
                  <a:txBody>
                    <a:bodyPr/>
                    <a:lstStyle/>
                    <a:p>
                      <a:pPr algn="ctr"/>
                      <a:r>
                        <a:rPr sz="1500" b="1" i="0">
                          <a:solidFill>
                            <a:srgbClr val="FFFFFF"/>
                          </a:solidFill>
                          <a:latin typeface="Calibri"/>
                        </a:rPr>
                        <a:t>Poste</a:t>
                      </a:r>
                    </a:p>
                  </a:txBody>
                  <a:tcPr>
                    <a:solidFill>
                      <a:srgbClr val="0D3B66"/>
                    </a:solidFill>
                  </a:tcPr>
                </a:tc>
                <a:tc>
                  <a:txBody>
                    <a:bodyPr/>
                    <a:lstStyle/>
                    <a:p>
                      <a:pPr algn="ctr"/>
                      <a:r>
                        <a:rPr sz="1500" b="1" i="0">
                          <a:solidFill>
                            <a:srgbClr val="FFFFFF"/>
                          </a:solidFill>
                          <a:latin typeface="Calibri"/>
                        </a:rPr>
                        <a:t>Coût</a:t>
                      </a:r>
                    </a:p>
                  </a:txBody>
                  <a:tcPr>
                    <a:solidFill>
                      <a:srgbClr val="0D3B66"/>
                    </a:solidFill>
                  </a:tcPr>
                </a:tc>
              </a:tr>
              <a:tr h="475488">
                <a:tc>
                  <a:txBody>
                    <a:bodyPr/>
                    <a:lstStyle/>
                    <a:p>
                      <a:pPr algn="l"/>
                      <a:r>
                        <a:rPr sz="1500" b="0" i="0">
                          <a:solidFill>
                            <a:srgbClr val="333333"/>
                          </a:solidFill>
                          <a:latin typeface="Calibri"/>
                        </a:rPr>
                        <a:t>Licences logicielles</a:t>
                      </a:r>
                    </a:p>
                  </a:txBody>
                  <a:tcPr>
                    <a:solidFill>
                      <a:srgbClr val="FFFFFF"/>
                    </a:solidFill>
                  </a:tcPr>
                </a:tc>
                <a:tc>
                  <a:txBody>
                    <a:bodyPr/>
                    <a:lstStyle/>
                    <a:p>
                      <a:pPr algn="ctr"/>
                      <a:r>
                        <a:rPr sz="1500" b="0" i="0">
                          <a:solidFill>
                            <a:srgbClr val="333333"/>
                          </a:solidFill>
                          <a:latin typeface="Calibri"/>
                        </a:rPr>
                        <a:t>0 € (open-source)</a:t>
                      </a:r>
                    </a:p>
                  </a:txBody>
                  <a:tcPr>
                    <a:solidFill>
                      <a:srgbClr val="FFFFFF"/>
                    </a:solidFill>
                  </a:tcPr>
                </a:tc>
              </a:tr>
              <a:tr h="475488">
                <a:tc>
                  <a:txBody>
                    <a:bodyPr/>
                    <a:lstStyle/>
                    <a:p>
                      <a:pPr algn="l"/>
                      <a:r>
                        <a:rPr sz="1500" b="0" i="0">
                          <a:solidFill>
                            <a:srgbClr val="333333"/>
                          </a:solidFill>
                          <a:latin typeface="Calibri"/>
                        </a:rPr>
                        <a:t>Serveur / VM (mutualisé)</a:t>
                      </a:r>
                    </a:p>
                  </a:txBody>
                  <a:tcPr>
                    <a:solidFill>
                      <a:srgbClr val="F1F3F5"/>
                    </a:solidFill>
                  </a:tcPr>
                </a:tc>
                <a:tc>
                  <a:txBody>
                    <a:bodyPr/>
                    <a:lstStyle/>
                    <a:p>
                      <a:pPr algn="ctr"/>
                      <a:r>
                        <a:rPr sz="1500" b="0" i="0">
                          <a:solidFill>
                            <a:srgbClr val="333333"/>
                          </a:solidFill>
                          <a:latin typeface="Calibri"/>
                        </a:rPr>
                        <a:t>~150–300 €</a:t>
                      </a:r>
                    </a:p>
                  </a:txBody>
                  <a:tcPr>
                    <a:solidFill>
                      <a:srgbClr val="F1F3F5"/>
                    </a:solidFill>
                  </a:tcPr>
                </a:tc>
              </a:tr>
              <a:tr h="475488">
                <a:tc>
                  <a:txBody>
                    <a:bodyPr/>
                    <a:lstStyle/>
                    <a:p>
                      <a:pPr algn="l"/>
                      <a:r>
                        <a:rPr sz="1500" b="0" i="0">
                          <a:solidFill>
                            <a:srgbClr val="333333"/>
                          </a:solidFill>
                          <a:latin typeface="Calibri"/>
                        </a:rPr>
                        <a:t>Développement &amp; déploiement</a:t>
                      </a:r>
                    </a:p>
                  </a:txBody>
                  <a:tcPr>
                    <a:solidFill>
                      <a:srgbClr val="FFFFFF"/>
                    </a:solidFill>
                  </a:tcPr>
                </a:tc>
                <a:tc>
                  <a:txBody>
                    <a:bodyPr/>
                    <a:lstStyle/>
                    <a:p>
                      <a:pPr algn="ctr"/>
                      <a:r>
                        <a:rPr sz="1500" b="0" i="0">
                          <a:solidFill>
                            <a:srgbClr val="333333"/>
                          </a:solidFill>
                          <a:latin typeface="Calibri"/>
                        </a:rPr>
                        <a:t>Interne (réalisé)</a:t>
                      </a:r>
                    </a:p>
                  </a:txBody>
                  <a:tcPr>
                    <a:solidFill>
                      <a:srgbClr val="FFFFFF"/>
                    </a:solidFill>
                  </a:tcPr>
                </a:tc>
              </a:tr>
              <a:tr h="475488">
                <a:tc>
                  <a:txBody>
                    <a:bodyPr/>
                    <a:lstStyle/>
                    <a:p>
                      <a:pPr algn="l"/>
                      <a:r>
                        <a:rPr sz="1500" b="0" i="0">
                          <a:solidFill>
                            <a:srgbClr val="333333"/>
                          </a:solidFill>
                          <a:latin typeface="Calibri"/>
                        </a:rPr>
                        <a:t>Total d'entrée</a:t>
                      </a:r>
                    </a:p>
                  </a:txBody>
                  <a:tcPr>
                    <a:solidFill>
                      <a:srgbClr val="F1F3F5"/>
                    </a:solidFill>
                  </a:tcPr>
                </a:tc>
                <a:tc>
                  <a:txBody>
                    <a:bodyPr/>
                    <a:lstStyle/>
                    <a:p>
                      <a:pPr algn="ctr"/>
                      <a:r>
                        <a:rPr sz="1500" b="0" i="0">
                          <a:solidFill>
                            <a:srgbClr val="333333"/>
                          </a:solidFill>
                          <a:latin typeface="Calibri"/>
                        </a:rPr>
                        <a:t>≈ 200 €</a:t>
                      </a:r>
                    </a:p>
                  </a:txBody>
                  <a:tcPr>
                    <a:solidFill>
                      <a:srgbClr val="F1F3F5"/>
                    </a:solidFill>
                  </a:tcPr>
                </a:tc>
              </a:tr>
            </a:tbl>
          </a:graphicData>
        </a:graphic>
      </p:graphicFrame>
      <p:sp>
        <p:nvSpPr>
          <p:cNvPr id="7" name="TextBox 6"/>
          <p:cNvSpPr txBox="1"/>
          <p:nvPr/>
        </p:nvSpPr>
        <p:spPr>
          <a:xfrm>
            <a:off x="6309360" y="1234440"/>
            <a:ext cx="5394960" cy="457200"/>
          </a:xfrm>
          <a:prstGeom prst="rect">
            <a:avLst/>
          </a:prstGeom>
          <a:noFill/>
        </p:spPr>
        <p:txBody>
          <a:bodyPr wrap="square">
            <a:spAutoFit/>
          </a:bodyPr>
          <a:lstStyle/>
          <a:p>
            <a:r>
              <a:rPr sz="1600" b="1" i="0">
                <a:solidFill>
                  <a:srgbClr val="0D3B66"/>
                </a:solidFill>
                <a:latin typeface="Calibri"/>
              </a:rPr>
              <a:t>Revenus &amp; gains pour OPEN MOISE (an 1)</a:t>
            </a:r>
          </a:p>
        </p:txBody>
      </p:sp>
      <p:graphicFrame>
        <p:nvGraphicFramePr>
          <p:cNvPr id="8" name="Table 7"/>
          <p:cNvGraphicFramePr>
            <a:graphicFrameLocks noGrp="1"/>
          </p:cNvGraphicFramePr>
          <p:nvPr/>
        </p:nvGraphicFramePr>
        <p:xfrm>
          <a:off x="6309360" y="1737360"/>
          <a:ext cx="5394960" cy="2651760"/>
        </p:xfrm>
        <a:graphic>
          <a:graphicData uri="http://schemas.openxmlformats.org/drawingml/2006/table">
            <a:tbl>
              <a:tblPr firstRow="1" bandRow="1">
                <a:tableStyleId>{5C22544A-7EE6-4342-B048-85BDC9FD1C3A}</a:tableStyleId>
              </a:tblPr>
              <a:tblGrid>
                <a:gridCol w="1798320"/>
                <a:gridCol w="1798320"/>
                <a:gridCol w="1798320"/>
              </a:tblGrid>
              <a:tr h="441960">
                <a:tc>
                  <a:txBody>
                    <a:bodyPr/>
                    <a:lstStyle/>
                    <a:p>
                      <a:pPr algn="ctr"/>
                      <a:r>
                        <a:rPr sz="1300" b="1" i="0">
                          <a:solidFill>
                            <a:srgbClr val="FFFFFF"/>
                          </a:solidFill>
                          <a:latin typeface="Calibri"/>
                        </a:rPr>
                        <a:t>Source</a:t>
                      </a:r>
                    </a:p>
                  </a:txBody>
                  <a:tcPr>
                    <a:solidFill>
                      <a:srgbClr val="0D3B66"/>
                    </a:solidFill>
                  </a:tcPr>
                </a:tc>
                <a:tc>
                  <a:txBody>
                    <a:bodyPr/>
                    <a:lstStyle/>
                    <a:p>
                      <a:pPr algn="ctr"/>
                      <a:r>
                        <a:rPr sz="1300" b="1" i="0">
                          <a:solidFill>
                            <a:srgbClr val="FFFFFF"/>
                          </a:solidFill>
                          <a:latin typeface="Calibri"/>
                        </a:rPr>
                        <a:t>Hypothèse</a:t>
                      </a:r>
                    </a:p>
                  </a:txBody>
                  <a:tcPr>
                    <a:solidFill>
                      <a:srgbClr val="0D3B66"/>
                    </a:solidFill>
                  </a:tcPr>
                </a:tc>
                <a:tc>
                  <a:txBody>
                    <a:bodyPr/>
                    <a:lstStyle/>
                    <a:p>
                      <a:pPr algn="ctr"/>
                      <a:r>
                        <a:rPr sz="1300" b="1" i="0">
                          <a:solidFill>
                            <a:srgbClr val="FFFFFF"/>
                          </a:solidFill>
                          <a:latin typeface="Calibri"/>
                        </a:rPr>
                        <a:t>Montant</a:t>
                      </a:r>
                    </a:p>
                  </a:txBody>
                  <a:tcPr>
                    <a:solidFill>
                      <a:srgbClr val="0D3B66"/>
                    </a:solidFill>
                  </a:tcPr>
                </a:tc>
              </a:tr>
              <a:tr h="441960">
                <a:tc>
                  <a:txBody>
                    <a:bodyPr/>
                    <a:lstStyle/>
                    <a:p>
                      <a:pPr algn="l"/>
                      <a:r>
                        <a:rPr sz="1300" b="0" i="0">
                          <a:solidFill>
                            <a:srgbClr val="333333"/>
                          </a:solidFill>
                          <a:latin typeface="Calibri"/>
                        </a:rPr>
                        <a:t>Supervision managée</a:t>
                      </a:r>
                    </a:p>
                  </a:txBody>
                  <a:tcPr>
                    <a:solidFill>
                      <a:srgbClr val="FFFFFF"/>
                    </a:solidFill>
                  </a:tcPr>
                </a:tc>
                <a:tc>
                  <a:txBody>
                    <a:bodyPr/>
                    <a:lstStyle/>
                    <a:p>
                      <a:pPr algn="ctr"/>
                      <a:r>
                        <a:rPr sz="1300" b="0" i="0">
                          <a:solidFill>
                            <a:srgbClr val="333333"/>
                          </a:solidFill>
                          <a:latin typeface="Calibri"/>
                        </a:rPr>
                        <a:t>10 clients × 40 €/mois</a:t>
                      </a:r>
                    </a:p>
                  </a:txBody>
                  <a:tcPr>
                    <a:solidFill>
                      <a:srgbClr val="FFFFFF"/>
                    </a:solidFill>
                  </a:tcPr>
                </a:tc>
                <a:tc>
                  <a:txBody>
                    <a:bodyPr/>
                    <a:lstStyle/>
                    <a:p>
                      <a:pPr algn="ctr"/>
                      <a:r>
                        <a:rPr sz="1300" b="1" i="0">
                          <a:solidFill>
                            <a:srgbClr val="198754"/>
                          </a:solidFill>
                          <a:latin typeface="Calibri"/>
                        </a:rPr>
                        <a:t>4 800 €</a:t>
                      </a:r>
                    </a:p>
                  </a:txBody>
                  <a:tcPr>
                    <a:solidFill>
                      <a:srgbClr val="FFFFFF"/>
                    </a:solidFill>
                  </a:tcPr>
                </a:tc>
              </a:tr>
              <a:tr h="441960">
                <a:tc>
                  <a:txBody>
                    <a:bodyPr/>
                    <a:lstStyle/>
                    <a:p>
                      <a:pPr algn="l"/>
                      <a:r>
                        <a:rPr sz="1300" b="0" i="0">
                          <a:solidFill>
                            <a:srgbClr val="333333"/>
                          </a:solidFill>
                          <a:latin typeface="Calibri"/>
                        </a:rPr>
                        <a:t>Mise en service client</a:t>
                      </a:r>
                    </a:p>
                  </a:txBody>
                  <a:tcPr>
                    <a:solidFill>
                      <a:srgbClr val="F1F3F5"/>
                    </a:solidFill>
                  </a:tcPr>
                </a:tc>
                <a:tc>
                  <a:txBody>
                    <a:bodyPr/>
                    <a:lstStyle/>
                    <a:p>
                      <a:pPr algn="ctr"/>
                      <a:r>
                        <a:rPr sz="1300" b="0" i="0">
                          <a:solidFill>
                            <a:srgbClr val="333333"/>
                          </a:solidFill>
                          <a:latin typeface="Calibri"/>
                        </a:rPr>
                        <a:t>10 × 300 €</a:t>
                      </a:r>
                    </a:p>
                  </a:txBody>
                  <a:tcPr>
                    <a:solidFill>
                      <a:srgbClr val="F1F3F5"/>
                    </a:solidFill>
                  </a:tcPr>
                </a:tc>
                <a:tc>
                  <a:txBody>
                    <a:bodyPr/>
                    <a:lstStyle/>
                    <a:p>
                      <a:pPr algn="ctr"/>
                      <a:r>
                        <a:rPr sz="1300" b="1" i="0">
                          <a:solidFill>
                            <a:srgbClr val="198754"/>
                          </a:solidFill>
                          <a:latin typeface="Calibri"/>
                        </a:rPr>
                        <a:t>3 000 €</a:t>
                      </a:r>
                    </a:p>
                  </a:txBody>
                  <a:tcPr>
                    <a:solidFill>
                      <a:srgbClr val="F1F3F5"/>
                    </a:solidFill>
                  </a:tcPr>
                </a:tc>
              </a:tr>
              <a:tr h="441960">
                <a:tc>
                  <a:txBody>
                    <a:bodyPr/>
                    <a:lstStyle/>
                    <a:p>
                      <a:pPr algn="l"/>
                      <a:r>
                        <a:rPr sz="1300" b="0" i="0">
                          <a:solidFill>
                            <a:srgbClr val="333333"/>
                          </a:solidFill>
                          <a:latin typeface="Calibri"/>
                        </a:rPr>
                        <a:t>Option Pro (SNMP/IA)</a:t>
                      </a:r>
                    </a:p>
                  </a:txBody>
                  <a:tcPr>
                    <a:solidFill>
                      <a:srgbClr val="FFFFFF"/>
                    </a:solidFill>
                  </a:tcPr>
                </a:tc>
                <a:tc>
                  <a:txBody>
                    <a:bodyPr/>
                    <a:lstStyle/>
                    <a:p>
                      <a:pPr algn="ctr"/>
                      <a:r>
                        <a:rPr sz="1300" b="0" i="0">
                          <a:solidFill>
                            <a:srgbClr val="333333"/>
                          </a:solidFill>
                          <a:latin typeface="Calibri"/>
                        </a:rPr>
                        <a:t>3 × 500 €</a:t>
                      </a:r>
                    </a:p>
                  </a:txBody>
                  <a:tcPr>
                    <a:solidFill>
                      <a:srgbClr val="FFFFFF"/>
                    </a:solidFill>
                  </a:tcPr>
                </a:tc>
                <a:tc>
                  <a:txBody>
                    <a:bodyPr/>
                    <a:lstStyle/>
                    <a:p>
                      <a:pPr algn="ctr"/>
                      <a:r>
                        <a:rPr sz="1300" b="1" i="0">
                          <a:solidFill>
                            <a:srgbClr val="198754"/>
                          </a:solidFill>
                          <a:latin typeface="Calibri"/>
                        </a:rPr>
                        <a:t>1 500 €</a:t>
                      </a:r>
                    </a:p>
                  </a:txBody>
                  <a:tcPr>
                    <a:solidFill>
                      <a:srgbClr val="FFFFFF"/>
                    </a:solidFill>
                  </a:tcPr>
                </a:tc>
              </a:tr>
              <a:tr h="441960">
                <a:tc>
                  <a:txBody>
                    <a:bodyPr/>
                    <a:lstStyle/>
                    <a:p>
                      <a:pPr algn="l"/>
                      <a:r>
                        <a:rPr sz="1300" b="0" i="0">
                          <a:solidFill>
                            <a:srgbClr val="333333"/>
                          </a:solidFill>
                          <a:latin typeface="Calibri"/>
                        </a:rPr>
                        <a:t>Pénalités SLA évitées</a:t>
                      </a:r>
                    </a:p>
                  </a:txBody>
                  <a:tcPr>
                    <a:solidFill>
                      <a:srgbClr val="F1F3F5"/>
                    </a:solidFill>
                  </a:tcPr>
                </a:tc>
                <a:tc>
                  <a:txBody>
                    <a:bodyPr/>
                    <a:lstStyle/>
                    <a:p>
                      <a:pPr algn="ctr"/>
                      <a:r>
                        <a:rPr sz="1300" b="0" i="0">
                          <a:solidFill>
                            <a:srgbClr val="333333"/>
                          </a:solidFill>
                          <a:latin typeface="Calibri"/>
                        </a:rPr>
                        <a:t>estimation</a:t>
                      </a:r>
                    </a:p>
                  </a:txBody>
                  <a:tcPr>
                    <a:solidFill>
                      <a:srgbClr val="F1F3F5"/>
                    </a:solidFill>
                  </a:tcPr>
                </a:tc>
                <a:tc>
                  <a:txBody>
                    <a:bodyPr/>
                    <a:lstStyle/>
                    <a:p>
                      <a:pPr algn="ctr"/>
                      <a:r>
                        <a:rPr sz="1300" b="1" i="0">
                          <a:solidFill>
                            <a:srgbClr val="198754"/>
                          </a:solidFill>
                          <a:latin typeface="Calibri"/>
                        </a:rPr>
                        <a:t>+ gains</a:t>
                      </a:r>
                    </a:p>
                  </a:txBody>
                  <a:tcPr>
                    <a:solidFill>
                      <a:srgbClr val="F1F3F5"/>
                    </a:solidFill>
                  </a:tcPr>
                </a:tc>
              </a:tr>
              <a:tr h="441960">
                <a:tc>
                  <a:txBody>
                    <a:bodyPr/>
                    <a:lstStyle/>
                    <a:p>
                      <a:pPr algn="l"/>
                      <a:r>
                        <a:rPr sz="1300" b="0" i="0">
                          <a:solidFill>
                            <a:srgbClr val="333333"/>
                          </a:solidFill>
                          <a:latin typeface="Calibri"/>
                        </a:rPr>
                        <a:t>Total an 1</a:t>
                      </a:r>
                    </a:p>
                  </a:txBody>
                  <a:tcPr>
                    <a:solidFill>
                      <a:srgbClr val="FFFFFF"/>
                    </a:solidFill>
                  </a:tcPr>
                </a:tc>
                <a:tc>
                  <a:txBody>
                    <a:bodyPr/>
                    <a:lstStyle/>
                    <a:p>
                      <a:pPr algn="ctr"/>
                      <a:r>
                        <a:rPr sz="1300" b="0" i="0">
                          <a:solidFill>
                            <a:srgbClr val="333333"/>
                          </a:solidFill>
                          <a:latin typeface="Calibri"/>
                        </a:rPr>
                        <a:t/>
                      </a:r>
                    </a:p>
                  </a:txBody>
                  <a:tcPr>
                    <a:solidFill>
                      <a:srgbClr val="FFFFFF"/>
                    </a:solidFill>
                  </a:tcPr>
                </a:tc>
                <a:tc>
                  <a:txBody>
                    <a:bodyPr/>
                    <a:lstStyle/>
                    <a:p>
                      <a:pPr algn="ctr"/>
                      <a:r>
                        <a:rPr sz="1300" b="1" i="0">
                          <a:solidFill>
                            <a:srgbClr val="198754"/>
                          </a:solidFill>
                          <a:latin typeface="Calibri"/>
                        </a:rPr>
                        <a:t>≈ 9 300 €</a:t>
                      </a:r>
                    </a:p>
                  </a:txBody>
                  <a:tcPr>
                    <a:solidFill>
                      <a:srgbClr val="FFFFFF"/>
                    </a:solidFill>
                  </a:tcPr>
                </a:tc>
              </a:tr>
            </a:tbl>
          </a:graphicData>
        </a:graphic>
      </p:graphicFrame>
      <p:sp>
        <p:nvSpPr>
          <p:cNvPr id="9" name="Rectangle 8"/>
          <p:cNvSpPr/>
          <p:nvPr/>
        </p:nvSpPr>
        <p:spPr>
          <a:xfrm>
            <a:off x="640080" y="5394960"/>
            <a:ext cx="109728"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5394960"/>
            <a:ext cx="10771632" cy="91440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Double retour pour OPEN MOISE : revenus récurrents (offre managée) + économies internes (moins d'astreinte, pénalités SLA évitées). Investissement ≈ 200 € amorti dès le 1er client.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20040" y="201168"/>
            <a:ext cx="658368" cy="658368"/>
          </a:xfrm>
          <a:prstGeom prst="ellipse">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600" b="1" i="0">
                <a:solidFill>
                  <a:srgbClr val="FFFFFF"/>
                </a:solidFill>
                <a:latin typeface="Calibri"/>
              </a:rPr>
              <a:t>11</a:t>
            </a:r>
          </a:p>
        </p:txBody>
      </p:sp>
      <p:sp>
        <p:nvSpPr>
          <p:cNvPr id="4" name="TextBox 3"/>
          <p:cNvSpPr txBox="1"/>
          <p:nvPr/>
        </p:nvSpPr>
        <p:spPr>
          <a:xfrm>
            <a:off x="1143000" y="164592"/>
            <a:ext cx="10774375" cy="731520"/>
          </a:xfrm>
          <a:prstGeom prst="rect">
            <a:avLst/>
          </a:prstGeom>
          <a:noFill/>
        </p:spPr>
        <p:txBody>
          <a:bodyPr wrap="square" anchor="ctr">
            <a:spAutoFit/>
          </a:bodyPr>
          <a:lstStyle/>
          <a:p>
            <a:r>
              <a:rPr sz="3000" b="1" i="0">
                <a:solidFill>
                  <a:srgbClr val="FFFFFF"/>
                </a:solidFill>
                <a:latin typeface="Calibri"/>
              </a:rPr>
              <a:t>Limites du projet et perspectives</a:t>
            </a:r>
          </a:p>
        </p:txBody>
      </p:sp>
      <p:sp>
        <p:nvSpPr>
          <p:cNvPr id="5" name="TextBox 4"/>
          <p:cNvSpPr txBox="1"/>
          <p:nvPr/>
        </p:nvSpPr>
        <p:spPr>
          <a:xfrm>
            <a:off x="640080" y="1280160"/>
            <a:ext cx="10881360" cy="4937760"/>
          </a:xfrm>
          <a:prstGeom prst="rect">
            <a:avLst/>
          </a:prstGeom>
          <a:noFill/>
        </p:spPr>
        <p:txBody>
          <a:bodyPr wrap="square">
            <a:spAutoFit/>
          </a:bodyPr>
          <a:lstStyle/>
          <a:p>
            <a:pPr>
              <a:spcAft>
                <a:spcPts val="600"/>
              </a:spcAft>
            </a:pPr>
            <a:r>
              <a:rPr sz="1800" b="1" i="0">
                <a:solidFill>
                  <a:srgbClr val="D62828"/>
                </a:solidFill>
                <a:latin typeface="Calibri"/>
              </a:rPr>
              <a:t>•  Limites assumées :</a:t>
            </a:r>
          </a:p>
          <a:p>
            <a:pPr lvl="1">
              <a:spcAft>
                <a:spcPts val="600"/>
              </a:spcAft>
            </a:pPr>
            <a:r>
              <a:rPr sz="1600" b="0" i="0">
                <a:solidFill>
                  <a:srgbClr val="333333"/>
                </a:solidFill>
                <a:latin typeface="Calibri"/>
              </a:rPr>
              <a:t>–  Supervision active → pas de métriques internes (CPU/RAM) sans SNMP</a:t>
            </a:r>
          </a:p>
          <a:p>
            <a:pPr lvl="1">
              <a:spcAft>
                <a:spcPts val="600"/>
              </a:spcAft>
            </a:pPr>
            <a:r>
              <a:rPr sz="1600" b="0" i="0">
                <a:solidFill>
                  <a:srgbClr val="333333"/>
                </a:solidFill>
                <a:latin typeface="Calibri"/>
              </a:rPr>
              <a:t>–  Réactivité bornée par l'intervalle de cycle (2 min)</a:t>
            </a:r>
          </a:p>
          <a:p>
            <a:pPr lvl="1">
              <a:spcAft>
                <a:spcPts val="600"/>
              </a:spcAft>
            </a:pPr>
            <a:r>
              <a:rPr sz="1600" b="0" i="0">
                <a:solidFill>
                  <a:srgbClr val="333333"/>
                </a:solidFill>
                <a:latin typeface="Calibri"/>
              </a:rPr>
              <a:t>–  Alertes dépendantes de la connectivité sortante</a:t>
            </a:r>
          </a:p>
          <a:p>
            <a:pPr lvl="1">
              <a:spcAft>
                <a:spcPts val="600"/>
              </a:spcAft>
            </a:pPr>
            <a:r>
              <a:rPr sz="1600" b="0" i="0">
                <a:solidFill>
                  <a:srgbClr val="333333"/>
                </a:solidFill>
                <a:latin typeface="Calibri"/>
              </a:rPr>
              <a:t>–  « Qui surveille le surveillant ? » → besoin de redondance</a:t>
            </a:r>
          </a:p>
          <a:p>
            <a:pPr>
              <a:spcAft>
                <a:spcPts val="600"/>
              </a:spcAft>
            </a:pPr>
            <a:r>
              <a:rPr sz="1800" b="0" i="0">
                <a:solidFill>
                  <a:srgbClr val="333333"/>
                </a:solidFill>
                <a:latin typeface="Calibri"/>
              </a:rPr>
              <a:t/>
            </a:r>
          </a:p>
          <a:p>
            <a:pPr>
              <a:spcAft>
                <a:spcPts val="600"/>
              </a:spcAft>
            </a:pPr>
            <a:r>
              <a:rPr sz="1800" b="1" i="0">
                <a:solidFill>
                  <a:srgbClr val="198754"/>
                </a:solidFill>
                <a:latin typeface="Calibri"/>
              </a:rPr>
              <a:t>•  Perspectives (feuille de route OPEN MOISE) :</a:t>
            </a:r>
          </a:p>
          <a:p>
            <a:pPr lvl="1">
              <a:spcAft>
                <a:spcPts val="600"/>
              </a:spcAft>
            </a:pPr>
            <a:r>
              <a:rPr sz="1600" b="0" i="0">
                <a:solidFill>
                  <a:srgbClr val="333333"/>
                </a:solidFill>
                <a:latin typeface="Calibri"/>
              </a:rPr>
              <a:t>–  Intégration SNMP (performances détaillées des équipements clients)</a:t>
            </a:r>
          </a:p>
          <a:p>
            <a:pPr lvl="1">
              <a:spcAft>
                <a:spcPts val="600"/>
              </a:spcAft>
            </a:pPr>
            <a:r>
              <a:rPr sz="1600" b="0" i="0">
                <a:solidFill>
                  <a:srgbClr val="333333"/>
                </a:solidFill>
                <a:latin typeface="Calibri"/>
              </a:rPr>
              <a:t>–  Machine Learning : détection d'anomalies sur l'historique multi-clients</a:t>
            </a:r>
          </a:p>
          <a:p>
            <a:pPr lvl="1">
              <a:spcAft>
                <a:spcPts val="600"/>
              </a:spcAft>
            </a:pPr>
            <a:r>
              <a:rPr sz="1600" b="0" i="0">
                <a:solidFill>
                  <a:srgbClr val="333333"/>
                </a:solidFill>
                <a:latin typeface="Calibri"/>
              </a:rPr>
              <a:t>–  Maintenance prédictive vendable comme offre premium · Auto-remédiation (AIOps)</a:t>
            </a:r>
          </a:p>
          <a:p>
            <a:pPr lvl="1">
              <a:spcAft>
                <a:spcPts val="600"/>
              </a:spcAft>
            </a:pPr>
            <a:r>
              <a:rPr sz="1600" b="0" i="0">
                <a:solidFill>
                  <a:srgbClr val="333333"/>
                </a:solidFill>
                <a:latin typeface="Calibri"/>
              </a:rPr>
              <a:t>–  Portail multi-clients · Conteneurisation (Docker/K8s) · SMS, Slack, Teams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Conclusion</a:t>
            </a:r>
          </a:p>
        </p:txBody>
      </p:sp>
      <p:sp>
        <p:nvSpPr>
          <p:cNvPr id="4" name="TextBox 3"/>
          <p:cNvSpPr txBox="1"/>
          <p:nvPr/>
        </p:nvSpPr>
        <p:spPr>
          <a:xfrm>
            <a:off x="640080" y="1463040"/>
            <a:ext cx="10881360" cy="2560320"/>
          </a:xfrm>
          <a:prstGeom prst="rect">
            <a:avLst/>
          </a:prstGeom>
          <a:noFill/>
        </p:spPr>
        <p:txBody>
          <a:bodyPr wrap="square">
            <a:spAutoFit/>
          </a:bodyPr>
          <a:lstStyle/>
          <a:p>
            <a:pPr>
              <a:spcAft>
                <a:spcPts val="1400"/>
              </a:spcAft>
            </a:pPr>
            <a:r>
              <a:rPr sz="2100" b="1" i="0">
                <a:solidFill>
                  <a:srgbClr val="198754"/>
                </a:solidFill>
                <a:latin typeface="Calibri"/>
              </a:rPr>
              <a:t>•  Pour OPEN MOISE : un outil fonctionnel, testé, 100 % open-source</a:t>
            </a:r>
          </a:p>
          <a:p>
            <a:pPr>
              <a:spcAft>
                <a:spcPts val="1400"/>
              </a:spcAft>
            </a:pPr>
            <a:r>
              <a:rPr sz="2100" b="1" i="0">
                <a:solidFill>
                  <a:srgbClr val="198754"/>
                </a:solidFill>
                <a:latin typeface="Calibri"/>
              </a:rPr>
              <a:t>•  Détection temps réel (&lt; 2 min) → SLA clients mieux respectés</a:t>
            </a:r>
          </a:p>
          <a:p>
            <a:pPr>
              <a:spcAft>
                <a:spcPts val="1400"/>
              </a:spcAft>
            </a:pPr>
            <a:r>
              <a:rPr sz="2100" b="1" i="0">
                <a:solidFill>
                  <a:srgbClr val="198754"/>
                </a:solidFill>
                <a:latin typeface="Calibri"/>
              </a:rPr>
              <a:t>•  Double valeur : économies internes + nouvelle offre managée</a:t>
            </a:r>
          </a:p>
          <a:p>
            <a:pPr>
              <a:spcAft>
                <a:spcPts val="1400"/>
              </a:spcAft>
            </a:pPr>
            <a:r>
              <a:rPr sz="2100" b="1" i="0">
                <a:solidFill>
                  <a:srgbClr val="198754"/>
                </a:solidFill>
                <a:latin typeface="Calibri"/>
              </a:rPr>
              <a:t>•  Une base extensible vers l'IA et la maintenance prédictive</a:t>
            </a:r>
          </a:p>
        </p:txBody>
      </p:sp>
      <p:sp>
        <p:nvSpPr>
          <p:cNvPr id="5" name="Rectangle 4"/>
          <p:cNvSpPr/>
          <p:nvPr/>
        </p:nvSpPr>
        <p:spPr>
          <a:xfrm>
            <a:off x="640080" y="4572000"/>
            <a:ext cx="109728" cy="14630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4572000"/>
            <a:ext cx="10771632" cy="146304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700" b="1" i="1">
                <a:solidFill>
                  <a:srgbClr val="0D3B66"/>
                </a:solidFill>
                <a:latin typeface="Calibri"/>
              </a:rPr>
              <a:t>Pour OPEN MOISE, l'automatisation transforme la supervision en avantage concurrentiel : de la réaction subie vers un service proactif, fiable et rentable pour ses clients.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grpSpPr/>
      <p:sp>
        <p:nvSpPr>
          <p:cNvPr id="2" name="TextBox 1"/>
          <p:cNvSpPr txBox="1"/>
          <p:nvPr/>
        </p:nvSpPr>
        <p:spPr>
          <a:xfrm>
            <a:off x="914400" y="2560320"/>
            <a:ext cx="10332720" cy="1828800"/>
          </a:xfrm>
          <a:prstGeom prst="rect">
            <a:avLst/>
          </a:prstGeom>
          <a:noFill/>
        </p:spPr>
        <p:txBody>
          <a:bodyPr wrap="square" anchor="ctr">
            <a:spAutoFit/>
          </a:bodyPr>
          <a:lstStyle/>
          <a:p>
            <a:pPr algn="ctr"/>
            <a:r>
              <a:rPr sz="4000" b="1" i="0">
                <a:solidFill>
                  <a:srgbClr val="FFFFFF"/>
                </a:solidFill>
                <a:latin typeface="Calibri"/>
              </a:rPr>
              <a:t>Merci de votre attention</a:t>
            </a:r>
          </a:p>
          <a:p>
            <a:pPr algn="ctr"/>
            <a:r>
              <a:rPr sz="2000" b="0" i="1">
                <a:solidFill>
                  <a:srgbClr val="DDE6F2"/>
                </a:solidFill>
                <a:latin typeface="Calibri"/>
              </a:rPr>
              <a:t>Je me tiens à votre disposition pour vos questions</a:t>
            </a:r>
          </a:p>
          <a:p>
            <a:pPr algn="ctr"/>
            <a:r>
              <a:rPr sz="1600" b="1" i="0">
                <a:solidFill>
                  <a:srgbClr val="FFFFFF"/>
                </a:solidFill>
                <a:latin typeface="Calibri"/>
              </a:rPr>
              <a:t>
[NOM Prénom] — Master 2 RIT —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3B66"/>
        </a:solidFill>
        <a:effectLst/>
      </p:bgPr>
    </p:bg>
    <p:spTree>
      <p:nvGrpSpPr>
        <p:cNvPr id="1" name=""/>
        <p:cNvGrpSpPr/>
        <p:nvPr/>
      </p:nvGrpSpPr>
      <p:grpSpPr/>
      <p:sp>
        <p:nvSpPr>
          <p:cNvPr id="2" name="TextBox 1"/>
          <p:cNvSpPr txBox="1"/>
          <p:nvPr/>
        </p:nvSpPr>
        <p:spPr>
          <a:xfrm>
            <a:off x="914400" y="2743200"/>
            <a:ext cx="10332720" cy="1371600"/>
          </a:xfrm>
          <a:prstGeom prst="rect">
            <a:avLst/>
          </a:prstGeom>
          <a:noFill/>
        </p:spPr>
        <p:txBody>
          <a:bodyPr wrap="square" anchor="ctr">
            <a:spAutoFit/>
          </a:bodyPr>
          <a:lstStyle/>
          <a:p>
            <a:pPr algn="ctr"/>
            <a:r>
              <a:rPr sz="3000" b="1" i="0">
                <a:solidFill>
                  <a:srgbClr val="FFFFFF"/>
                </a:solidFill>
                <a:latin typeface="Calibri"/>
              </a:rPr>
              <a:t>ANNEXES — Diagrammes de conception détaillés</a:t>
            </a:r>
          </a:p>
          <a:p>
            <a:pPr algn="ctr"/>
            <a:r>
              <a:rPr sz="1600" b="0" i="1">
                <a:solidFill>
                  <a:srgbClr val="DDE6F2"/>
                </a:solidFill>
                <a:latin typeface="Calibri"/>
              </a:rPr>
              <a:t>Diapositives de secours pour les questions du jury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contexte</a:t>
            </a:r>
          </a:p>
        </p:txBody>
      </p:sp>
      <p:pic>
        <p:nvPicPr>
          <p:cNvPr id="4" name="Picture 3" descr="diagramme-contexte.png"/>
          <p:cNvPicPr>
            <a:picLocks noChangeAspect="1"/>
          </p:cNvPicPr>
          <p:nvPr/>
        </p:nvPicPr>
        <p:blipFill>
          <a:blip r:embed="rId2"/>
          <a:stretch>
            <a:fillRect/>
          </a:stretch>
        </p:blipFill>
        <p:spPr>
          <a:xfrm>
            <a:off x="700887" y="1234440"/>
            <a:ext cx="10789920" cy="385430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cas d'utilisation</a:t>
            </a:r>
          </a:p>
        </p:txBody>
      </p:sp>
      <p:pic>
        <p:nvPicPr>
          <p:cNvPr id="4" name="Picture 3" descr="cas-utilisation.png"/>
          <p:cNvPicPr>
            <a:picLocks noChangeAspect="1"/>
          </p:cNvPicPr>
          <p:nvPr/>
        </p:nvPicPr>
        <p:blipFill>
          <a:blip r:embed="rId2"/>
          <a:stretch>
            <a:fillRect/>
          </a:stretch>
        </p:blipFill>
        <p:spPr>
          <a:xfrm>
            <a:off x="700887" y="1234440"/>
            <a:ext cx="10789920" cy="419096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séquence</a:t>
            </a:r>
          </a:p>
        </p:txBody>
      </p:sp>
      <p:pic>
        <p:nvPicPr>
          <p:cNvPr id="4" name="Picture 3" descr="diagramme-sequence.png"/>
          <p:cNvPicPr>
            <a:picLocks noChangeAspect="1"/>
          </p:cNvPicPr>
          <p:nvPr/>
        </p:nvPicPr>
        <p:blipFill>
          <a:blip r:embed="rId2"/>
          <a:stretch>
            <a:fillRect/>
          </a:stretch>
        </p:blipFill>
        <p:spPr>
          <a:xfrm>
            <a:off x="3003161" y="1234440"/>
            <a:ext cx="6185372" cy="48463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d'activité</a:t>
            </a:r>
          </a:p>
        </p:txBody>
      </p:sp>
      <p:pic>
        <p:nvPicPr>
          <p:cNvPr id="4" name="Picture 3" descr="diagramme-activite.png"/>
          <p:cNvPicPr>
            <a:picLocks noChangeAspect="1"/>
          </p:cNvPicPr>
          <p:nvPr/>
        </p:nvPicPr>
        <p:blipFill>
          <a:blip r:embed="rId2"/>
          <a:stretch>
            <a:fillRect/>
          </a:stretch>
        </p:blipFill>
        <p:spPr>
          <a:xfrm>
            <a:off x="4579658" y="1234440"/>
            <a:ext cx="3032378" cy="484632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classes</a:t>
            </a:r>
          </a:p>
        </p:txBody>
      </p:sp>
      <p:pic>
        <p:nvPicPr>
          <p:cNvPr id="4" name="Picture 3" descr="diagramme-classes.png"/>
          <p:cNvPicPr>
            <a:picLocks noChangeAspect="1"/>
          </p:cNvPicPr>
          <p:nvPr/>
        </p:nvPicPr>
        <p:blipFill>
          <a:blip r:embed="rId2"/>
          <a:stretch>
            <a:fillRect/>
          </a:stretch>
        </p:blipFill>
        <p:spPr>
          <a:xfrm>
            <a:off x="700887" y="1234440"/>
            <a:ext cx="10789920" cy="4584951"/>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composants</a:t>
            </a:r>
          </a:p>
        </p:txBody>
      </p:sp>
      <p:pic>
        <p:nvPicPr>
          <p:cNvPr id="4" name="Picture 3" descr="diagramme-composants.png"/>
          <p:cNvPicPr>
            <a:picLocks noChangeAspect="1"/>
          </p:cNvPicPr>
          <p:nvPr/>
        </p:nvPicPr>
        <p:blipFill>
          <a:blip r:embed="rId2"/>
          <a:stretch>
            <a:fillRect/>
          </a:stretch>
        </p:blipFill>
        <p:spPr>
          <a:xfrm>
            <a:off x="1891278" y="1234440"/>
            <a:ext cx="8409139" cy="484632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Diagramme de déploiement</a:t>
            </a:r>
          </a:p>
        </p:txBody>
      </p:sp>
      <p:pic>
        <p:nvPicPr>
          <p:cNvPr id="4" name="Picture 3" descr="diagramme-deploiement.png"/>
          <p:cNvPicPr>
            <a:picLocks noChangeAspect="1"/>
          </p:cNvPicPr>
          <p:nvPr/>
        </p:nvPicPr>
        <p:blipFill>
          <a:blip r:embed="rId2"/>
          <a:stretch>
            <a:fillRect/>
          </a:stretch>
        </p:blipFill>
        <p:spPr>
          <a:xfrm>
            <a:off x="700887" y="1234440"/>
            <a:ext cx="10789920" cy="46863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D3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460175" cy="731520"/>
          </a:xfrm>
          <a:prstGeom prst="rect">
            <a:avLst/>
          </a:prstGeom>
          <a:noFill/>
        </p:spPr>
        <p:txBody>
          <a:bodyPr wrap="square" anchor="ctr">
            <a:spAutoFit/>
          </a:bodyPr>
          <a:lstStyle/>
          <a:p>
            <a:r>
              <a:rPr sz="3000" b="1" i="0">
                <a:solidFill>
                  <a:srgbClr val="FFFFFF"/>
                </a:solidFill>
                <a:latin typeface="Calibri"/>
              </a:rPr>
              <a:t>Annexe — Modèle Logique de Données (MLD)</a:t>
            </a:r>
          </a:p>
        </p:txBody>
      </p:sp>
      <p:pic>
        <p:nvPicPr>
          <p:cNvPr id="4" name="Picture 3" descr="mld.png"/>
          <p:cNvPicPr>
            <a:picLocks noChangeAspect="1"/>
          </p:cNvPicPr>
          <p:nvPr/>
        </p:nvPicPr>
        <p:blipFill>
          <a:blip r:embed="rId2"/>
          <a:stretch>
            <a:fillRect/>
          </a:stretch>
        </p:blipFill>
        <p:spPr>
          <a:xfrm>
            <a:off x="2154313" y="1234440"/>
            <a:ext cx="7883069" cy="4846320"/>
          </a:xfrm>
          <a:prstGeom prst="rect">
            <a:avLst/>
          </a:prstGeom>
        </p:spPr>
      </p:pic>
      <p:sp>
        <p:nvSpPr>
          <p:cNvPr id="5" name="TextBox 4"/>
          <p:cNvSpPr txBox="1"/>
          <p:nvPr/>
        </p:nvSpPr>
        <p:spPr>
          <a:xfrm>
            <a:off x="457200" y="6172200"/>
            <a:ext cx="11247120" cy="457200"/>
          </a:xfrm>
          <a:prstGeom prst="rect">
            <a:avLst/>
          </a:prstGeom>
          <a:noFill/>
        </p:spPr>
        <p:txBody>
          <a:bodyPr wrap="square">
            <a:spAutoFit/>
          </a:bodyPr>
          <a:lstStyle/>
          <a:p>
            <a:pPr algn="ctr"/>
            <a:r>
              <a:rPr sz="1300" b="0" i="1">
                <a:solidFill>
                  <a:srgbClr val="333333"/>
                </a:solidFill>
                <a:latin typeface="Calibri"/>
              </a:rPr>
              <a:t>5 tables : utilisateurs, equipements, journaux, alertes, statistiques (clés primaires PK, clés étrangères FK).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