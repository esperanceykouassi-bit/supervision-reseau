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Mesdames et Messieurs les membres du jury. Je vous remercie de votre présence. Je vais vous présenter mon mémoire-projet : une solution d'automatisation de la supervision et de la détection des pannes réseau, pensée comme un véritable produit, du besoin du marché au modèle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exposé suit le fil d'un projet d'entreprise : je pars du problème du marché, je présente la solution et sa technique, je la démontre, puis j'aborde son modèle économique avant de conclure sur les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choisi ce thème car il croise une réalité observée en stage - les pannes détectées trop tard - et une conviction : on peut résoudre ce problème sans budget colossal grâce à l'open-source. C'est à la fois un défi d'ingénieur et une opportunité de marché.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contexte : des réseaux toujours plus complexes et critiques. Pourtant, sur le terrain, beaucoup surveillent encore à la main. Résultat : on apprend la panne par les plaintes, sans aucune trace, et les outils du marché paraissent inaccessibles.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 le projet répond à cette question centrale, que je formule clairement : détecter en temps réel et réduire le temps d'intervention, avec une solution automatisée, fiable ET accessible financièrement. Les trois sous-questions guident ma conception.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 objectifs sont chiffrés, donc vérifiables. Le cœur : faire chuter le temps de détection de l'ordre de l'heure à moins de deux minutes, et le temps de réaction à moins de cinq minutes, sans coût de licence.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démarche est celle de l'ingénieur-chercheur : je conçois un système réel et je prouve sa valeur par la mesure. J'ai travaillé en cycles itératifs, à la DevOps, et j'évalue par comparaison avant/après sur des indicateurs objectifs.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analysé les références du marché : soit des usines à gaz puissantes mais complexes, soit des produits simples mais propriétaires et chers. Il existe un vide pour une solution légère, gratuite et sur mesure.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réponse à ce vide : une solution complète mais légère. Elle découvre, surveille, confirme, journalise, alerte et affiche - le tout assemblé à partir de briques open-source éprouvées.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innovation ne réside pas dans un protocole nouveau, mais dans un positionnement unique : combiner simplicité, gratuité, alerte mobile instantanée et ouverture vers l'IA. Là où chaque concurrent impose un sacrifice, ma solution réunit ces atouts. Telegram natif est mon marqueur.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projet est faisable sur les trois plans : technique - le prototype fonctionne -, économique - coût quasi nul - et organisationnel. J'ai rigoureusement conçu le système en UML et MERISE, sur une architecture en cinq couches.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l'architecture en cinq couches. Le choix d'ingénierie le plus important est le découplage entre la collecte et l'affichage : ils communiquent uniquement par la base, ce qui rend le système robuste.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Techniquement : toutes les deux minutes, Cron lance le moteur qui teste chaque équipement. Une panne n'est confirmée qu'après plusieurs échecs - pour éviter les fausses alertes - et une seule notification est envoyée par panne. Tout est parallélisé pour rester rapide.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sécurité a été pensée dès la conception, pas ajoutée après : secrets hors du code, mots de passe hachés, requêtes paramétrées contre l'injection SQL, communications chiffrées et moindre privilège sur la base.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démonstration, je propose un scénario vivant : je montre le tableau de bord, j'éteins un équipement devant vous, et vous verrez l'alerte Telegram arriver sur mon téléphone en temps réel. Puis je le rallume pour montrer le rétablissement. J'ai un plan B en captures et vidéo.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captures matérialisent chaque fonctionnalité clé. La plus parlante est la notification Telegram reçue sur le téléphone : la preuve concrète de la valeur ajoutée pour l'administrateur.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Côté business, je vise les structures sans gros budget IT et les infogérants. Mon modèle est l'open-core : le cœur est gratuit pour créer l'adoption, et je monétise les services et une édition Pro avec SNMP et IA.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ne prétends pas battre Zabbix sur les très grandes infrastructures. Ma stratégie est celle de l'océan bleu : occuper le segment que les géants négligent - les petites structures - avec un produit simple et gratuit.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Financièrement, l'entrée est quasi nulle : pas de licence, juste un petit serveur. Côté revenus, même avec des hypothèses prudentes, on dépasse 9 000 € la première année. Pour le client, le retour vient de la réduction des coûts d'indisponibilité : la solution est rentabilisée dès le premier incident majeur évité.</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reste lucide sur les limites : pas encore de SNMP, réactivité bornée à deux minutes, et la question du superviseur lui-même. Mais ces limites tracent ma feuille de route : SNMP, puis l'IA pour passer d'une supervision réactive à une supervision prédictive.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ce projet livre un produit réel et performant, doublé d'un modèle économique crédible, et ouvert vers l'avenir de la supervision : le prédictif. J'ai montré qu'on pouvait rendre la haute disponibilité accessible à tous.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vous remercie de votre attention et je suis prêt à répondre à toutes vos questions, qu'elles soient techniques ou sur le volet économique.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2286000"/>
            <a:ext cx="12191695" cy="23774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423160"/>
            <a:ext cx="10698480" cy="2103120"/>
          </a:xfrm>
          <a:prstGeom prst="rect">
            <a:avLst/>
          </a:prstGeom>
          <a:noFill/>
        </p:spPr>
        <p:txBody>
          <a:bodyPr wrap="square" anchor="ctr">
            <a:spAutoFit/>
          </a:bodyPr>
          <a:lstStyle/>
          <a:p>
            <a:pPr algn="ctr"/>
            <a:r>
              <a:rPr sz="3600" b="1" i="0">
                <a:solidFill>
                  <a:srgbClr val="FFFFFF"/>
                </a:solidFill>
                <a:latin typeface="Calibri"/>
              </a:rPr>
              <a:t>Automatisation de la Supervision et de la
Détection des Pannes Réseau</a:t>
            </a:r>
          </a:p>
          <a:p>
            <a:pPr algn="ctr"/>
            <a:r>
              <a:rPr sz="1800" b="0" i="1">
                <a:solidFill>
                  <a:srgbClr val="DDE6F2"/>
                </a:solidFill>
                <a:latin typeface="Calibri"/>
              </a:rPr>
              <a:t>Une solution open-source pour une infrastructure toujours disponible</a:t>
            </a:r>
          </a:p>
        </p:txBody>
      </p:sp>
      <p:sp>
        <p:nvSpPr>
          <p:cNvPr id="4" name="TextBox 3"/>
          <p:cNvSpPr txBox="1"/>
          <p:nvPr/>
        </p:nvSpPr>
        <p:spPr>
          <a:xfrm>
            <a:off x="731520" y="4937760"/>
            <a:ext cx="10698480" cy="1463040"/>
          </a:xfrm>
          <a:prstGeom prst="rect">
            <a:avLst/>
          </a:prstGeom>
          <a:noFill/>
        </p:spPr>
        <p:txBody>
          <a:bodyPr wrap="square">
            <a:spAutoFit/>
          </a:bodyPr>
          <a:lstStyle/>
          <a:p>
            <a:pPr algn="ctr"/>
            <a:r>
              <a:rPr sz="2000" b="1" i="0">
                <a:solidFill>
                  <a:srgbClr val="FFFFFF"/>
                </a:solidFill>
                <a:latin typeface="Calibri"/>
              </a:rPr>
              <a:t>[NOM Prénom] — Master 2 RIT</a:t>
            </a:r>
          </a:p>
          <a:p>
            <a:pPr algn="ctr"/>
            <a:r>
              <a:rPr sz="1600" b="0" i="0">
                <a:solidFill>
                  <a:srgbClr val="FFFFFF"/>
                </a:solidFill>
                <a:latin typeface="Calibri"/>
              </a:rPr>
              <a:t>Sous la direction de [Directeur de mémoire]</a:t>
            </a:r>
          </a:p>
          <a:p>
            <a:pPr algn="ctr"/>
            <a:r>
              <a:rPr sz="1400" b="0" i="0">
                <a:solidFill>
                  <a:srgbClr val="FFFFFF"/>
                </a:solidFill>
                <a:latin typeface="Calibri"/>
              </a:rPr>
              <a:t>Structure d'accueil : [Entreprise]  •  Année académique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Plan de la présentation</a:t>
            </a:r>
          </a:p>
        </p:txBody>
      </p:sp>
      <p:sp>
        <p:nvSpPr>
          <p:cNvPr id="4" name="TextBox 3"/>
          <p:cNvSpPr txBox="1"/>
          <p:nvPr/>
        </p:nvSpPr>
        <p:spPr>
          <a:xfrm>
            <a:off x="640080" y="1463040"/>
            <a:ext cx="5486400" cy="4937760"/>
          </a:xfrm>
          <a:prstGeom prst="rect">
            <a:avLst/>
          </a:prstGeom>
          <a:noFill/>
        </p:spPr>
        <p:txBody>
          <a:bodyPr wrap="square">
            <a:spAutoFit/>
          </a:bodyPr>
          <a:lstStyle/>
          <a:p>
            <a:pPr>
              <a:spcAft>
                <a:spcPts val="1200"/>
              </a:spcAft>
            </a:pPr>
            <a:r>
              <a:rPr sz="2000" b="1" i="0">
                <a:solidFill>
                  <a:srgbClr val="0D3B66"/>
                </a:solidFill>
                <a:latin typeface="Calibri"/>
              </a:rPr>
              <a:t>•  Introduction — L'annonce du sujet</a:t>
            </a:r>
          </a:p>
          <a:p>
            <a:pPr>
              <a:spcAft>
                <a:spcPts val="1200"/>
              </a:spcAft>
            </a:pPr>
            <a:r>
              <a:rPr sz="2000" b="0" i="0">
                <a:solidFill>
                  <a:srgbClr val="333333"/>
                </a:solidFill>
                <a:latin typeface="Calibri"/>
              </a:rPr>
              <a:t>•  1.  Contexte et identification du problème</a:t>
            </a:r>
          </a:p>
          <a:p>
            <a:pPr>
              <a:spcAft>
                <a:spcPts val="1200"/>
              </a:spcAft>
            </a:pPr>
            <a:r>
              <a:rPr sz="2000" b="0" i="0">
                <a:solidFill>
                  <a:srgbClr val="333333"/>
                </a:solidFill>
                <a:latin typeface="Calibri"/>
              </a:rPr>
              <a:t>•  2.  Objectifs et résultats attendus</a:t>
            </a:r>
          </a:p>
          <a:p>
            <a:pPr>
              <a:spcAft>
                <a:spcPts val="1200"/>
              </a:spcAft>
            </a:pPr>
            <a:r>
              <a:rPr sz="2000" b="0" i="0">
                <a:solidFill>
                  <a:srgbClr val="333333"/>
                </a:solidFill>
                <a:latin typeface="Calibri"/>
              </a:rPr>
              <a:t>•  3.  Démarche méthodologique</a:t>
            </a:r>
          </a:p>
          <a:p>
            <a:pPr>
              <a:spcAft>
                <a:spcPts val="1200"/>
              </a:spcAft>
            </a:pPr>
            <a:r>
              <a:rPr sz="2000" b="0" i="0">
                <a:solidFill>
                  <a:srgbClr val="333333"/>
                </a:solidFill>
                <a:latin typeface="Calibri"/>
              </a:rPr>
              <a:t>•  4.  État des lieux &amp; solution proposée</a:t>
            </a:r>
          </a:p>
          <a:p>
            <a:pPr>
              <a:spcAft>
                <a:spcPts val="1200"/>
              </a:spcAft>
            </a:pPr>
            <a:r>
              <a:rPr sz="2000" b="0" i="0">
                <a:solidFill>
                  <a:srgbClr val="333333"/>
                </a:solidFill>
                <a:latin typeface="Calibri"/>
              </a:rPr>
              <a:t>•  5.  Axe de différenciation (innovation)</a:t>
            </a:r>
          </a:p>
          <a:p>
            <a:pPr>
              <a:spcAft>
                <a:spcPts val="1200"/>
              </a:spcAft>
            </a:pPr>
            <a:r>
              <a:rPr sz="2000" b="0" i="0">
                <a:solidFill>
                  <a:srgbClr val="333333"/>
                </a:solidFill>
                <a:latin typeface="Calibri"/>
              </a:rPr>
              <a:t>•  6.  Étude de faisabilité &amp; conception</a:t>
            </a:r>
          </a:p>
        </p:txBody>
      </p:sp>
      <p:sp>
        <p:nvSpPr>
          <p:cNvPr id="5" name="TextBox 4"/>
          <p:cNvSpPr txBox="1"/>
          <p:nvPr/>
        </p:nvSpPr>
        <p:spPr>
          <a:xfrm>
            <a:off x="6309360" y="1463040"/>
            <a:ext cx="5486400" cy="4937760"/>
          </a:xfrm>
          <a:prstGeom prst="rect">
            <a:avLst/>
          </a:prstGeom>
          <a:noFill/>
        </p:spPr>
        <p:txBody>
          <a:bodyPr wrap="square">
            <a:spAutoFit/>
          </a:bodyPr>
          <a:lstStyle/>
          <a:p>
            <a:pPr>
              <a:spcAft>
                <a:spcPts val="1200"/>
              </a:spcAft>
            </a:pPr>
            <a:r>
              <a:rPr sz="2000" b="0" i="0">
                <a:solidFill>
                  <a:srgbClr val="333333"/>
                </a:solidFill>
                <a:latin typeface="Calibri"/>
              </a:rPr>
              <a:t>•  7.  Fonctionnement technique</a:t>
            </a:r>
          </a:p>
          <a:p>
            <a:pPr>
              <a:spcAft>
                <a:spcPts val="1200"/>
              </a:spcAft>
            </a:pPr>
            <a:r>
              <a:rPr sz="2000" b="1" i="0">
                <a:solidFill>
                  <a:srgbClr val="D62828"/>
                </a:solidFill>
                <a:latin typeface="Calibri"/>
              </a:rPr>
              <a:t>•  8.  Démonstration</a:t>
            </a:r>
          </a:p>
          <a:p>
            <a:pPr>
              <a:spcAft>
                <a:spcPts val="1200"/>
              </a:spcAft>
            </a:pPr>
            <a:r>
              <a:rPr sz="2000" b="0" i="0">
                <a:solidFill>
                  <a:srgbClr val="333333"/>
                </a:solidFill>
                <a:latin typeface="Calibri"/>
              </a:rPr>
              <a:t>•  9.  Marketing, vente &amp; concurrence</a:t>
            </a:r>
          </a:p>
          <a:p>
            <a:pPr>
              <a:spcAft>
                <a:spcPts val="1200"/>
              </a:spcAft>
            </a:pPr>
            <a:r>
              <a:rPr sz="2000" b="0" i="0">
                <a:solidFill>
                  <a:srgbClr val="333333"/>
                </a:solidFill>
                <a:latin typeface="Calibri"/>
              </a:rPr>
              <a:t>•  10. Prévisions financières</a:t>
            </a:r>
          </a:p>
          <a:p>
            <a:pPr>
              <a:spcAft>
                <a:spcPts val="1200"/>
              </a:spcAft>
            </a:pPr>
            <a:r>
              <a:rPr sz="2000" b="0" i="0">
                <a:solidFill>
                  <a:srgbClr val="333333"/>
                </a:solidFill>
                <a:latin typeface="Calibri"/>
              </a:rPr>
              <a:t>•  11. Limites &amp; perspectives</a:t>
            </a:r>
          </a:p>
          <a:p>
            <a:pPr>
              <a:spcAft>
                <a:spcPts val="1200"/>
              </a:spcAft>
            </a:pPr>
            <a:r>
              <a:rPr sz="2000" b="0" i="0">
                <a:solidFill>
                  <a:srgbClr val="333333"/>
                </a:solidFill>
                <a:latin typeface="Calibri"/>
              </a:rPr>
              <a:t/>
            </a:r>
          </a:p>
          <a:p>
            <a:pPr>
              <a:spcAft>
                <a:spcPts val="1200"/>
              </a:spcAft>
            </a:pPr>
            <a:r>
              <a:rPr sz="2000" b="1" i="0">
                <a:solidFill>
                  <a:srgbClr val="0D3B66"/>
                </a:solidFill>
                <a:latin typeface="Calibri"/>
              </a:rPr>
              <a:t>•  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Introduction — L'annonce du sujet</a:t>
            </a:r>
          </a:p>
        </p:txBody>
      </p:sp>
      <p:sp>
        <p:nvSpPr>
          <p:cNvPr id="4" name="TextBox 3"/>
          <p:cNvSpPr txBox="1"/>
          <p:nvPr/>
        </p:nvSpPr>
        <p:spPr>
          <a:xfrm>
            <a:off x="640080" y="1371600"/>
            <a:ext cx="10881360" cy="3657600"/>
          </a:xfrm>
          <a:prstGeom prst="rect">
            <a:avLst/>
          </a:prstGeom>
          <a:noFill/>
        </p:spPr>
        <p:txBody>
          <a:bodyPr wrap="square">
            <a:spAutoFit/>
          </a:bodyPr>
          <a:lstStyle/>
          <a:p>
            <a:pPr>
              <a:spcAft>
                <a:spcPts val="800"/>
              </a:spcAft>
            </a:pPr>
            <a:r>
              <a:rPr sz="2000" b="0" i="0">
                <a:solidFill>
                  <a:srgbClr val="333333"/>
                </a:solidFill>
                <a:latin typeface="Calibri"/>
              </a:rPr>
              <a:t>•  Le sujet : concevoir, réaliser et valoriser un système qui surveille un réseau en continu, détecte automatiquement les pannes et alerte instantanément les administrateurs — 100 % open-source.</a:t>
            </a:r>
          </a:p>
          <a:p>
            <a:pPr>
              <a:spcAft>
                <a:spcPts val="800"/>
              </a:spcAft>
            </a:pPr>
            <a:r>
              <a:rPr sz="2000" b="0" i="0">
                <a:solidFill>
                  <a:srgbClr val="333333"/>
                </a:solidFill>
                <a:latin typeface="Calibri"/>
              </a:rPr>
              <a:t/>
            </a:r>
          </a:p>
          <a:p>
            <a:pPr>
              <a:spcAft>
                <a:spcPts val="800"/>
              </a:spcAft>
            </a:pPr>
            <a:r>
              <a:rPr sz="2000" b="1" i="0">
                <a:solidFill>
                  <a:srgbClr val="0D3B66"/>
                </a:solidFill>
                <a:latin typeface="Calibri"/>
              </a:rPr>
              <a:t>•  Pourquoi ce thème ?</a:t>
            </a:r>
          </a:p>
          <a:p>
            <a:pPr lvl="1">
              <a:spcAft>
                <a:spcPts val="800"/>
              </a:spcAft>
            </a:pPr>
            <a:r>
              <a:rPr sz="1800" b="0" i="0">
                <a:solidFill>
                  <a:srgbClr val="333333"/>
                </a:solidFill>
                <a:latin typeface="Calibri"/>
              </a:rPr>
              <a:t>–  Le réseau est devenu le « système nerveux » de toute organisation</a:t>
            </a:r>
          </a:p>
          <a:p>
            <a:pPr lvl="1">
              <a:spcAft>
                <a:spcPts val="800"/>
              </a:spcAft>
            </a:pPr>
            <a:r>
              <a:rPr sz="1800" b="0" i="0">
                <a:solidFill>
                  <a:srgbClr val="333333"/>
                </a:solidFill>
                <a:latin typeface="Calibri"/>
              </a:rPr>
              <a:t>–  Une minute d'indisponibilité peut coûter très cher</a:t>
            </a:r>
          </a:p>
          <a:p>
            <a:pPr lvl="1">
              <a:spcAft>
                <a:spcPts val="800"/>
              </a:spcAft>
            </a:pPr>
            <a:r>
              <a:rPr sz="1800" b="0" i="0">
                <a:solidFill>
                  <a:srgbClr val="333333"/>
                </a:solidFill>
                <a:latin typeface="Calibri"/>
              </a:rPr>
              <a:t>–  Vécu de terrain : pannes découvertes trop tard, par les utilisateurs</a:t>
            </a:r>
          </a:p>
          <a:p>
            <a:pPr lvl="1">
              <a:spcAft>
                <a:spcPts val="800"/>
              </a:spcAft>
            </a:pPr>
            <a:r>
              <a:rPr sz="1800" b="0" i="0">
                <a:solidFill>
                  <a:srgbClr val="333333"/>
                </a:solidFill>
                <a:latin typeface="Calibri"/>
              </a:rPr>
              <a:t>–  Conviction : l'open-source rend la supervision accessible à tous</a:t>
            </a:r>
          </a:p>
        </p:txBody>
      </p:sp>
      <p:sp>
        <p:nvSpPr>
          <p:cNvPr id="5" name="Rectangle 4"/>
          <p:cNvSpPr/>
          <p:nvPr/>
        </p:nvSpPr>
        <p:spPr>
          <a:xfrm>
            <a:off x="640080" y="548640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486400"/>
            <a:ext cx="10771632" cy="91440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Allier une expertise réseau à une démarche entrepreneuriale.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Contexte et identification du problème</a:t>
            </a:r>
          </a:p>
        </p:txBody>
      </p:sp>
      <p:sp>
        <p:nvSpPr>
          <p:cNvPr id="5" name="TextBox 4"/>
          <p:cNvSpPr txBox="1"/>
          <p:nvPr/>
        </p:nvSpPr>
        <p:spPr>
          <a:xfrm>
            <a:off x="640080" y="1371600"/>
            <a:ext cx="10881360" cy="4389120"/>
          </a:xfrm>
          <a:prstGeom prst="rect">
            <a:avLst/>
          </a:prstGeom>
          <a:noFill/>
        </p:spPr>
        <p:txBody>
          <a:bodyPr wrap="square">
            <a:spAutoFit/>
          </a:bodyPr>
          <a:lstStyle/>
          <a:p>
            <a:pPr>
              <a:spcAft>
                <a:spcPts val="800"/>
              </a:spcAft>
            </a:pPr>
            <a:r>
              <a:rPr sz="2000" b="0" i="0">
                <a:solidFill>
                  <a:srgbClr val="333333"/>
                </a:solidFill>
                <a:latin typeface="Calibri"/>
              </a:rPr>
              <a:t>•  Contexte : densification des réseaux (cloud, virtualisation, IoT) face à des exigences de disponibilité de plus en plus fortes (« 99,9 % »).</a:t>
            </a:r>
          </a:p>
          <a:p>
            <a:pPr>
              <a:spcAft>
                <a:spcPts val="800"/>
              </a:spcAft>
            </a:pPr>
            <a:r>
              <a:rPr sz="2000" b="0" i="0">
                <a:solidFill>
                  <a:srgbClr val="333333"/>
                </a:solidFill>
                <a:latin typeface="Calibri"/>
              </a:rPr>
              <a:t/>
            </a:r>
          </a:p>
          <a:p>
            <a:pPr>
              <a:spcAft>
                <a:spcPts val="800"/>
              </a:spcAft>
            </a:pPr>
            <a:r>
              <a:rPr sz="2000" b="1" i="0">
                <a:solidFill>
                  <a:srgbClr val="0D3B66"/>
                </a:solidFill>
                <a:latin typeface="Calibri"/>
              </a:rPr>
              <a:t>•  Constat de terrain (PME / administrations) :</a:t>
            </a:r>
          </a:p>
          <a:p>
            <a:pPr lvl="1">
              <a:spcAft>
                <a:spcPts val="800"/>
              </a:spcAft>
            </a:pPr>
            <a:r>
              <a:rPr sz="1800" b="0" i="0">
                <a:solidFill>
                  <a:srgbClr val="333333"/>
                </a:solidFill>
                <a:latin typeface="Calibri"/>
              </a:rPr>
              <a:t>–  Supervision manuelle et épisodique (ping à la main)</a:t>
            </a:r>
          </a:p>
          <a:p>
            <a:pPr lvl="1">
              <a:spcAft>
                <a:spcPts val="800"/>
              </a:spcAft>
            </a:pPr>
            <a:r>
              <a:rPr sz="1800" b="0" i="0">
                <a:solidFill>
                  <a:srgbClr val="333333"/>
                </a:solidFill>
                <a:latin typeface="Calibri"/>
              </a:rPr>
              <a:t>–  Pannes signalées par les utilisateurs → réaction tardive</a:t>
            </a:r>
          </a:p>
          <a:p>
            <a:pPr lvl="1">
              <a:spcAft>
                <a:spcPts val="800"/>
              </a:spcAft>
            </a:pPr>
            <a:r>
              <a:rPr sz="1800" b="0" i="0">
                <a:solidFill>
                  <a:srgbClr val="333333"/>
                </a:solidFill>
                <a:latin typeface="Calibri"/>
              </a:rPr>
              <a:t>–  Aucune traçabilité des incidents, pas d'historique exploitable</a:t>
            </a:r>
          </a:p>
          <a:p>
            <a:pPr lvl="1">
              <a:spcAft>
                <a:spcPts val="800"/>
              </a:spcAft>
            </a:pPr>
            <a:r>
              <a:rPr sz="1800" b="0" i="0">
                <a:solidFill>
                  <a:srgbClr val="333333"/>
                </a:solidFill>
                <a:latin typeface="Calibri"/>
              </a:rPr>
              <a:t>–  Solutions professionnelles jugées trop chères ou trop complexes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457200" y="457200"/>
            <a:ext cx="11247120" cy="731520"/>
          </a:xfrm>
          <a:prstGeom prst="rect">
            <a:avLst/>
          </a:prstGeom>
          <a:noFill/>
        </p:spPr>
        <p:txBody>
          <a:bodyPr wrap="square">
            <a:spAutoFit/>
          </a:bodyPr>
          <a:lstStyle/>
          <a:p>
            <a:pPr algn="ctr"/>
            <a:r>
              <a:rPr sz="2400" b="1" i="0">
                <a:solidFill>
                  <a:srgbClr val="0D6EFD"/>
                </a:solidFill>
                <a:latin typeface="Calibri"/>
              </a:rPr>
              <a:t>LA PROBLÉMATIQUE</a:t>
            </a:r>
          </a:p>
        </p:txBody>
      </p:sp>
      <p:sp>
        <p:nvSpPr>
          <p:cNvPr id="3" name="Rectangle 2"/>
          <p:cNvSpPr/>
          <p:nvPr/>
        </p:nvSpPr>
        <p:spPr>
          <a:xfrm>
            <a:off x="914400" y="1554480"/>
            <a:ext cx="10332720" cy="2377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2200" b="1" i="1">
                <a:solidFill>
                  <a:srgbClr val="0D3B66"/>
                </a:solidFill>
                <a:latin typeface="Calibri"/>
              </a:rPr>
              <a:t>« Comment détecter en temps réel les pannes d'un réseau et réduire le temps d'intervention des administrateurs, à l'aide d'une solution automatisée, fiable et économiquement accessible ? »</a:t>
            </a:r>
          </a:p>
        </p:txBody>
      </p:sp>
      <p:sp>
        <p:nvSpPr>
          <p:cNvPr id="4" name="TextBox 3"/>
          <p:cNvSpPr txBox="1"/>
          <p:nvPr/>
        </p:nvSpPr>
        <p:spPr>
          <a:xfrm>
            <a:off x="914400" y="4206240"/>
            <a:ext cx="10332720" cy="2286000"/>
          </a:xfrm>
          <a:prstGeom prst="rect">
            <a:avLst/>
          </a:prstGeom>
          <a:noFill/>
        </p:spPr>
        <p:txBody>
          <a:bodyPr wrap="square">
            <a:spAutoFit/>
          </a:bodyPr>
          <a:lstStyle/>
          <a:p>
            <a:pPr>
              <a:spcAft>
                <a:spcPts val="800"/>
              </a:spcAft>
            </a:pPr>
            <a:r>
              <a:rPr sz="1800" b="1" i="0">
                <a:solidFill>
                  <a:srgbClr val="0D6EFD"/>
                </a:solidFill>
                <a:latin typeface="Calibri"/>
              </a:rPr>
              <a:t>Sous-questions :</a:t>
            </a:r>
          </a:p>
          <a:p>
            <a:pPr>
              <a:spcAft>
                <a:spcPts val="800"/>
              </a:spcAft>
            </a:pPr>
            <a:r>
              <a:rPr sz="1800" b="0" i="0">
                <a:solidFill>
                  <a:srgbClr val="FFFFFF"/>
                </a:solidFill>
                <a:latin typeface="Calibri"/>
              </a:rPr>
              <a:t>•  Comment automatiser une surveillance continue et fiable (sans fausses alertes) ?</a:t>
            </a:r>
          </a:p>
          <a:p>
            <a:pPr>
              <a:spcAft>
                <a:spcPts val="800"/>
              </a:spcAft>
            </a:pPr>
            <a:r>
              <a:rPr sz="1800" b="0" i="0">
                <a:solidFill>
                  <a:srgbClr val="FFFFFF"/>
                </a:solidFill>
                <a:latin typeface="Calibri"/>
              </a:rPr>
              <a:t>•  Comment notifier l'administrateur où qu'il soit, instantanément ?</a:t>
            </a:r>
          </a:p>
          <a:p>
            <a:pPr>
              <a:spcAft>
                <a:spcPts val="800"/>
              </a:spcAft>
            </a:pPr>
            <a:r>
              <a:rPr sz="1800" b="0" i="0">
                <a:solidFill>
                  <a:srgbClr val="FFFFFF"/>
                </a:solidFill>
                <a:latin typeface="Calibri"/>
              </a:rPr>
              <a:t>•  Comment offrir cette valeur à un coût quasi nul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2</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Objectifs et résultats attendus</a:t>
            </a:r>
          </a:p>
        </p:txBody>
      </p:sp>
      <p:graphicFrame>
        <p:nvGraphicFramePr>
          <p:cNvPr id="5" name="Table 4"/>
          <p:cNvGraphicFramePr>
            <a:graphicFrameLocks noGrp="1"/>
          </p:cNvGraphicFramePr>
          <p:nvPr/>
        </p:nvGraphicFramePr>
        <p:xfrm>
          <a:off x="640080" y="1371600"/>
          <a:ext cx="10881360" cy="3474720"/>
        </p:xfrm>
        <a:graphic>
          <a:graphicData uri="http://schemas.openxmlformats.org/drawingml/2006/table">
            <a:tbl>
              <a:tblPr firstRow="1" bandRow="1">
                <a:tableStyleId>{5C22544A-7EE6-4342-B048-85BDC9FD1C3A}</a:tableStyleId>
              </a:tblPr>
              <a:tblGrid>
                <a:gridCol w="5440680"/>
                <a:gridCol w="5440680"/>
              </a:tblGrid>
              <a:tr h="496388">
                <a:tc>
                  <a:txBody>
                    <a:bodyPr/>
                    <a:lstStyle/>
                    <a:p>
                      <a:pPr algn="ctr"/>
                      <a:r>
                        <a:rPr sz="1700" b="1" i="0">
                          <a:solidFill>
                            <a:srgbClr val="FFFFFF"/>
                          </a:solidFill>
                          <a:latin typeface="Calibri"/>
                        </a:rPr>
                        <a:t>Objectif</a:t>
                      </a:r>
                    </a:p>
                  </a:txBody>
                  <a:tcPr>
                    <a:solidFill>
                      <a:srgbClr val="0D3B66"/>
                    </a:solidFill>
                  </a:tcPr>
                </a:tc>
                <a:tc>
                  <a:txBody>
                    <a:bodyPr/>
                    <a:lstStyle/>
                    <a:p>
                      <a:pPr algn="ctr"/>
                      <a:r>
                        <a:rPr sz="1700" b="1" i="0">
                          <a:solidFill>
                            <a:srgbClr val="FFFFFF"/>
                          </a:solidFill>
                          <a:latin typeface="Calibri"/>
                        </a:rPr>
                        <a:t>Résultat attendu (indicateur)</a:t>
                      </a:r>
                    </a:p>
                  </a:txBody>
                  <a:tcPr>
                    <a:solidFill>
                      <a:srgbClr val="0D3B66"/>
                    </a:solidFill>
                  </a:tcPr>
                </a:tc>
              </a:tr>
              <a:tr h="496388">
                <a:tc>
                  <a:txBody>
                    <a:bodyPr/>
                    <a:lstStyle/>
                    <a:p>
                      <a:pPr algn="l"/>
                      <a:r>
                        <a:rPr sz="1700" b="0" i="0">
                          <a:solidFill>
                            <a:srgbClr val="333333"/>
                          </a:solidFill>
                          <a:latin typeface="Calibri"/>
                        </a:rPr>
                        <a:t>Détecter les pannes en temps réel</a:t>
                      </a:r>
                    </a:p>
                  </a:txBody>
                  <a:tcPr>
                    <a:solidFill>
                      <a:srgbClr val="FFFFFF"/>
                    </a:solidFill>
                  </a:tcPr>
                </a:tc>
                <a:tc>
                  <a:txBody>
                    <a:bodyPr/>
                    <a:lstStyle/>
                    <a:p>
                      <a:pPr algn="ctr"/>
                      <a:r>
                        <a:rPr sz="1700" b="1" i="0">
                          <a:solidFill>
                            <a:srgbClr val="198754"/>
                          </a:solidFill>
                          <a:latin typeface="Calibri"/>
                        </a:rPr>
                        <a:t>MTTD &lt; 2 min  (vs ~60 min)</a:t>
                      </a:r>
                    </a:p>
                  </a:txBody>
                  <a:tcPr>
                    <a:solidFill>
                      <a:srgbClr val="FFFFFF"/>
                    </a:solidFill>
                  </a:tcPr>
                </a:tc>
              </a:tr>
              <a:tr h="496388">
                <a:tc>
                  <a:txBody>
                    <a:bodyPr/>
                    <a:lstStyle/>
                    <a:p>
                      <a:pPr algn="l"/>
                      <a:r>
                        <a:rPr sz="1700" b="0" i="0">
                          <a:solidFill>
                            <a:srgbClr val="333333"/>
                          </a:solidFill>
                          <a:latin typeface="Calibri"/>
                        </a:rPr>
                        <a:t>Alerter instantanément</a:t>
                      </a:r>
                    </a:p>
                  </a:txBody>
                  <a:tcPr>
                    <a:solidFill>
                      <a:srgbClr val="F1F3F5"/>
                    </a:solidFill>
                  </a:tcPr>
                </a:tc>
                <a:tc>
                  <a:txBody>
                    <a:bodyPr/>
                    <a:lstStyle/>
                    <a:p>
                      <a:pPr algn="ctr"/>
                      <a:r>
                        <a:rPr sz="1700" b="1" i="0">
                          <a:solidFill>
                            <a:srgbClr val="198754"/>
                          </a:solidFill>
                          <a:latin typeface="Calibri"/>
                        </a:rPr>
                        <a:t>MTTR &lt; 5 min  (vs ~45 min)</a:t>
                      </a:r>
                    </a:p>
                  </a:txBody>
                  <a:tcPr>
                    <a:solidFill>
                      <a:srgbClr val="F1F3F5"/>
                    </a:solidFill>
                  </a:tcPr>
                </a:tc>
              </a:tr>
              <a:tr h="496388">
                <a:tc>
                  <a:txBody>
                    <a:bodyPr/>
                    <a:lstStyle/>
                    <a:p>
                      <a:pPr algn="l"/>
                      <a:r>
                        <a:rPr sz="1700" b="0" i="0">
                          <a:solidFill>
                            <a:srgbClr val="333333"/>
                          </a:solidFill>
                          <a:latin typeface="Calibri"/>
                        </a:rPr>
                        <a:t>Automatiser la surveillance</a:t>
                      </a:r>
                    </a:p>
                  </a:txBody>
                  <a:tcPr>
                    <a:solidFill>
                      <a:srgbClr val="FFFFFF"/>
                    </a:solidFill>
                  </a:tcPr>
                </a:tc>
                <a:tc>
                  <a:txBody>
                    <a:bodyPr/>
                    <a:lstStyle/>
                    <a:p>
                      <a:pPr algn="ctr"/>
                      <a:r>
                        <a:rPr sz="1700" b="1" i="0">
                          <a:solidFill>
                            <a:srgbClr val="198754"/>
                          </a:solidFill>
                          <a:latin typeface="Calibri"/>
                        </a:rPr>
                        <a:t>0 intervention humaine sur la collecte</a:t>
                      </a:r>
                    </a:p>
                  </a:txBody>
                  <a:tcPr>
                    <a:solidFill>
                      <a:srgbClr val="FFFFFF"/>
                    </a:solidFill>
                  </a:tcPr>
                </a:tc>
              </a:tr>
              <a:tr h="496388">
                <a:tc>
                  <a:txBody>
                    <a:bodyPr/>
                    <a:lstStyle/>
                    <a:p>
                      <a:pPr algn="l"/>
                      <a:r>
                        <a:rPr sz="1700" b="0" i="0">
                          <a:solidFill>
                            <a:srgbClr val="333333"/>
                          </a:solidFill>
                          <a:latin typeface="Calibri"/>
                        </a:rPr>
                        <a:t>Assurer la traçabilité</a:t>
                      </a:r>
                    </a:p>
                  </a:txBody>
                  <a:tcPr>
                    <a:solidFill>
                      <a:srgbClr val="F1F3F5"/>
                    </a:solidFill>
                  </a:tcPr>
                </a:tc>
                <a:tc>
                  <a:txBody>
                    <a:bodyPr/>
                    <a:lstStyle/>
                    <a:p>
                      <a:pPr algn="ctr"/>
                      <a:r>
                        <a:rPr sz="1700" b="1" i="0">
                          <a:solidFill>
                            <a:srgbClr val="198754"/>
                          </a:solidFill>
                          <a:latin typeface="Calibri"/>
                        </a:rPr>
                        <a:t>100 % des événements journalisés</a:t>
                      </a:r>
                    </a:p>
                  </a:txBody>
                  <a:tcPr>
                    <a:solidFill>
                      <a:srgbClr val="F1F3F5"/>
                    </a:solidFill>
                  </a:tcPr>
                </a:tc>
              </a:tr>
              <a:tr h="496388">
                <a:tc>
                  <a:txBody>
                    <a:bodyPr/>
                    <a:lstStyle/>
                    <a:p>
                      <a:pPr algn="l"/>
                      <a:r>
                        <a:rPr sz="1700" b="0" i="0">
                          <a:solidFill>
                            <a:srgbClr val="333333"/>
                          </a:solidFill>
                          <a:latin typeface="Calibri"/>
                        </a:rPr>
                        <a:t>Améliorer la disponibilité</a:t>
                      </a:r>
                    </a:p>
                  </a:txBody>
                  <a:tcPr>
                    <a:solidFill>
                      <a:srgbClr val="FFFFFF"/>
                    </a:solidFill>
                  </a:tcPr>
                </a:tc>
                <a:tc>
                  <a:txBody>
                    <a:bodyPr/>
                    <a:lstStyle/>
                    <a:p>
                      <a:pPr algn="ctr"/>
                      <a:r>
                        <a:rPr sz="1700" b="1" i="0">
                          <a:solidFill>
                            <a:srgbClr val="198754"/>
                          </a:solidFill>
                          <a:latin typeface="Calibri"/>
                        </a:rPr>
                        <a:t>+2 pts  (~97,5 % → ~99,5 %)</a:t>
                      </a:r>
                    </a:p>
                  </a:txBody>
                  <a:tcPr>
                    <a:solidFill>
                      <a:srgbClr val="FFFFFF"/>
                    </a:solidFill>
                  </a:tcPr>
                </a:tc>
              </a:tr>
              <a:tr h="496392">
                <a:tc>
                  <a:txBody>
                    <a:bodyPr/>
                    <a:lstStyle/>
                    <a:p>
                      <a:pPr algn="l"/>
                      <a:r>
                        <a:rPr sz="1700" b="0" i="0">
                          <a:solidFill>
                            <a:srgbClr val="333333"/>
                          </a:solidFill>
                          <a:latin typeface="Calibri"/>
                        </a:rPr>
                        <a:t>Maîtriser le coût</a:t>
                      </a:r>
                    </a:p>
                  </a:txBody>
                  <a:tcPr>
                    <a:solidFill>
                      <a:srgbClr val="F1F3F5"/>
                    </a:solidFill>
                  </a:tcPr>
                </a:tc>
                <a:tc>
                  <a:txBody>
                    <a:bodyPr/>
                    <a:lstStyle/>
                    <a:p>
                      <a:pPr algn="ctr"/>
                      <a:r>
                        <a:rPr sz="1700" b="1" i="0">
                          <a:solidFill>
                            <a:srgbClr val="198754"/>
                          </a:solidFill>
                          <a:latin typeface="Calibri"/>
                        </a:rPr>
                        <a:t>0 € de licence (open-source)</a:t>
                      </a:r>
                    </a:p>
                  </a:txBody>
                  <a:tcPr>
                    <a:solidFill>
                      <a:srgbClr val="F1F3F5"/>
                    </a:solidFill>
                  </a:tcPr>
                </a:tc>
              </a:tr>
            </a:tbl>
          </a:graphicData>
        </a:graphic>
      </p:graphicFrame>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Objectif général : livrer un produit fonctionnel, mesurablement plus performant que la supervision manuelle, pour un coût négligeable.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3</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Démarche méthodologique</a:t>
            </a:r>
          </a:p>
        </p:txBody>
      </p:sp>
      <p:sp>
        <p:nvSpPr>
          <p:cNvPr id="5" name="TextBox 4"/>
          <p:cNvSpPr txBox="1"/>
          <p:nvPr/>
        </p:nvSpPr>
        <p:spPr>
          <a:xfrm>
            <a:off x="640080" y="1371600"/>
            <a:ext cx="10881360" cy="1645920"/>
          </a:xfrm>
          <a:prstGeom prst="rect">
            <a:avLst/>
          </a:prstGeom>
          <a:noFill/>
        </p:spPr>
        <p:txBody>
          <a:bodyPr wrap="square">
            <a:spAutoFit/>
          </a:bodyPr>
          <a:lstStyle/>
          <a:p>
            <a:pPr>
              <a:spcAft>
                <a:spcPts val="800"/>
              </a:spcAft>
            </a:pPr>
            <a:r>
              <a:rPr sz="2000" b="0" i="0">
                <a:solidFill>
                  <a:srgbClr val="333333"/>
                </a:solidFill>
                <a:latin typeface="Calibri"/>
              </a:rPr>
              <a:t>•  Type : recherche appliquée / expérimentale — paradigme Design Science (on conçoit un artefact et on MESURE son efficacité).</a:t>
            </a:r>
          </a:p>
          <a:p>
            <a:pPr>
              <a:spcAft>
                <a:spcPts val="800"/>
              </a:spcAft>
            </a:pPr>
            <a:r>
              <a:rPr sz="2000" b="0" i="0">
                <a:solidFill>
                  <a:srgbClr val="333333"/>
                </a:solidFill>
                <a:latin typeface="Calibri"/>
              </a:rPr>
              <a:t/>
            </a:r>
          </a:p>
          <a:p>
            <a:pPr>
              <a:spcAft>
                <a:spcPts val="800"/>
              </a:spcAft>
            </a:pPr>
            <a:r>
              <a:rPr sz="2000" b="1" i="0">
                <a:solidFill>
                  <a:srgbClr val="0D3B66"/>
                </a:solidFill>
                <a:latin typeface="Calibri"/>
              </a:rPr>
              <a:t>•  Cycle de travail itératif (inspiré DevOps) :</a:t>
            </a:r>
          </a:p>
        </p:txBody>
      </p:sp>
      <p:sp>
        <p:nvSpPr>
          <p:cNvPr id="6" name="Rectangle 5"/>
          <p:cNvSpPr/>
          <p:nvPr/>
        </p:nvSpPr>
        <p:spPr>
          <a:xfrm>
            <a:off x="822960" y="3200400"/>
            <a:ext cx="10515600" cy="82296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0D3B66"/>
                </a:solidFill>
                <a:latin typeface="Calibri"/>
              </a:rPr>
              <a:t>Analyse → Conception (UML/MERISE) → Développement → Test → Intégration → Mesure</a:t>
            </a:r>
          </a:p>
        </p:txBody>
      </p:sp>
      <p:sp>
        <p:nvSpPr>
          <p:cNvPr id="7" name="TextBox 6"/>
          <p:cNvSpPr txBox="1"/>
          <p:nvPr/>
        </p:nvSpPr>
        <p:spPr>
          <a:xfrm>
            <a:off x="640080" y="4297680"/>
            <a:ext cx="10881360" cy="1463040"/>
          </a:xfrm>
          <a:prstGeom prst="rect">
            <a:avLst/>
          </a:prstGeom>
          <a:noFill/>
        </p:spPr>
        <p:txBody>
          <a:bodyPr wrap="square">
            <a:spAutoFit/>
          </a:bodyPr>
          <a:lstStyle/>
          <a:p>
            <a:pPr>
              <a:spcAft>
                <a:spcPts val="800"/>
              </a:spcAft>
            </a:pPr>
            <a:r>
              <a:rPr sz="1900" b="0" i="0">
                <a:solidFill>
                  <a:srgbClr val="333333"/>
                </a:solidFill>
                <a:latin typeface="Calibri"/>
              </a:rPr>
              <a:t>•  Outils &amp; livrables : recherche documentaire · observation terrain · prototypage · collecte automatisée des métriques (journaux) · comparaison avant/après (manuel vs automatisé).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État des lieux des solutions existantes</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Solution</a:t>
                      </a:r>
                    </a:p>
                  </a:txBody>
                  <a:tcPr>
                    <a:solidFill>
                      <a:srgbClr val="0D3B66"/>
                    </a:solidFill>
                  </a:tcPr>
                </a:tc>
                <a:tc>
                  <a:txBody>
                    <a:bodyPr/>
                    <a:lstStyle/>
                    <a:p>
                      <a:pPr algn="ctr"/>
                      <a:r>
                        <a:rPr sz="1500" b="1" i="0">
                          <a:solidFill>
                            <a:srgbClr val="FFFFFF"/>
                          </a:solidFill>
                          <a:latin typeface="Calibri"/>
                        </a:rPr>
                        <a:t>Type</a:t>
                      </a:r>
                    </a:p>
                  </a:txBody>
                  <a:tcPr>
                    <a:solidFill>
                      <a:srgbClr val="0D3B66"/>
                    </a:solidFill>
                  </a:tcPr>
                </a:tc>
                <a:tc>
                  <a:txBody>
                    <a:bodyPr/>
                    <a:lstStyle/>
                    <a:p>
                      <a:pPr algn="ctr"/>
                      <a:r>
                        <a:rPr sz="1500" b="1" i="0">
                          <a:solidFill>
                            <a:srgbClr val="FFFFFF"/>
                          </a:solidFill>
                          <a:latin typeface="Calibri"/>
                        </a:rPr>
                        <a:t>Atout</a:t>
                      </a:r>
                    </a:p>
                  </a:txBody>
                  <a:tcPr>
                    <a:solidFill>
                      <a:srgbClr val="0D3B66"/>
                    </a:solidFill>
                  </a:tcPr>
                </a:tc>
                <a:tc>
                  <a:txBody>
                    <a:bodyPr/>
                    <a:lstStyle/>
                    <a:p>
                      <a:pPr algn="ctr"/>
                      <a:r>
                        <a:rPr sz="1500" b="1" i="0">
                          <a:solidFill>
                            <a:srgbClr val="FFFFFF"/>
                          </a:solidFill>
                          <a:latin typeface="Calibri"/>
                        </a:rPr>
                        <a:t>Frein majeur</a:t>
                      </a:r>
                    </a:p>
                  </a:txBody>
                  <a:tcPr>
                    <a:solidFill>
                      <a:srgbClr val="0D3B66"/>
                    </a:solidFill>
                  </a:tcPr>
                </a:tc>
              </a:tr>
              <a:tr h="518160">
                <a:tc>
                  <a:txBody>
                    <a:bodyPr/>
                    <a:lstStyle/>
                    <a:p>
                      <a:pPr algn="l"/>
                      <a:r>
                        <a:rPr sz="1500" b="0" i="0">
                          <a:solidFill>
                            <a:srgbClr val="333333"/>
                          </a:solidFill>
                          <a:latin typeface="Calibri"/>
                        </a:rPr>
                        <a:t>Nagios</a:t>
                      </a:r>
                    </a:p>
                  </a:txBody>
                  <a:tcPr>
                    <a:solidFill>
                      <a:srgbClr val="FFFFFF"/>
                    </a:solidFill>
                  </a:tcPr>
                </a:tc>
                <a:tc>
                  <a:txBody>
                    <a:bodyPr/>
                    <a:lstStyle/>
                    <a:p>
                      <a:pPr algn="ctr"/>
                      <a:r>
                        <a:rPr sz="1500" b="0" i="0">
                          <a:solidFill>
                            <a:srgbClr val="333333"/>
                          </a:solidFill>
                          <a:latin typeface="Calibri"/>
                        </a:rPr>
                        <a:t>Open-source</a:t>
                      </a:r>
                    </a:p>
                  </a:txBody>
                  <a:tcPr>
                    <a:solidFill>
                      <a:srgbClr val="FFFFFF"/>
                    </a:solidFill>
                  </a:tcPr>
                </a:tc>
                <a:tc>
                  <a:txBody>
                    <a:bodyPr/>
                    <a:lstStyle/>
                    <a:p>
                      <a:pPr algn="ctr"/>
                      <a:r>
                        <a:rPr sz="1500" b="0" i="0">
                          <a:solidFill>
                            <a:srgbClr val="333333"/>
                          </a:solidFill>
                          <a:latin typeface="Calibri"/>
                        </a:rPr>
                        <a:t>Éprouvé, extensible</a:t>
                      </a:r>
                    </a:p>
                  </a:txBody>
                  <a:tcPr>
                    <a:solidFill>
                      <a:srgbClr val="FFFFFF"/>
                    </a:solidFill>
                  </a:tcPr>
                </a:tc>
                <a:tc>
                  <a:txBody>
                    <a:bodyPr/>
                    <a:lstStyle/>
                    <a:p>
                      <a:pPr algn="ctr"/>
                      <a:r>
                        <a:rPr sz="1500" b="0" i="0">
                          <a:solidFill>
                            <a:srgbClr val="333333"/>
                          </a:solidFill>
                          <a:latin typeface="Calibri"/>
                        </a:rPr>
                        <a:t>Config. complexe</a:t>
                      </a:r>
                    </a:p>
                  </a:txBody>
                  <a:tcPr>
                    <a:solidFill>
                      <a:srgbClr val="FFFFFF"/>
                    </a:solidFill>
                  </a:tcPr>
                </a:tc>
              </a:tr>
              <a:tr h="518160">
                <a:tc>
                  <a:txBody>
                    <a:bodyPr/>
                    <a:lstStyle/>
                    <a:p>
                      <a:pPr algn="l"/>
                      <a:r>
                        <a:rPr sz="1500" b="0" i="0">
                          <a:solidFill>
                            <a:srgbClr val="333333"/>
                          </a:solidFill>
                          <a:latin typeface="Calibri"/>
                        </a:rPr>
                        <a:t>Zabbix</a:t>
                      </a:r>
                    </a:p>
                  </a:txBody>
                  <a:tcPr>
                    <a:solidFill>
                      <a:srgbClr val="F1F3F5"/>
                    </a:solidFill>
                  </a:tcPr>
                </a:tc>
                <a:tc>
                  <a:txBody>
                    <a:bodyPr/>
                    <a:lstStyle/>
                    <a:p>
                      <a:pPr algn="ctr"/>
                      <a:r>
                        <a:rPr sz="1500" b="0" i="0">
                          <a:solidFill>
                            <a:srgbClr val="333333"/>
                          </a:solidFill>
                          <a:latin typeface="Calibri"/>
                        </a:rPr>
                        <a:t>Open-source</a:t>
                      </a:r>
                    </a:p>
                  </a:txBody>
                  <a:tcPr>
                    <a:solidFill>
                      <a:srgbClr val="F1F3F5"/>
                    </a:solidFill>
                  </a:tcPr>
                </a:tc>
                <a:tc>
                  <a:txBody>
                    <a:bodyPr/>
                    <a:lstStyle/>
                    <a:p>
                      <a:pPr algn="ctr"/>
                      <a:r>
                        <a:rPr sz="1500" b="0" i="0">
                          <a:solidFill>
                            <a:srgbClr val="333333"/>
                          </a:solidFill>
                          <a:latin typeface="Calibri"/>
                        </a:rPr>
                        <a:t>Très complet</a:t>
                      </a:r>
                    </a:p>
                  </a:txBody>
                  <a:tcPr>
                    <a:solidFill>
                      <a:srgbClr val="F1F3F5"/>
                    </a:solidFill>
                  </a:tcPr>
                </a:tc>
                <a:tc>
                  <a:txBody>
                    <a:bodyPr/>
                    <a:lstStyle/>
                    <a:p>
                      <a:pPr algn="ctr"/>
                      <a:r>
                        <a:rPr sz="1500" b="0" i="0">
                          <a:solidFill>
                            <a:srgbClr val="333333"/>
                          </a:solidFill>
                          <a:latin typeface="Calibri"/>
                        </a:rPr>
                        <a:t>Gourmand en ressources</a:t>
                      </a:r>
                    </a:p>
                  </a:txBody>
                  <a:tcPr>
                    <a:solidFill>
                      <a:srgbClr val="F1F3F5"/>
                    </a:solidFill>
                  </a:tcPr>
                </a:tc>
              </a:tr>
              <a:tr h="518160">
                <a:tc>
                  <a:txBody>
                    <a:bodyPr/>
                    <a:lstStyle/>
                    <a:p>
                      <a:pPr algn="l"/>
                      <a:r>
                        <a:rPr sz="1500" b="0" i="0">
                          <a:solidFill>
                            <a:srgbClr val="333333"/>
                          </a:solidFill>
                          <a:latin typeface="Calibri"/>
                        </a:rPr>
                        <a:t>Centreon</a:t>
                      </a:r>
                    </a:p>
                  </a:txBody>
                  <a:tcPr>
                    <a:solidFill>
                      <a:srgbClr val="FFFFFF"/>
                    </a:solidFill>
                  </a:tcPr>
                </a:tc>
                <a:tc>
                  <a:txBody>
                    <a:bodyPr/>
                    <a:lstStyle/>
                    <a:p>
                      <a:pPr algn="ctr"/>
                      <a:r>
                        <a:rPr sz="1500" b="0" i="0">
                          <a:solidFill>
                            <a:srgbClr val="333333"/>
                          </a:solidFill>
                          <a:latin typeface="Calibri"/>
                        </a:rPr>
                        <a:t>Mixte</a:t>
                      </a:r>
                    </a:p>
                  </a:txBody>
                  <a:tcPr>
                    <a:solidFill>
                      <a:srgbClr val="FFFFFF"/>
                    </a:solidFill>
                  </a:tcPr>
                </a:tc>
                <a:tc>
                  <a:txBody>
                    <a:bodyPr/>
                    <a:lstStyle/>
                    <a:p>
                      <a:pPr algn="ctr"/>
                      <a:r>
                        <a:rPr sz="1500" b="0" i="0">
                          <a:solidFill>
                            <a:srgbClr val="333333"/>
                          </a:solidFill>
                          <a:latin typeface="Calibri"/>
                        </a:rPr>
                        <a:t>Interface soignée</a:t>
                      </a:r>
                    </a:p>
                  </a:txBody>
                  <a:tcPr>
                    <a:solidFill>
                      <a:srgbClr val="FFFFFF"/>
                    </a:solidFill>
                  </a:tcPr>
                </a:tc>
                <a:tc>
                  <a:txBody>
                    <a:bodyPr/>
                    <a:lstStyle/>
                    <a:p>
                      <a:pPr algn="ctr"/>
                      <a:r>
                        <a:rPr sz="1500" b="0" i="0">
                          <a:solidFill>
                            <a:srgbClr val="333333"/>
                          </a:solidFill>
                          <a:latin typeface="Calibri"/>
                        </a:rPr>
                        <a:t>Modules avancés payants</a:t>
                      </a:r>
                    </a:p>
                  </a:txBody>
                  <a:tcPr>
                    <a:solidFill>
                      <a:srgbClr val="FFFFFF"/>
                    </a:solidFill>
                  </a:tcPr>
                </a:tc>
              </a:tr>
              <a:tr h="518160">
                <a:tc>
                  <a:txBody>
                    <a:bodyPr/>
                    <a:lstStyle/>
                    <a:p>
                      <a:pPr algn="l"/>
                      <a:r>
                        <a:rPr sz="1500" b="0" i="0">
                          <a:solidFill>
                            <a:srgbClr val="333333"/>
                          </a:solidFill>
                          <a:latin typeface="Calibri"/>
                        </a:rPr>
                        <a:t>PRTG</a:t>
                      </a:r>
                    </a:p>
                  </a:txBody>
                  <a:tcPr>
                    <a:solidFill>
                      <a:srgbClr val="F1F3F5"/>
                    </a:solidFill>
                  </a:tcPr>
                </a:tc>
                <a:tc>
                  <a:txBody>
                    <a:bodyPr/>
                    <a:lstStyle/>
                    <a:p>
                      <a:pPr algn="ctr"/>
                      <a:r>
                        <a:rPr sz="1500" b="0" i="0">
                          <a:solidFill>
                            <a:srgbClr val="333333"/>
                          </a:solidFill>
                          <a:latin typeface="Calibri"/>
                        </a:rPr>
                        <a:t>Propriétaire</a:t>
                      </a:r>
                    </a:p>
                  </a:txBody>
                  <a:tcPr>
                    <a:solidFill>
                      <a:srgbClr val="F1F3F5"/>
                    </a:solidFill>
                  </a:tcPr>
                </a:tc>
                <a:tc>
                  <a:txBody>
                    <a:bodyPr/>
                    <a:lstStyle/>
                    <a:p>
                      <a:pPr algn="ctr"/>
                      <a:r>
                        <a:rPr sz="1500" b="0" i="0">
                          <a:solidFill>
                            <a:srgbClr val="333333"/>
                          </a:solidFill>
                          <a:latin typeface="Calibri"/>
                        </a:rPr>
                        <a:t>Simple</a:t>
                      </a:r>
                    </a:p>
                  </a:txBody>
                  <a:tcPr>
                    <a:solidFill>
                      <a:srgbClr val="F1F3F5"/>
                    </a:solidFill>
                  </a:tcPr>
                </a:tc>
                <a:tc>
                  <a:txBody>
                    <a:bodyPr/>
                    <a:lstStyle/>
                    <a:p>
                      <a:pPr algn="ctr"/>
                      <a:r>
                        <a:rPr sz="1500" b="0" i="0">
                          <a:solidFill>
                            <a:srgbClr val="333333"/>
                          </a:solidFill>
                          <a:latin typeface="Calibri"/>
                        </a:rPr>
                        <a:t>Payant, Windows</a:t>
                      </a:r>
                    </a:p>
                  </a:txBody>
                  <a:tcPr>
                    <a:solidFill>
                      <a:srgbClr val="F1F3F5"/>
                    </a:solidFill>
                  </a:tcPr>
                </a:tc>
              </a:tr>
              <a:tr h="518160">
                <a:tc>
                  <a:txBody>
                    <a:bodyPr/>
                    <a:lstStyle/>
                    <a:p>
                      <a:pPr algn="l"/>
                      <a:r>
                        <a:rPr sz="1500" b="0" i="0">
                          <a:solidFill>
                            <a:srgbClr val="333333"/>
                          </a:solidFill>
                          <a:latin typeface="Calibri"/>
                        </a:rPr>
                        <a:t>SolarWinds</a:t>
                      </a:r>
                    </a:p>
                  </a:txBody>
                  <a:tcPr>
                    <a:solidFill>
                      <a:srgbClr val="FFFFFF"/>
                    </a:solidFill>
                  </a:tcPr>
                </a:tc>
                <a:tc>
                  <a:txBody>
                    <a:bodyPr/>
                    <a:lstStyle/>
                    <a:p>
                      <a:pPr algn="ctr"/>
                      <a:r>
                        <a:rPr sz="1500" b="0" i="0">
                          <a:solidFill>
                            <a:srgbClr val="333333"/>
                          </a:solidFill>
                          <a:latin typeface="Calibri"/>
                        </a:rPr>
                        <a:t>Propriétaire</a:t>
                      </a:r>
                    </a:p>
                  </a:txBody>
                  <a:tcPr>
                    <a:solidFill>
                      <a:srgbClr val="FFFFFF"/>
                    </a:solidFill>
                  </a:tcPr>
                </a:tc>
                <a:tc>
                  <a:txBody>
                    <a:bodyPr/>
                    <a:lstStyle/>
                    <a:p>
                      <a:pPr algn="ctr"/>
                      <a:r>
                        <a:rPr sz="1500" b="0" i="0">
                          <a:solidFill>
                            <a:srgbClr val="333333"/>
                          </a:solidFill>
                          <a:latin typeface="Calibri"/>
                        </a:rPr>
                        <a:t>Haut de gamme</a:t>
                      </a:r>
                    </a:p>
                  </a:txBody>
                  <a:tcPr>
                    <a:solidFill>
                      <a:srgbClr val="FFFFFF"/>
                    </a:solidFill>
                  </a:tcPr>
                </a:tc>
                <a:tc>
                  <a:txBody>
                    <a:bodyPr/>
                    <a:lstStyle/>
                    <a:p>
                      <a:pPr algn="ctr"/>
                      <a:r>
                        <a:rPr sz="1500" b="0" i="0">
                          <a:solidFill>
                            <a:srgbClr val="333333"/>
                          </a:solidFill>
                          <a:latin typeface="Calibri"/>
                        </a:rPr>
                        <a:t>Très coûteux</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Le vide identifié : rien de léger + gratuit + simple + sur mesure, avec notification mobile native, pour les petites structures.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Solution proposée</a:t>
            </a:r>
          </a:p>
        </p:txBody>
      </p:sp>
      <p:sp>
        <p:nvSpPr>
          <p:cNvPr id="5" name="TextBox 4"/>
          <p:cNvSpPr txBox="1"/>
          <p:nvPr/>
        </p:nvSpPr>
        <p:spPr>
          <a:xfrm>
            <a:off x="640080" y="1371600"/>
            <a:ext cx="10881360" cy="3291840"/>
          </a:xfrm>
          <a:prstGeom prst="rect">
            <a:avLst/>
          </a:prstGeom>
          <a:noFill/>
        </p:spPr>
        <p:txBody>
          <a:bodyPr wrap="square">
            <a:spAutoFit/>
          </a:bodyPr>
          <a:lstStyle/>
          <a:p>
            <a:pPr>
              <a:spcAft>
                <a:spcPts val="800"/>
              </a:spcAft>
            </a:pPr>
            <a:r>
              <a:rPr sz="2000" b="1" i="0">
                <a:solidFill>
                  <a:srgbClr val="0D3B66"/>
                </a:solidFill>
                <a:latin typeface="Calibri"/>
              </a:rPr>
              <a:t>•  Un système automatisé, modulaire et 100 % open-source qui :</a:t>
            </a:r>
          </a:p>
          <a:p>
            <a:pPr lvl="1">
              <a:spcAft>
                <a:spcPts val="800"/>
              </a:spcAft>
            </a:pPr>
            <a:r>
              <a:rPr sz="1800" b="0" i="0">
                <a:solidFill>
                  <a:srgbClr val="333333"/>
                </a:solidFill>
                <a:latin typeface="Calibri"/>
              </a:rPr>
              <a:t>–  découvre automatiquement les équipements du réseau</a:t>
            </a:r>
          </a:p>
          <a:p>
            <a:pPr lvl="1">
              <a:spcAft>
                <a:spcPts val="800"/>
              </a:spcAft>
            </a:pPr>
            <a:r>
              <a:rPr sz="1800" b="0" i="0">
                <a:solidFill>
                  <a:srgbClr val="333333"/>
                </a:solidFill>
                <a:latin typeface="Calibri"/>
              </a:rPr>
              <a:t>–  sonde en continu la disponibilité (ICMP) et les services (TCP)</a:t>
            </a:r>
          </a:p>
          <a:p>
            <a:pPr lvl="1">
              <a:spcAft>
                <a:spcPts val="800"/>
              </a:spcAft>
            </a:pPr>
            <a:r>
              <a:rPr sz="1800" b="0" i="0">
                <a:solidFill>
                  <a:srgbClr val="333333"/>
                </a:solidFill>
                <a:latin typeface="Calibri"/>
              </a:rPr>
              <a:t>–  confirme la panne (anti-faux positif) et journalise tout</a:t>
            </a:r>
          </a:p>
          <a:p>
            <a:pPr lvl="1">
              <a:spcAft>
                <a:spcPts val="800"/>
              </a:spcAft>
            </a:pPr>
            <a:r>
              <a:rPr sz="1800" b="0" i="0">
                <a:solidFill>
                  <a:srgbClr val="333333"/>
                </a:solidFill>
                <a:latin typeface="Calibri"/>
              </a:rPr>
              <a:t>–  alerte en temps réel par e-mail ET Telegram (push mobile)</a:t>
            </a:r>
          </a:p>
          <a:p>
            <a:pPr lvl="1">
              <a:spcAft>
                <a:spcPts val="800"/>
              </a:spcAft>
            </a:pPr>
            <a:r>
              <a:rPr sz="1800" b="0" i="0">
                <a:solidFill>
                  <a:srgbClr val="333333"/>
                </a:solidFill>
                <a:latin typeface="Calibri"/>
              </a:rPr>
              <a:t>–  offre un tableau de bord web temps réel + rapports</a:t>
            </a:r>
          </a:p>
        </p:txBody>
      </p:sp>
      <p:sp>
        <p:nvSpPr>
          <p:cNvPr id="6" name="Rectangle 5"/>
          <p:cNvSpPr/>
          <p:nvPr/>
        </p:nvSpPr>
        <p:spPr>
          <a:xfrm>
            <a:off x="640080" y="512064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120640"/>
            <a:ext cx="10771632" cy="91440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Stack : Ubuntu · Python · Cron · MySQL · Flask · Bootstrap · Bot Telegram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5</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Axe de différenciation (innovation)</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5440680"/>
                <a:gridCol w="5440680"/>
              </a:tblGrid>
              <a:tr h="518160">
                <a:tc>
                  <a:txBody>
                    <a:bodyPr/>
                    <a:lstStyle/>
                    <a:p>
                      <a:pPr algn="ctr"/>
                      <a:r>
                        <a:rPr sz="1600" b="1" i="0">
                          <a:solidFill>
                            <a:srgbClr val="FFFFFF"/>
                          </a:solidFill>
                          <a:latin typeface="Calibri"/>
                        </a:rPr>
                        <a:t>Différenciateur</a:t>
                      </a:r>
                    </a:p>
                  </a:txBody>
                  <a:tcPr>
                    <a:solidFill>
                      <a:srgbClr val="0D3B66"/>
                    </a:solidFill>
                  </a:tcPr>
                </a:tc>
                <a:tc>
                  <a:txBody>
                    <a:bodyPr/>
                    <a:lstStyle/>
                    <a:p>
                      <a:pPr algn="ctr"/>
                      <a:r>
                        <a:rPr sz="1600" b="1" i="0">
                          <a:solidFill>
                            <a:srgbClr val="FFFFFF"/>
                          </a:solidFill>
                          <a:latin typeface="Calibri"/>
                        </a:rPr>
                        <a:t>Bénéfice client</a:t>
                      </a:r>
                    </a:p>
                  </a:txBody>
                  <a:tcPr>
                    <a:solidFill>
                      <a:srgbClr val="0D3B66"/>
                    </a:solidFill>
                  </a:tcPr>
                </a:tc>
              </a:tr>
              <a:tr h="518160">
                <a:tc>
                  <a:txBody>
                    <a:bodyPr/>
                    <a:lstStyle/>
                    <a:p>
                      <a:pPr algn="l"/>
                      <a:r>
                        <a:rPr sz="1600" b="0" i="0">
                          <a:solidFill>
                            <a:srgbClr val="333333"/>
                          </a:solidFill>
                          <a:latin typeface="Calibri"/>
                        </a:rPr>
                        <a:t>Alerte Telegram native</a:t>
                      </a:r>
                    </a:p>
                  </a:txBody>
                  <a:tcPr>
                    <a:solidFill>
                      <a:srgbClr val="FFFFFF"/>
                    </a:solidFill>
                  </a:tcPr>
                </a:tc>
                <a:tc>
                  <a:txBody>
                    <a:bodyPr/>
                    <a:lstStyle/>
                    <a:p>
                      <a:pPr algn="ctr"/>
                      <a:r>
                        <a:rPr sz="1600" b="0" i="0">
                          <a:solidFill>
                            <a:srgbClr val="333333"/>
                          </a:solidFill>
                          <a:latin typeface="Calibri"/>
                        </a:rPr>
                        <a:t>Notification push gratuite, admin alerté partout</a:t>
                      </a:r>
                    </a:p>
                  </a:txBody>
                  <a:tcPr>
                    <a:solidFill>
                      <a:srgbClr val="FFFFFF"/>
                    </a:solidFill>
                  </a:tcPr>
                </a:tc>
              </a:tr>
              <a:tr h="518160">
                <a:tc>
                  <a:txBody>
                    <a:bodyPr/>
                    <a:lstStyle/>
                    <a:p>
                      <a:pPr algn="l"/>
                      <a:r>
                        <a:rPr sz="1600" b="0" i="0">
                          <a:solidFill>
                            <a:srgbClr val="333333"/>
                          </a:solidFill>
                          <a:latin typeface="Calibri"/>
                        </a:rPr>
                        <a:t>Ultra-légère</a:t>
                      </a:r>
                    </a:p>
                  </a:txBody>
                  <a:tcPr>
                    <a:solidFill>
                      <a:srgbClr val="F1F3F5"/>
                    </a:solidFill>
                  </a:tcPr>
                </a:tc>
                <a:tc>
                  <a:txBody>
                    <a:bodyPr/>
                    <a:lstStyle/>
                    <a:p>
                      <a:pPr algn="ctr"/>
                      <a:r>
                        <a:rPr sz="1600" b="0" i="0">
                          <a:solidFill>
                            <a:srgbClr val="333333"/>
                          </a:solidFill>
                          <a:latin typeface="Calibri"/>
                        </a:rPr>
                        <a:t>Tourne sur un mini-serveur / VM 1 vCPU</a:t>
                      </a:r>
                    </a:p>
                  </a:txBody>
                  <a:tcPr>
                    <a:solidFill>
                      <a:srgbClr val="F1F3F5"/>
                    </a:solidFill>
                  </a:tcPr>
                </a:tc>
              </a:tr>
              <a:tr h="518160">
                <a:tc>
                  <a:txBody>
                    <a:bodyPr/>
                    <a:lstStyle/>
                    <a:p>
                      <a:pPr algn="l"/>
                      <a:r>
                        <a:rPr sz="1600" b="0" i="0">
                          <a:solidFill>
                            <a:srgbClr val="333333"/>
                          </a:solidFill>
                          <a:latin typeface="Calibri"/>
                        </a:rPr>
                        <a:t>Code 100 % ouvert &amp; maîtrisé</a:t>
                      </a:r>
                    </a:p>
                  </a:txBody>
                  <a:tcPr>
                    <a:solidFill>
                      <a:srgbClr val="FFFFFF"/>
                    </a:solidFill>
                  </a:tcPr>
                </a:tc>
                <a:tc>
                  <a:txBody>
                    <a:bodyPr/>
                    <a:lstStyle/>
                    <a:p>
                      <a:pPr algn="ctr"/>
                      <a:r>
                        <a:rPr sz="1600" b="0" i="0">
                          <a:solidFill>
                            <a:srgbClr val="333333"/>
                          </a:solidFill>
                          <a:latin typeface="Calibri"/>
                        </a:rPr>
                        <a:t>Personnalisation totale, zéro vendor lock-in</a:t>
                      </a:r>
                    </a:p>
                  </a:txBody>
                  <a:tcPr>
                    <a:solidFill>
                      <a:srgbClr val="FFFFFF"/>
                    </a:solidFill>
                  </a:tcPr>
                </a:tc>
              </a:tr>
              <a:tr h="518160">
                <a:tc>
                  <a:txBody>
                    <a:bodyPr/>
                    <a:lstStyle/>
                    <a:p>
                      <a:pPr algn="l"/>
                      <a:r>
                        <a:rPr sz="1600" b="0" i="0">
                          <a:solidFill>
                            <a:srgbClr val="333333"/>
                          </a:solidFill>
                          <a:latin typeface="Calibri"/>
                        </a:rPr>
                        <a:t>« Plug &amp; supervise »</a:t>
                      </a:r>
                    </a:p>
                  </a:txBody>
                  <a:tcPr>
                    <a:solidFill>
                      <a:srgbClr val="F1F3F5"/>
                    </a:solidFill>
                  </a:tcPr>
                </a:tc>
                <a:tc>
                  <a:txBody>
                    <a:bodyPr/>
                    <a:lstStyle/>
                    <a:p>
                      <a:pPr algn="ctr"/>
                      <a:r>
                        <a:rPr sz="1600" b="0" i="0">
                          <a:solidFill>
                            <a:srgbClr val="333333"/>
                          </a:solidFill>
                          <a:latin typeface="Calibri"/>
                        </a:rPr>
                        <a:t>Découverte auto. + déploiement en &lt; 30 min</a:t>
                      </a:r>
                    </a:p>
                  </a:txBody>
                  <a:tcPr>
                    <a:solidFill>
                      <a:srgbClr val="F1F3F5"/>
                    </a:solidFill>
                  </a:tcPr>
                </a:tc>
              </a:tr>
              <a:tr h="518160">
                <a:tc>
                  <a:txBody>
                    <a:bodyPr/>
                    <a:lstStyle/>
                    <a:p>
                      <a:pPr algn="l"/>
                      <a:r>
                        <a:rPr sz="1600" b="0" i="0">
                          <a:solidFill>
                            <a:srgbClr val="333333"/>
                          </a:solidFill>
                          <a:latin typeface="Calibri"/>
                        </a:rPr>
                        <a:t>Prête pour l'IA</a:t>
                      </a:r>
                    </a:p>
                  </a:txBody>
                  <a:tcPr>
                    <a:solidFill>
                      <a:srgbClr val="FFFFFF"/>
                    </a:solidFill>
                  </a:tcPr>
                </a:tc>
                <a:tc>
                  <a:txBody>
                    <a:bodyPr/>
                    <a:lstStyle/>
                    <a:p>
                      <a:pPr algn="ctr"/>
                      <a:r>
                        <a:rPr sz="1600" b="0" i="0">
                          <a:solidFill>
                            <a:srgbClr val="333333"/>
                          </a:solidFill>
                          <a:latin typeface="Calibri"/>
                        </a:rPr>
                        <a:t>Historique structuré → maintenance prédictive</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L'innovation n'est pas une brique isolée, mais l'ASSEMBLAGE : simplicité + gratuité + notification mobile + extensibilité IA.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Étude de faisabilité &amp; conception</a:t>
            </a:r>
          </a:p>
        </p:txBody>
      </p:sp>
      <p:sp>
        <p:nvSpPr>
          <p:cNvPr id="5" name="TextBox 4"/>
          <p:cNvSpPr txBox="1"/>
          <p:nvPr/>
        </p:nvSpPr>
        <p:spPr>
          <a:xfrm>
            <a:off x="640080" y="1371600"/>
            <a:ext cx="10881360" cy="4754880"/>
          </a:xfrm>
          <a:prstGeom prst="rect">
            <a:avLst/>
          </a:prstGeom>
          <a:noFill/>
        </p:spPr>
        <p:txBody>
          <a:bodyPr wrap="square">
            <a:spAutoFit/>
          </a:bodyPr>
          <a:lstStyle/>
          <a:p>
            <a:pPr>
              <a:spcAft>
                <a:spcPts val="800"/>
              </a:spcAft>
            </a:pPr>
            <a:r>
              <a:rPr sz="1900" b="0" i="0">
                <a:solidFill>
                  <a:srgbClr val="198754"/>
                </a:solidFill>
                <a:latin typeface="Calibri"/>
              </a:rPr>
              <a:t>•  Faisabilité technique ✓ — briques matures, compétences maîtrisées, prototype réalisé et testé.</a:t>
            </a:r>
          </a:p>
          <a:p>
            <a:pPr>
              <a:spcAft>
                <a:spcPts val="800"/>
              </a:spcAft>
            </a:pPr>
            <a:r>
              <a:rPr sz="1900" b="0" i="0">
                <a:solidFill>
                  <a:srgbClr val="198754"/>
                </a:solidFill>
                <a:latin typeface="Calibri"/>
              </a:rPr>
              <a:t>•  Faisabilité économique ✓ — coût de licence nul, matériel minimal.</a:t>
            </a:r>
          </a:p>
          <a:p>
            <a:pPr>
              <a:spcAft>
                <a:spcPts val="800"/>
              </a:spcAft>
            </a:pPr>
            <a:r>
              <a:rPr sz="1900" b="0" i="0">
                <a:solidFill>
                  <a:srgbClr val="198754"/>
                </a:solidFill>
                <a:latin typeface="Calibri"/>
              </a:rPr>
              <a:t>•  Faisabilité organisationnelle ✓ — déploiement et prise en main rapides.</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Conception formalisée :</a:t>
            </a:r>
          </a:p>
          <a:p>
            <a:pPr lvl="1">
              <a:spcAft>
                <a:spcPts val="800"/>
              </a:spcAft>
            </a:pPr>
            <a:r>
              <a:rPr sz="1700" b="0" i="0">
                <a:solidFill>
                  <a:srgbClr val="333333"/>
                </a:solidFill>
                <a:latin typeface="Calibri"/>
              </a:rPr>
              <a:t>–  UML : 7 diagrammes (contexte, cas d'usage, séquence, activité, classes, composants, déploiement)</a:t>
            </a:r>
          </a:p>
          <a:p>
            <a:pPr lvl="1">
              <a:spcAft>
                <a:spcPts val="800"/>
              </a:spcAft>
            </a:pPr>
            <a:r>
              <a:rPr sz="1700" b="0" i="0">
                <a:solidFill>
                  <a:srgbClr val="333333"/>
                </a:solidFill>
                <a:latin typeface="Calibri"/>
              </a:rPr>
              <a:t>–  MERISE : MCD → MLD → base MySQL (5 tables)</a:t>
            </a:r>
          </a:p>
          <a:p>
            <a:pPr lvl="1">
              <a:spcAft>
                <a:spcPts val="800"/>
              </a:spcAft>
            </a:pPr>
            <a:r>
              <a:rPr sz="1700" b="0" i="0">
                <a:solidFill>
                  <a:srgbClr val="333333"/>
                </a:solidFill>
                <a:latin typeface="Calibri"/>
              </a:rPr>
              <a:t>–  Architecture en 5 couches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Architecture de la solution</a:t>
            </a:r>
          </a:p>
        </p:txBody>
      </p:sp>
      <p:sp>
        <p:nvSpPr>
          <p:cNvPr id="5" name="Rectangle 4"/>
          <p:cNvSpPr/>
          <p:nvPr/>
        </p:nvSpPr>
        <p:spPr>
          <a:xfrm>
            <a:off x="1097280" y="1417320"/>
            <a:ext cx="9966960" cy="749808"/>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ctr"/>
            <a:r>
              <a:rPr sz="1600" b="1" i="0">
                <a:solidFill>
                  <a:srgbClr val="FFFFFF"/>
                </a:solidFill>
                <a:latin typeface="Calibri"/>
              </a:rPr>
              <a:t>PRÉSENTATION   </a:t>
            </a:r>
            <a:r>
              <a:rPr sz="1500" b="0" i="0">
                <a:solidFill>
                  <a:srgbClr val="E8EEF4"/>
                </a:solidFill>
                <a:latin typeface="Calibri"/>
              </a:rPr>
              <a:t>— Tableau de bord Flask + Bootstrap + Chart.js</a:t>
            </a:r>
          </a:p>
        </p:txBody>
      </p:sp>
      <p:sp>
        <p:nvSpPr>
          <p:cNvPr id="6" name="Rectangle 5"/>
          <p:cNvSpPr/>
          <p:nvPr/>
        </p:nvSpPr>
        <p:spPr>
          <a:xfrm>
            <a:off x="1097280" y="2286000"/>
            <a:ext cx="9966960" cy="749808"/>
          </a:xfrm>
          <a:prstGeom prst="rect">
            <a:avLst/>
          </a:prstGeom>
          <a:solidFill>
            <a:srgbClr val="398AC8"/>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ctr"/>
            <a:r>
              <a:rPr sz="1600" b="1" i="0">
                <a:solidFill>
                  <a:srgbClr val="FFFFFF"/>
                </a:solidFill>
                <a:latin typeface="Calibri"/>
              </a:rPr>
              <a:t>NOTIFICATION   </a:t>
            </a:r>
            <a:r>
              <a:rPr sz="1500" b="0" i="0">
                <a:solidFill>
                  <a:srgbClr val="E8EEF4"/>
                </a:solidFill>
                <a:latin typeface="Calibri"/>
              </a:rPr>
              <a:t>— E-mail (SMTP)  +  Telegram (push mobile)</a:t>
            </a:r>
          </a:p>
        </p:txBody>
      </p:sp>
      <p:sp>
        <p:nvSpPr>
          <p:cNvPr id="7" name="Rectangle 6"/>
          <p:cNvSpPr/>
          <p:nvPr/>
        </p:nvSpPr>
        <p:spPr>
          <a:xfrm>
            <a:off x="1097280" y="3154680"/>
            <a:ext cx="9966960" cy="74980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ctr"/>
            <a:r>
              <a:rPr sz="1600" b="1" i="0">
                <a:solidFill>
                  <a:srgbClr val="FFFFFF"/>
                </a:solidFill>
                <a:latin typeface="Calibri"/>
              </a:rPr>
              <a:t>TRAITEMENT   </a:t>
            </a:r>
            <a:r>
              <a:rPr sz="1500" b="0" i="0">
                <a:solidFill>
                  <a:srgbClr val="E8EEF4"/>
                </a:solidFill>
                <a:latin typeface="Calibri"/>
              </a:rPr>
              <a:t>— Moteur Python + Cron (sondes ICMP / TCP)</a:t>
            </a:r>
          </a:p>
        </p:txBody>
      </p:sp>
      <p:sp>
        <p:nvSpPr>
          <p:cNvPr id="8" name="Rectangle 7"/>
          <p:cNvSpPr/>
          <p:nvPr/>
        </p:nvSpPr>
        <p:spPr>
          <a:xfrm>
            <a:off x="1097280" y="4023360"/>
            <a:ext cx="9966960" cy="749808"/>
          </a:xfrm>
          <a:prstGeom prst="rect">
            <a:avLst/>
          </a:prstGeom>
          <a:solidFill>
            <a:srgbClr val="1B4F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ctr"/>
            <a:r>
              <a:rPr sz="1600" b="1" i="0">
                <a:solidFill>
                  <a:srgbClr val="FFFFFF"/>
                </a:solidFill>
                <a:latin typeface="Calibri"/>
              </a:rPr>
              <a:t>DONNÉES   </a:t>
            </a:r>
            <a:r>
              <a:rPr sz="1500" b="0" i="0">
                <a:solidFill>
                  <a:srgbClr val="E8EEF4"/>
                </a:solidFill>
                <a:latin typeface="Calibri"/>
              </a:rPr>
              <a:t>— Base MySQL (historique, alertes, configuration)</a:t>
            </a:r>
          </a:p>
        </p:txBody>
      </p:sp>
      <p:sp>
        <p:nvSpPr>
          <p:cNvPr id="9" name="Rectangle 8"/>
          <p:cNvSpPr/>
          <p:nvPr/>
        </p:nvSpPr>
        <p:spPr>
          <a:xfrm>
            <a:off x="1097280" y="4892040"/>
            <a:ext cx="9966960" cy="749808"/>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ctr"/>
            <a:r>
              <a:rPr sz="1600" b="1" i="0">
                <a:solidFill>
                  <a:srgbClr val="FFFFFF"/>
                </a:solidFill>
                <a:latin typeface="Calibri"/>
              </a:rPr>
              <a:t>SYSTÈME   </a:t>
            </a:r>
            <a:r>
              <a:rPr sz="1500" b="0" i="0">
                <a:solidFill>
                  <a:srgbClr val="E8EEF4"/>
                </a:solidFill>
                <a:latin typeface="Calibri"/>
              </a:rPr>
              <a:t>— Serveur Linux Ubuntu</a:t>
            </a:r>
          </a:p>
        </p:txBody>
      </p:sp>
      <p:sp>
        <p:nvSpPr>
          <p:cNvPr id="10" name="Rectangle 9"/>
          <p:cNvSpPr/>
          <p:nvPr/>
        </p:nvSpPr>
        <p:spPr>
          <a:xfrm>
            <a:off x="640080" y="5806440"/>
            <a:ext cx="109728" cy="86868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9808" y="5806440"/>
            <a:ext cx="10771632" cy="86868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Choix clé : découplage moteur de collecte (Cron) ↔ interface (Flask) → la surveillance continue même si le tableau de bord est arrêté.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Fonctionnement technique — le cycle automatisé</a:t>
            </a:r>
          </a:p>
        </p:txBody>
      </p:sp>
      <p:sp>
        <p:nvSpPr>
          <p:cNvPr id="5" name="TextBox 4"/>
          <p:cNvSpPr txBox="1"/>
          <p:nvPr/>
        </p:nvSpPr>
        <p:spPr>
          <a:xfrm>
            <a:off x="640080" y="1463040"/>
            <a:ext cx="10881360" cy="3291840"/>
          </a:xfrm>
          <a:prstGeom prst="rect">
            <a:avLst/>
          </a:prstGeom>
          <a:noFill/>
        </p:spPr>
        <p:txBody>
          <a:bodyPr wrap="square">
            <a:spAutoFit/>
          </a:bodyPr>
          <a:lstStyle/>
          <a:p>
            <a:pPr>
              <a:spcAft>
                <a:spcPts val="1200"/>
              </a:spcAft>
            </a:pPr>
            <a:r>
              <a:rPr sz="1900" b="0" i="0">
                <a:solidFill>
                  <a:srgbClr val="333333"/>
                </a:solidFill>
                <a:latin typeface="Calibri"/>
              </a:rPr>
              <a:t>•  1.  CRON déclenche le moteur toutes les 2 minutes</a:t>
            </a:r>
          </a:p>
          <a:p>
            <a:pPr>
              <a:spcAft>
                <a:spcPts val="1200"/>
              </a:spcAft>
            </a:pPr>
            <a:r>
              <a:rPr sz="1900" b="0" i="0">
                <a:solidFill>
                  <a:srgbClr val="333333"/>
                </a:solidFill>
                <a:latin typeface="Calibri"/>
              </a:rPr>
              <a:t>•  2.  Charge les équipements (MySQL) puis sonde ICMP (ping) + TCP (service)</a:t>
            </a:r>
          </a:p>
          <a:p>
            <a:pPr>
              <a:spcAft>
                <a:spcPts val="1200"/>
              </a:spcAft>
            </a:pPr>
            <a:r>
              <a:rPr sz="1900" b="0" i="0">
                <a:solidFill>
                  <a:srgbClr val="333333"/>
                </a:solidFill>
                <a:latin typeface="Calibri"/>
              </a:rPr>
              <a:t>•  3.  Met à jour le statut + journalise chaque vérification</a:t>
            </a:r>
          </a:p>
          <a:p>
            <a:pPr>
              <a:spcAft>
                <a:spcPts val="1200"/>
              </a:spcAft>
            </a:pPr>
            <a:r>
              <a:rPr sz="1900" b="0" i="0">
                <a:solidFill>
                  <a:srgbClr val="333333"/>
                </a:solidFill>
                <a:latin typeface="Calibri"/>
              </a:rPr>
              <a:t>•  4.  Seuil d'échecs atteint ? (anti-faux positif)</a:t>
            </a:r>
          </a:p>
          <a:p>
            <a:pPr>
              <a:spcAft>
                <a:spcPts val="1200"/>
              </a:spcAft>
            </a:pPr>
            <a:r>
              <a:rPr sz="1900" b="0" i="0">
                <a:solidFill>
                  <a:srgbClr val="333333"/>
                </a:solidFill>
                <a:latin typeface="Calibri"/>
              </a:rPr>
              <a:t>•  5.  ALERTE e-mail + Telegram  (avec anti-spam / dé-duplication)</a:t>
            </a:r>
          </a:p>
          <a:p>
            <a:pPr>
              <a:spcAft>
                <a:spcPts val="1200"/>
              </a:spcAft>
            </a:pPr>
            <a:r>
              <a:rPr sz="1900" b="0" i="0">
                <a:solidFill>
                  <a:srgbClr val="333333"/>
                </a:solidFill>
                <a:latin typeface="Calibri"/>
              </a:rPr>
              <a:t>•  6.  Retour en ligne (UP) → notification de rétablissement automatique</a:t>
            </a:r>
          </a:p>
        </p:txBody>
      </p:sp>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Robustesse : seuil d'échecs (pas de fausse alerte), dé-duplication (pas de spam), sondes parallélisées (scan d'un /24 en ~12 s), journaux à rotation.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Sécurité « by design »</a:t>
            </a:r>
          </a:p>
        </p:txBody>
      </p:sp>
      <p:graphicFrame>
        <p:nvGraphicFramePr>
          <p:cNvPr id="5" name="Table 4"/>
          <p:cNvGraphicFramePr>
            <a:graphicFrameLocks noGrp="1"/>
          </p:cNvGraphicFramePr>
          <p:nvPr/>
        </p:nvGraphicFramePr>
        <p:xfrm>
          <a:off x="640080" y="1371600"/>
          <a:ext cx="10881360" cy="3657600"/>
        </p:xfrm>
        <a:graphic>
          <a:graphicData uri="http://schemas.openxmlformats.org/drawingml/2006/table">
            <a:tbl>
              <a:tblPr firstRow="1" bandRow="1">
                <a:tableStyleId>{5C22544A-7EE6-4342-B048-85BDC9FD1C3A}</a:tableStyleId>
              </a:tblPr>
              <a:tblGrid>
                <a:gridCol w="5440680"/>
                <a:gridCol w="5440680"/>
              </a:tblGrid>
              <a:tr h="522514">
                <a:tc>
                  <a:txBody>
                    <a:bodyPr/>
                    <a:lstStyle/>
                    <a:p>
                      <a:pPr algn="ctr"/>
                      <a:r>
                        <a:rPr sz="1600" b="1" i="0">
                          <a:solidFill>
                            <a:srgbClr val="FFFFFF"/>
                          </a:solidFill>
                          <a:latin typeface="Calibri"/>
                        </a:rPr>
                        <a:t>Risque</a:t>
                      </a:r>
                    </a:p>
                  </a:txBody>
                  <a:tcPr>
                    <a:solidFill>
                      <a:srgbClr val="0D3B66"/>
                    </a:solidFill>
                  </a:tcPr>
                </a:tc>
                <a:tc>
                  <a:txBody>
                    <a:bodyPr/>
                    <a:lstStyle/>
                    <a:p>
                      <a:pPr algn="ctr"/>
                      <a:r>
                        <a:rPr sz="1600" b="1" i="0">
                          <a:solidFill>
                            <a:srgbClr val="FFFFFF"/>
                          </a:solidFill>
                          <a:latin typeface="Calibri"/>
                        </a:rPr>
                        <a:t>Parade implémentée</a:t>
                      </a:r>
                    </a:p>
                  </a:txBody>
                  <a:tcPr>
                    <a:solidFill>
                      <a:srgbClr val="0D3B66"/>
                    </a:solidFill>
                  </a:tcPr>
                </a:tc>
              </a:tr>
              <a:tr h="522514">
                <a:tc>
                  <a:txBody>
                    <a:bodyPr/>
                    <a:lstStyle/>
                    <a:p>
                      <a:pPr algn="l"/>
                      <a:r>
                        <a:rPr sz="1600" b="0" i="0">
                          <a:solidFill>
                            <a:srgbClr val="333333"/>
                          </a:solidFill>
                          <a:latin typeface="Calibri"/>
                        </a:rPr>
                        <a:t>Secrets dans le code</a:t>
                      </a:r>
                    </a:p>
                  </a:txBody>
                  <a:tcPr>
                    <a:solidFill>
                      <a:srgbClr val="FFFFFF"/>
                    </a:solidFill>
                  </a:tcPr>
                </a:tc>
                <a:tc>
                  <a:txBody>
                    <a:bodyPr/>
                    <a:lstStyle/>
                    <a:p>
                      <a:pPr algn="ctr"/>
                      <a:r>
                        <a:rPr sz="1600" b="0" i="0">
                          <a:solidFill>
                            <a:srgbClr val="333333"/>
                          </a:solidFill>
                          <a:latin typeface="Calibri"/>
                        </a:rPr>
                        <a:t>Variables d'environnement (.env non versionné)</a:t>
                      </a:r>
                    </a:p>
                  </a:txBody>
                  <a:tcPr>
                    <a:solidFill>
                      <a:srgbClr val="FFFFFF"/>
                    </a:solidFill>
                  </a:tcPr>
                </a:tc>
              </a:tr>
              <a:tr h="522514">
                <a:tc>
                  <a:txBody>
                    <a:bodyPr/>
                    <a:lstStyle/>
                    <a:p>
                      <a:pPr algn="l"/>
                      <a:r>
                        <a:rPr sz="1600" b="0" i="0">
                          <a:solidFill>
                            <a:srgbClr val="333333"/>
                          </a:solidFill>
                          <a:latin typeface="Calibri"/>
                        </a:rPr>
                        <a:t>Vol de mots de passe</a:t>
                      </a:r>
                    </a:p>
                  </a:txBody>
                  <a:tcPr>
                    <a:solidFill>
                      <a:srgbClr val="F1F3F5"/>
                    </a:solidFill>
                  </a:tcPr>
                </a:tc>
                <a:tc>
                  <a:txBody>
                    <a:bodyPr/>
                    <a:lstStyle/>
                    <a:p>
                      <a:pPr algn="ctr"/>
                      <a:r>
                        <a:rPr sz="1600" b="0" i="0">
                          <a:solidFill>
                            <a:srgbClr val="333333"/>
                          </a:solidFill>
                          <a:latin typeface="Calibri"/>
                        </a:rPr>
                        <a:t>Hachage pbkdf2:sha256 (jamais en clair)</a:t>
                      </a:r>
                    </a:p>
                  </a:txBody>
                  <a:tcPr>
                    <a:solidFill>
                      <a:srgbClr val="F1F3F5"/>
                    </a:solidFill>
                  </a:tcPr>
                </a:tc>
              </a:tr>
              <a:tr h="522514">
                <a:tc>
                  <a:txBody>
                    <a:bodyPr/>
                    <a:lstStyle/>
                    <a:p>
                      <a:pPr algn="l"/>
                      <a:r>
                        <a:rPr sz="1600" b="0" i="0">
                          <a:solidFill>
                            <a:srgbClr val="333333"/>
                          </a:solidFill>
                          <a:latin typeface="Calibri"/>
                        </a:rPr>
                        <a:t>Injection SQL</a:t>
                      </a:r>
                    </a:p>
                  </a:txBody>
                  <a:tcPr>
                    <a:solidFill>
                      <a:srgbClr val="FFFFFF"/>
                    </a:solidFill>
                  </a:tcPr>
                </a:tc>
                <a:tc>
                  <a:txBody>
                    <a:bodyPr/>
                    <a:lstStyle/>
                    <a:p>
                      <a:pPr algn="ctr"/>
                      <a:r>
                        <a:rPr sz="1600" b="0" i="0">
                          <a:solidFill>
                            <a:srgbClr val="333333"/>
                          </a:solidFill>
                          <a:latin typeface="Calibri"/>
                        </a:rPr>
                        <a:t>Requêtes paramétrées systématiques</a:t>
                      </a:r>
                    </a:p>
                  </a:txBody>
                  <a:tcPr>
                    <a:solidFill>
                      <a:srgbClr val="FFFFFF"/>
                    </a:solidFill>
                  </a:tcPr>
                </a:tc>
              </a:tr>
              <a:tr h="522514">
                <a:tc>
                  <a:txBody>
                    <a:bodyPr/>
                    <a:lstStyle/>
                    <a:p>
                      <a:pPr algn="l"/>
                      <a:r>
                        <a:rPr sz="1600" b="0" i="0">
                          <a:solidFill>
                            <a:srgbClr val="333333"/>
                          </a:solidFill>
                          <a:latin typeface="Calibri"/>
                        </a:rPr>
                        <a:t>Écoute des notifications</a:t>
                      </a:r>
                    </a:p>
                  </a:txBody>
                  <a:tcPr>
                    <a:solidFill>
                      <a:srgbClr val="F1F3F5"/>
                    </a:solidFill>
                  </a:tcPr>
                </a:tc>
                <a:tc>
                  <a:txBody>
                    <a:bodyPr/>
                    <a:lstStyle/>
                    <a:p>
                      <a:pPr algn="ctr"/>
                      <a:r>
                        <a:rPr sz="1600" b="0" i="0">
                          <a:solidFill>
                            <a:srgbClr val="333333"/>
                          </a:solidFill>
                          <a:latin typeface="Calibri"/>
                        </a:rPr>
                        <a:t>SMTP STARTTLS + Telegram HTTPS</a:t>
                      </a:r>
                    </a:p>
                  </a:txBody>
                  <a:tcPr>
                    <a:solidFill>
                      <a:srgbClr val="F1F3F5"/>
                    </a:solidFill>
                  </a:tcPr>
                </a:tc>
              </a:tr>
              <a:tr h="522514">
                <a:tc>
                  <a:txBody>
                    <a:bodyPr/>
                    <a:lstStyle/>
                    <a:p>
                      <a:pPr algn="l"/>
                      <a:r>
                        <a:rPr sz="1600" b="0" i="0">
                          <a:solidFill>
                            <a:srgbClr val="333333"/>
                          </a:solidFill>
                          <a:latin typeface="Calibri"/>
                        </a:rPr>
                        <a:t>Accès BDD trop large</a:t>
                      </a:r>
                    </a:p>
                  </a:txBody>
                  <a:tcPr>
                    <a:solidFill>
                      <a:srgbClr val="FFFFFF"/>
                    </a:solidFill>
                  </a:tcPr>
                </a:tc>
                <a:tc>
                  <a:txBody>
                    <a:bodyPr/>
                    <a:lstStyle/>
                    <a:p>
                      <a:pPr algn="ctr"/>
                      <a:r>
                        <a:rPr sz="1600" b="0" i="0">
                          <a:solidFill>
                            <a:srgbClr val="333333"/>
                          </a:solidFill>
                          <a:latin typeface="Calibri"/>
                        </a:rPr>
                        <a:t>Compte applicatif au moindre privilège</a:t>
                      </a:r>
                    </a:p>
                  </a:txBody>
                  <a:tcPr>
                    <a:solidFill>
                      <a:srgbClr val="FFFFFF"/>
                    </a:solidFill>
                  </a:tcPr>
                </a:tc>
              </a:tr>
              <a:tr h="522516">
                <a:tc>
                  <a:txBody>
                    <a:bodyPr/>
                    <a:lstStyle/>
                    <a:p>
                      <a:pPr algn="l"/>
                      <a:r>
                        <a:rPr sz="1600" b="0" i="0">
                          <a:solidFill>
                            <a:srgbClr val="333333"/>
                          </a:solidFill>
                          <a:latin typeface="Calibri"/>
                        </a:rPr>
                        <a:t>Accès non autorisé</a:t>
                      </a:r>
                    </a:p>
                  </a:txBody>
                  <a:tcPr>
                    <a:solidFill>
                      <a:srgbClr val="F1F3F5"/>
                    </a:solidFill>
                  </a:tcPr>
                </a:tc>
                <a:tc>
                  <a:txBody>
                    <a:bodyPr/>
                    <a:lstStyle/>
                    <a:p>
                      <a:pPr algn="ctr"/>
                      <a:r>
                        <a:rPr sz="1600" b="0" i="0">
                          <a:solidFill>
                            <a:srgbClr val="333333"/>
                          </a:solidFill>
                          <a:latin typeface="Calibri"/>
                        </a:rPr>
                        <a:t>Authentification du tableau de bord</a:t>
                      </a:r>
                    </a:p>
                  </a:txBody>
                  <a:tcPr>
                    <a:solidFill>
                      <a:srgbClr val="F1F3F5"/>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548640"/>
            <a:ext cx="12191695"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94360"/>
            <a:ext cx="11247120" cy="822960"/>
          </a:xfrm>
          <a:prstGeom prst="rect">
            <a:avLst/>
          </a:prstGeom>
          <a:noFill/>
        </p:spPr>
        <p:txBody>
          <a:bodyPr wrap="square" anchor="ctr">
            <a:spAutoFit/>
          </a:bodyPr>
          <a:lstStyle/>
          <a:p>
            <a:pPr algn="ctr"/>
            <a:r>
              <a:rPr sz="3000" b="1" i="0">
                <a:solidFill>
                  <a:srgbClr val="FFFFFF"/>
                </a:solidFill>
                <a:latin typeface="Calibri"/>
              </a:rPr>
              <a:t>8.  DÉMONSTRATION — scénario en direct</a:t>
            </a:r>
          </a:p>
        </p:txBody>
      </p:sp>
      <p:sp>
        <p:nvSpPr>
          <p:cNvPr id="4" name="TextBox 3"/>
          <p:cNvSpPr txBox="1"/>
          <p:nvPr/>
        </p:nvSpPr>
        <p:spPr>
          <a:xfrm>
            <a:off x="914400" y="1828800"/>
            <a:ext cx="10332720" cy="3840480"/>
          </a:xfrm>
          <a:prstGeom prst="rect">
            <a:avLst/>
          </a:prstGeom>
          <a:noFill/>
        </p:spPr>
        <p:txBody>
          <a:bodyPr wrap="square">
            <a:spAutoFit/>
          </a:bodyPr>
          <a:lstStyle/>
          <a:p>
            <a:pPr>
              <a:spcAft>
                <a:spcPts val="1200"/>
              </a:spcAft>
            </a:pPr>
            <a:r>
              <a:rPr sz="2000" b="0" i="0">
                <a:solidFill>
                  <a:srgbClr val="FFFFFF"/>
                </a:solidFill>
                <a:latin typeface="Calibri"/>
              </a:rPr>
              <a:t>1.  Tableau de bord — vue temps réel : équipements UP, KPI, graphiques</a:t>
            </a:r>
          </a:p>
          <a:p>
            <a:pPr>
              <a:spcAft>
                <a:spcPts val="1200"/>
              </a:spcAft>
            </a:pPr>
            <a:r>
              <a:rPr sz="2000" b="0" i="0">
                <a:solidFill>
                  <a:srgbClr val="FFFFFF"/>
                </a:solidFill>
                <a:latin typeface="Calibri"/>
              </a:rPr>
              <a:t>2.  Je débranche / éteins un équipement supervisé</a:t>
            </a:r>
          </a:p>
          <a:p>
            <a:pPr>
              <a:spcAft>
                <a:spcPts val="1200"/>
              </a:spcAft>
            </a:pPr>
            <a:r>
              <a:rPr sz="2000" b="0" i="0">
                <a:solidFill>
                  <a:srgbClr val="FFFFFF"/>
                </a:solidFill>
                <a:latin typeface="Calibri"/>
              </a:rPr>
              <a:t>3.  Au cycle suivant → le statut bascule en DOWN (badge rouge)</a:t>
            </a:r>
          </a:p>
          <a:p>
            <a:pPr>
              <a:spcAft>
                <a:spcPts val="1200"/>
              </a:spcAft>
            </a:pPr>
            <a:r>
              <a:rPr sz="2000" b="0" i="0">
                <a:solidFill>
                  <a:srgbClr val="FFFFFF"/>
                </a:solidFill>
                <a:latin typeface="Calibri"/>
              </a:rPr>
              <a:t>4.  L'alerte arrive : e-mail + notification Telegram sur le téléphone</a:t>
            </a:r>
          </a:p>
          <a:p>
            <a:pPr>
              <a:spcAft>
                <a:spcPts val="1200"/>
              </a:spcAft>
            </a:pPr>
            <a:r>
              <a:rPr sz="2000" b="0" i="0">
                <a:solidFill>
                  <a:srgbClr val="FFFFFF"/>
                </a:solidFill>
                <a:latin typeface="Calibri"/>
              </a:rPr>
              <a:t>5.  Je rallume → notification de rétablissement + acquittement auto</a:t>
            </a:r>
          </a:p>
          <a:p>
            <a:pPr>
              <a:spcAft>
                <a:spcPts val="1200"/>
              </a:spcAft>
            </a:pPr>
            <a:r>
              <a:rPr sz="2000" b="0" i="0">
                <a:solidFill>
                  <a:srgbClr val="FFFFFF"/>
                </a:solidFill>
                <a:latin typeface="Calibri"/>
              </a:rPr>
              <a:t>6.  Page Rapports : historique, taux de disponibilité, latences</a:t>
            </a:r>
          </a:p>
        </p:txBody>
      </p:sp>
      <p:sp>
        <p:nvSpPr>
          <p:cNvPr id="5" name="Rectangle 4"/>
          <p:cNvSpPr/>
          <p:nvPr/>
        </p:nvSpPr>
        <p:spPr>
          <a:xfrm>
            <a:off x="640080" y="5852160"/>
            <a:ext cx="109728"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852160"/>
            <a:ext cx="10771632" cy="7315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Plan B : captures d'écran + courte vidéo si la démo live est impossible.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captures clés</a:t>
            </a:r>
          </a:p>
        </p:txBody>
      </p:sp>
      <p:graphicFrame>
        <p:nvGraphicFramePr>
          <p:cNvPr id="5" name="Table 4"/>
          <p:cNvGraphicFramePr>
            <a:graphicFrameLocks noGrp="1"/>
          </p:cNvGraphicFramePr>
          <p:nvPr/>
        </p:nvGraphicFramePr>
        <p:xfrm>
          <a:off x="640080" y="1371600"/>
          <a:ext cx="10881360" cy="3474720"/>
        </p:xfrm>
        <a:graphic>
          <a:graphicData uri="http://schemas.openxmlformats.org/drawingml/2006/table">
            <a:tbl>
              <a:tblPr firstRow="1" bandRow="1">
                <a:tableStyleId>{5C22544A-7EE6-4342-B048-85BDC9FD1C3A}</a:tableStyleId>
              </a:tblPr>
              <a:tblGrid>
                <a:gridCol w="5440680"/>
                <a:gridCol w="5440680"/>
              </a:tblGrid>
              <a:tr h="496388">
                <a:tc>
                  <a:txBody>
                    <a:bodyPr/>
                    <a:lstStyle/>
                    <a:p>
                      <a:pPr algn="ctr"/>
                      <a:r>
                        <a:rPr sz="1600" b="1" i="0">
                          <a:solidFill>
                            <a:srgbClr val="FFFFFF"/>
                          </a:solidFill>
                          <a:latin typeface="Calibri"/>
                        </a:rPr>
                        <a:t>Écran</a:t>
                      </a:r>
                    </a:p>
                  </a:txBody>
                  <a:tcPr>
                    <a:solidFill>
                      <a:srgbClr val="0D3B66"/>
                    </a:solidFill>
                  </a:tcPr>
                </a:tc>
                <a:tc>
                  <a:txBody>
                    <a:bodyPr/>
                    <a:lstStyle/>
                    <a:p>
                      <a:pPr algn="ctr"/>
                      <a:r>
                        <a:rPr sz="1600" b="1" i="0">
                          <a:solidFill>
                            <a:srgbClr val="FFFFFF"/>
                          </a:solidFill>
                          <a:latin typeface="Calibri"/>
                        </a:rPr>
                        <a:t>Ce qu'il prouve</a:t>
                      </a:r>
                    </a:p>
                  </a:txBody>
                  <a:tcPr>
                    <a:solidFill>
                      <a:srgbClr val="0D3B66"/>
                    </a:solidFill>
                  </a:tcPr>
                </a:tc>
              </a:tr>
              <a:tr h="496388">
                <a:tc>
                  <a:txBody>
                    <a:bodyPr/>
                    <a:lstStyle/>
                    <a:p>
                      <a:pPr algn="l"/>
                      <a:r>
                        <a:rPr sz="1600" b="0" i="0">
                          <a:solidFill>
                            <a:srgbClr val="333333"/>
                          </a:solidFill>
                          <a:latin typeface="Calibri"/>
                        </a:rPr>
                        <a:t>Connexion</a:t>
                      </a:r>
                    </a:p>
                  </a:txBody>
                  <a:tcPr>
                    <a:solidFill>
                      <a:srgbClr val="FFFFFF"/>
                    </a:solidFill>
                  </a:tcPr>
                </a:tc>
                <a:tc>
                  <a:txBody>
                    <a:bodyPr/>
                    <a:lstStyle/>
                    <a:p>
                      <a:pPr algn="ctr"/>
                      <a:r>
                        <a:rPr sz="1600" b="0" i="0">
                          <a:solidFill>
                            <a:srgbClr val="333333"/>
                          </a:solidFill>
                          <a:latin typeface="Calibri"/>
                        </a:rPr>
                        <a:t>Accès sécurisé</a:t>
                      </a:r>
                    </a:p>
                  </a:txBody>
                  <a:tcPr>
                    <a:solidFill>
                      <a:srgbClr val="FFFFFF"/>
                    </a:solidFill>
                  </a:tcPr>
                </a:tc>
              </a:tr>
              <a:tr h="496388">
                <a:tc>
                  <a:txBody>
                    <a:bodyPr/>
                    <a:lstStyle/>
                    <a:p>
                      <a:pPr algn="l"/>
                      <a:r>
                        <a:rPr sz="1600" b="0" i="0">
                          <a:solidFill>
                            <a:srgbClr val="333333"/>
                          </a:solidFill>
                          <a:latin typeface="Calibri"/>
                        </a:rPr>
                        <a:t>Tableau de bord</a:t>
                      </a:r>
                    </a:p>
                  </a:txBody>
                  <a:tcPr>
                    <a:solidFill>
                      <a:srgbClr val="F1F3F5"/>
                    </a:solidFill>
                  </a:tcPr>
                </a:tc>
                <a:tc>
                  <a:txBody>
                    <a:bodyPr/>
                    <a:lstStyle/>
                    <a:p>
                      <a:pPr algn="ctr"/>
                      <a:r>
                        <a:rPr sz="1600" b="0" i="0">
                          <a:solidFill>
                            <a:srgbClr val="333333"/>
                          </a:solidFill>
                          <a:latin typeface="Calibri"/>
                        </a:rPr>
                        <a:t>Supervision temps réel, KPI, anneau de disponibilité</a:t>
                      </a:r>
                    </a:p>
                  </a:txBody>
                  <a:tcPr>
                    <a:solidFill>
                      <a:srgbClr val="F1F3F5"/>
                    </a:solidFill>
                  </a:tcPr>
                </a:tc>
              </a:tr>
              <a:tr h="496388">
                <a:tc>
                  <a:txBody>
                    <a:bodyPr/>
                    <a:lstStyle/>
                    <a:p>
                      <a:pPr algn="l"/>
                      <a:r>
                        <a:rPr sz="1600" b="0" i="0">
                          <a:solidFill>
                            <a:srgbClr val="333333"/>
                          </a:solidFill>
                          <a:latin typeface="Calibri"/>
                        </a:rPr>
                        <a:t>Équipements</a:t>
                      </a:r>
                    </a:p>
                  </a:txBody>
                  <a:tcPr>
                    <a:solidFill>
                      <a:srgbClr val="FFFFFF"/>
                    </a:solidFill>
                  </a:tcPr>
                </a:tc>
                <a:tc>
                  <a:txBody>
                    <a:bodyPr/>
                    <a:lstStyle/>
                    <a:p>
                      <a:pPr algn="ctr"/>
                      <a:r>
                        <a:rPr sz="1600" b="0" i="0">
                          <a:solidFill>
                            <a:srgbClr val="333333"/>
                          </a:solidFill>
                          <a:latin typeface="Calibri"/>
                        </a:rPr>
                        <a:t>Inventaire + découverte automatique</a:t>
                      </a:r>
                    </a:p>
                  </a:txBody>
                  <a:tcPr>
                    <a:solidFill>
                      <a:srgbClr val="FFFFFF"/>
                    </a:solidFill>
                  </a:tcPr>
                </a:tc>
              </a:tr>
              <a:tr h="496388">
                <a:tc>
                  <a:txBody>
                    <a:bodyPr/>
                    <a:lstStyle/>
                    <a:p>
                      <a:pPr algn="l"/>
                      <a:r>
                        <a:rPr sz="1600" b="0" i="0">
                          <a:solidFill>
                            <a:srgbClr val="333333"/>
                          </a:solidFill>
                          <a:latin typeface="Calibri"/>
                        </a:rPr>
                        <a:t>Alertes</a:t>
                      </a:r>
                    </a:p>
                  </a:txBody>
                  <a:tcPr>
                    <a:solidFill>
                      <a:srgbClr val="F1F3F5"/>
                    </a:solidFill>
                  </a:tcPr>
                </a:tc>
                <a:tc>
                  <a:txBody>
                    <a:bodyPr/>
                    <a:lstStyle/>
                    <a:p>
                      <a:pPr algn="ctr"/>
                      <a:r>
                        <a:rPr sz="1600" b="0" i="0">
                          <a:solidFill>
                            <a:srgbClr val="333333"/>
                          </a:solidFill>
                          <a:latin typeface="Calibri"/>
                        </a:rPr>
                        <a:t>Historique + acquittement</a:t>
                      </a:r>
                    </a:p>
                  </a:txBody>
                  <a:tcPr>
                    <a:solidFill>
                      <a:srgbClr val="F1F3F5"/>
                    </a:solidFill>
                  </a:tcPr>
                </a:tc>
              </a:tr>
              <a:tr h="496388">
                <a:tc>
                  <a:txBody>
                    <a:bodyPr/>
                    <a:lstStyle/>
                    <a:p>
                      <a:pPr algn="l"/>
                      <a:r>
                        <a:rPr sz="1600" b="0" i="0">
                          <a:solidFill>
                            <a:srgbClr val="333333"/>
                          </a:solidFill>
                          <a:latin typeface="Calibri"/>
                        </a:rPr>
                        <a:t>Notification Telegram</a:t>
                      </a:r>
                    </a:p>
                  </a:txBody>
                  <a:tcPr>
                    <a:solidFill>
                      <a:srgbClr val="FFFFFF"/>
                    </a:solidFill>
                  </a:tcPr>
                </a:tc>
                <a:tc>
                  <a:txBody>
                    <a:bodyPr/>
                    <a:lstStyle/>
                    <a:p>
                      <a:pPr algn="ctr"/>
                      <a:r>
                        <a:rPr sz="1600" b="0" i="0">
                          <a:solidFill>
                            <a:srgbClr val="333333"/>
                          </a:solidFill>
                          <a:latin typeface="Calibri"/>
                        </a:rPr>
                        <a:t>Alerte push reçue sur smartphone</a:t>
                      </a:r>
                    </a:p>
                  </a:txBody>
                  <a:tcPr>
                    <a:solidFill>
                      <a:srgbClr val="FFFFFF"/>
                    </a:solidFill>
                  </a:tcPr>
                </a:tc>
              </a:tr>
              <a:tr h="496392">
                <a:tc>
                  <a:txBody>
                    <a:bodyPr/>
                    <a:lstStyle/>
                    <a:p>
                      <a:pPr algn="l"/>
                      <a:r>
                        <a:rPr sz="1600" b="0" i="0">
                          <a:solidFill>
                            <a:srgbClr val="333333"/>
                          </a:solidFill>
                          <a:latin typeface="Calibri"/>
                        </a:rPr>
                        <a:t>Rapports</a:t>
                      </a:r>
                    </a:p>
                  </a:txBody>
                  <a:tcPr>
                    <a:solidFill>
                      <a:srgbClr val="F1F3F5"/>
                    </a:solidFill>
                  </a:tcPr>
                </a:tc>
                <a:tc>
                  <a:txBody>
                    <a:bodyPr/>
                    <a:lstStyle/>
                    <a:p>
                      <a:pPr algn="ctr"/>
                      <a:r>
                        <a:rPr sz="1600" b="0" i="0">
                          <a:solidFill>
                            <a:srgbClr val="333333"/>
                          </a:solidFill>
                          <a:latin typeface="Calibri"/>
                        </a:rPr>
                        <a:t>Statistiques &amp; graphiques exportables</a:t>
                      </a:r>
                    </a:p>
                  </a:txBody>
                  <a:tcPr>
                    <a:solidFill>
                      <a:srgbClr val="F1F3F5"/>
                    </a:solidFill>
                  </a:tcPr>
                </a:tc>
              </a:tr>
            </a:tbl>
          </a:graphicData>
        </a:graphic>
      </p:graphicFrame>
      <p:sp>
        <p:nvSpPr>
          <p:cNvPr id="6" name="Rectangle 5"/>
          <p:cNvSpPr/>
          <p:nvPr/>
        </p:nvSpPr>
        <p:spPr>
          <a:xfrm>
            <a:off x="640080" y="5212080"/>
            <a:ext cx="109728" cy="82296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82296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À insérer : les captures d'écran réelles de l'application déployée.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Marketing, vente et concurrence</a:t>
            </a:r>
          </a:p>
        </p:txBody>
      </p:sp>
      <p:sp>
        <p:nvSpPr>
          <p:cNvPr id="5" name="TextBox 4"/>
          <p:cNvSpPr txBox="1"/>
          <p:nvPr/>
        </p:nvSpPr>
        <p:spPr>
          <a:xfrm>
            <a:off x="640080" y="1371600"/>
            <a:ext cx="10881360" cy="4572000"/>
          </a:xfrm>
          <a:prstGeom prst="rect">
            <a:avLst/>
          </a:prstGeom>
          <a:noFill/>
        </p:spPr>
        <p:txBody>
          <a:bodyPr wrap="square">
            <a:spAutoFit/>
          </a:bodyPr>
          <a:lstStyle/>
          <a:p>
            <a:pPr>
              <a:spcAft>
                <a:spcPts val="800"/>
              </a:spcAft>
            </a:pPr>
            <a:r>
              <a:rPr sz="1800" b="0" i="0">
                <a:solidFill>
                  <a:srgbClr val="333333"/>
                </a:solidFill>
                <a:latin typeface="Calibri"/>
              </a:rPr>
              <a:t>•  Cible : PME, écoles, administrations, cybercafés, hébergeurs, MSP (infogérants).</a:t>
            </a:r>
          </a:p>
          <a:p>
            <a:pPr>
              <a:spcAft>
                <a:spcPts val="800"/>
              </a:spcAft>
            </a:pPr>
            <a:r>
              <a:rPr sz="1800" b="0" i="0">
                <a:solidFill>
                  <a:srgbClr val="333333"/>
                </a:solidFill>
                <a:latin typeface="Calibri"/>
              </a:rPr>
              <a:t/>
            </a:r>
          </a:p>
          <a:p>
            <a:pPr>
              <a:spcAft>
                <a:spcPts val="800"/>
              </a:spcAft>
            </a:pPr>
            <a:r>
              <a:rPr sz="1800" b="1" i="0">
                <a:solidFill>
                  <a:srgbClr val="0D3B66"/>
                </a:solidFill>
                <a:latin typeface="Calibri"/>
              </a:rPr>
              <a:t>•  Proposition de valeur :</a:t>
            </a:r>
          </a:p>
          <a:p>
            <a:pPr lvl="1">
              <a:spcAft>
                <a:spcPts val="800"/>
              </a:spcAft>
            </a:pPr>
            <a:r>
              <a:rPr sz="1600" b="0" i="0">
                <a:solidFill>
                  <a:srgbClr val="0D6EFD"/>
                </a:solidFill>
                <a:latin typeface="Calibri"/>
              </a:rPr>
              <a:t>–  « Supervisez votre réseau et soyez alerté sur votre téléphone en cas de panne — sans licence, sans complexité. »</a:t>
            </a:r>
          </a:p>
          <a:p>
            <a:pPr>
              <a:spcAft>
                <a:spcPts val="800"/>
              </a:spcAft>
            </a:pPr>
            <a:r>
              <a:rPr sz="1800" b="0" i="0">
                <a:solidFill>
                  <a:srgbClr val="333333"/>
                </a:solidFill>
                <a:latin typeface="Calibri"/>
              </a:rPr>
              <a:t/>
            </a:r>
          </a:p>
          <a:p>
            <a:pPr>
              <a:spcAft>
                <a:spcPts val="800"/>
              </a:spcAft>
            </a:pPr>
            <a:r>
              <a:rPr sz="1800" b="1" i="0">
                <a:solidFill>
                  <a:srgbClr val="0D3B66"/>
                </a:solidFill>
                <a:latin typeface="Calibri"/>
              </a:rPr>
              <a:t>•  Modèle économique (open-core) :</a:t>
            </a:r>
          </a:p>
          <a:p>
            <a:pPr lvl="1">
              <a:spcAft>
                <a:spcPts val="800"/>
              </a:spcAft>
            </a:pPr>
            <a:r>
              <a:rPr sz="1600" b="0" i="0">
                <a:solidFill>
                  <a:srgbClr val="333333"/>
                </a:solidFill>
                <a:latin typeface="Calibri"/>
              </a:rPr>
              <a:t>–  Cœur open-source gratuit (adoption &amp; confiance)</a:t>
            </a:r>
          </a:p>
          <a:p>
            <a:pPr lvl="1">
              <a:spcAft>
                <a:spcPts val="800"/>
              </a:spcAft>
            </a:pPr>
            <a:r>
              <a:rPr sz="1600" b="0" i="0">
                <a:solidFill>
                  <a:srgbClr val="333333"/>
                </a:solidFill>
                <a:latin typeface="Calibri"/>
              </a:rPr>
              <a:t>–  Services : installation, formation, support (abonnement)</a:t>
            </a:r>
          </a:p>
          <a:p>
            <a:pPr lvl="1">
              <a:spcAft>
                <a:spcPts val="800"/>
              </a:spcAft>
            </a:pPr>
            <a:r>
              <a:rPr sz="1600" b="0" i="0">
                <a:solidFill>
                  <a:srgbClr val="333333"/>
                </a:solidFill>
                <a:latin typeface="Calibri"/>
              </a:rPr>
              <a:t>–  Édition Pro : SNMP, multi-sites, IA prédictive, rapports avancés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Positionnement concurrentiel</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Critère</a:t>
                      </a:r>
                    </a:p>
                  </a:txBody>
                  <a:tcPr>
                    <a:solidFill>
                      <a:srgbClr val="0D3B66"/>
                    </a:solidFill>
                  </a:tcPr>
                </a:tc>
                <a:tc>
                  <a:txBody>
                    <a:bodyPr/>
                    <a:lstStyle/>
                    <a:p>
                      <a:pPr algn="ctr"/>
                      <a:r>
                        <a:rPr sz="1500" b="1" i="0">
                          <a:solidFill>
                            <a:srgbClr val="FFFFFF"/>
                          </a:solidFill>
                          <a:latin typeface="Calibri"/>
                        </a:rPr>
                        <a:t>Nagios/Zabbix</a:t>
                      </a:r>
                    </a:p>
                  </a:txBody>
                  <a:tcPr>
                    <a:solidFill>
                      <a:srgbClr val="0D3B66"/>
                    </a:solidFill>
                  </a:tcPr>
                </a:tc>
                <a:tc>
                  <a:txBody>
                    <a:bodyPr/>
                    <a:lstStyle/>
                    <a:p>
                      <a:pPr algn="ctr"/>
                      <a:r>
                        <a:rPr sz="1500" b="1" i="0">
                          <a:solidFill>
                            <a:srgbClr val="FFFFFF"/>
                          </a:solidFill>
                          <a:latin typeface="Calibri"/>
                        </a:rPr>
                        <a:t>PRTG/SolarWinds</a:t>
                      </a:r>
                    </a:p>
                  </a:txBody>
                  <a:tcPr>
                    <a:solidFill>
                      <a:srgbClr val="0D3B66"/>
                    </a:solidFill>
                  </a:tcPr>
                </a:tc>
                <a:tc>
                  <a:txBody>
                    <a:bodyPr/>
                    <a:lstStyle/>
                    <a:p>
                      <a:pPr algn="ctr"/>
                      <a:r>
                        <a:rPr sz="1500" b="1" i="0">
                          <a:solidFill>
                            <a:srgbClr val="FFFFFF"/>
                          </a:solidFill>
                          <a:latin typeface="Calibri"/>
                        </a:rPr>
                        <a:t>Notre solution</a:t>
                      </a:r>
                    </a:p>
                  </a:txBody>
                  <a:tcPr>
                    <a:solidFill>
                      <a:srgbClr val="0D3B66"/>
                    </a:solidFill>
                  </a:tcPr>
                </a:tc>
              </a:tr>
              <a:tr h="518160">
                <a:tc>
                  <a:txBody>
                    <a:bodyPr/>
                    <a:lstStyle/>
                    <a:p>
                      <a:pPr algn="l"/>
                      <a:r>
                        <a:rPr sz="1500" b="0" i="0">
                          <a:solidFill>
                            <a:srgbClr val="333333"/>
                          </a:solidFill>
                          <a:latin typeface="Calibri"/>
                        </a:rPr>
                        <a:t>Prix</a:t>
                      </a:r>
                    </a:p>
                  </a:txBody>
                  <a:tcPr>
                    <a:solidFill>
                      <a:srgbClr val="FFFFFF"/>
                    </a:solidFill>
                  </a:tcPr>
                </a:tc>
                <a:tc>
                  <a:txBody>
                    <a:bodyPr/>
                    <a:lstStyle/>
                    <a:p>
                      <a:pPr algn="ctr"/>
                      <a:r>
                        <a:rPr sz="1500" b="0" i="0">
                          <a:solidFill>
                            <a:srgbClr val="333333"/>
                          </a:solidFill>
                          <a:latin typeface="Calibri"/>
                        </a:rPr>
                        <a:t>Gratuit mais coûteux</a:t>
                      </a:r>
                    </a:p>
                  </a:txBody>
                  <a:tcPr>
                    <a:solidFill>
                      <a:srgbClr val="FFFFFF"/>
                    </a:solidFill>
                  </a:tcPr>
                </a:tc>
                <a:tc>
                  <a:txBody>
                    <a:bodyPr/>
                    <a:lstStyle/>
                    <a:p>
                      <a:pPr algn="ctr"/>
                      <a:r>
                        <a:rPr sz="1500" b="0" i="0">
                          <a:solidFill>
                            <a:srgbClr val="333333"/>
                          </a:solidFill>
                          <a:latin typeface="Calibri"/>
                        </a:rPr>
                        <a:t>€€€</a:t>
                      </a:r>
                    </a:p>
                  </a:txBody>
                  <a:tcPr>
                    <a:solidFill>
                      <a:srgbClr val="FFFFFF"/>
                    </a:solidFill>
                  </a:tcPr>
                </a:tc>
                <a:tc>
                  <a:txBody>
                    <a:bodyPr/>
                    <a:lstStyle/>
                    <a:p>
                      <a:pPr algn="ctr"/>
                      <a:r>
                        <a:rPr sz="1500" b="1" i="0">
                          <a:solidFill>
                            <a:srgbClr val="198754"/>
                          </a:solidFill>
                          <a:latin typeface="Calibri"/>
                        </a:rPr>
                        <a:t>Gratuit + services</a:t>
                      </a:r>
                    </a:p>
                  </a:txBody>
                  <a:tcPr>
                    <a:solidFill>
                      <a:srgbClr val="FFFFFF"/>
                    </a:solidFill>
                  </a:tcPr>
                </a:tc>
              </a:tr>
              <a:tr h="518160">
                <a:tc>
                  <a:txBody>
                    <a:bodyPr/>
                    <a:lstStyle/>
                    <a:p>
                      <a:pPr algn="l"/>
                      <a:r>
                        <a:rPr sz="1500" b="0" i="0">
                          <a:solidFill>
                            <a:srgbClr val="333333"/>
                          </a:solidFill>
                          <a:latin typeface="Calibri"/>
                        </a:rPr>
                        <a:t>Simplicité</a:t>
                      </a:r>
                    </a:p>
                  </a:txBody>
                  <a:tcPr>
                    <a:solidFill>
                      <a:srgbClr val="F1F3F5"/>
                    </a:solidFill>
                  </a:tcPr>
                </a:tc>
                <a:tc>
                  <a:txBody>
                    <a:bodyPr/>
                    <a:lstStyle/>
                    <a:p>
                      <a:pPr algn="ctr"/>
                      <a:r>
                        <a:rPr sz="1500" b="0" i="0">
                          <a:solidFill>
                            <a:srgbClr val="333333"/>
                          </a:solidFill>
                          <a:latin typeface="Calibri"/>
                        </a:rPr>
                        <a:t>Faible</a:t>
                      </a:r>
                    </a:p>
                  </a:txBody>
                  <a:tcPr>
                    <a:solidFill>
                      <a:srgbClr val="F1F3F5"/>
                    </a:solidFill>
                  </a:tcPr>
                </a:tc>
                <a:tc>
                  <a:txBody>
                    <a:bodyPr/>
                    <a:lstStyle/>
                    <a:p>
                      <a:pPr algn="ctr"/>
                      <a:r>
                        <a:rPr sz="1500" b="0" i="0">
                          <a:solidFill>
                            <a:srgbClr val="333333"/>
                          </a:solidFill>
                          <a:latin typeface="Calibri"/>
                        </a:rPr>
                        <a:t>Élevée</a:t>
                      </a:r>
                    </a:p>
                  </a:txBody>
                  <a:tcPr>
                    <a:solidFill>
                      <a:srgbClr val="F1F3F5"/>
                    </a:solidFill>
                  </a:tcPr>
                </a:tc>
                <a:tc>
                  <a:txBody>
                    <a:bodyPr/>
                    <a:lstStyle/>
                    <a:p>
                      <a:pPr algn="ctr"/>
                      <a:r>
                        <a:rPr sz="1500" b="1" i="0">
                          <a:solidFill>
                            <a:srgbClr val="198754"/>
                          </a:solidFill>
                          <a:latin typeface="Calibri"/>
                        </a:rPr>
                        <a:t>Élevée</a:t>
                      </a:r>
                    </a:p>
                  </a:txBody>
                  <a:tcPr>
                    <a:solidFill>
                      <a:srgbClr val="F1F3F5"/>
                    </a:solidFill>
                  </a:tcPr>
                </a:tc>
              </a:tr>
              <a:tr h="518160">
                <a:tc>
                  <a:txBody>
                    <a:bodyPr/>
                    <a:lstStyle/>
                    <a:p>
                      <a:pPr algn="l"/>
                      <a:r>
                        <a:rPr sz="1500" b="0" i="0">
                          <a:solidFill>
                            <a:srgbClr val="333333"/>
                          </a:solidFill>
                          <a:latin typeface="Calibri"/>
                        </a:rPr>
                        <a:t>Légèreté</a:t>
                      </a:r>
                    </a:p>
                  </a:txBody>
                  <a:tcPr>
                    <a:solidFill>
                      <a:srgbClr val="FFFFFF"/>
                    </a:solidFill>
                  </a:tcPr>
                </a:tc>
                <a:tc>
                  <a:txBody>
                    <a:bodyPr/>
                    <a:lstStyle/>
                    <a:p>
                      <a:pPr algn="ctr"/>
                      <a:r>
                        <a:rPr sz="1500" b="0" i="0">
                          <a:solidFill>
                            <a:srgbClr val="333333"/>
                          </a:solidFill>
                          <a:latin typeface="Calibri"/>
                        </a:rPr>
                        <a:t>Moyenne/Faible</a:t>
                      </a:r>
                    </a:p>
                  </a:txBody>
                  <a:tcPr>
                    <a:solidFill>
                      <a:srgbClr val="FFFFFF"/>
                    </a:solidFill>
                  </a:tcPr>
                </a:tc>
                <a:tc>
                  <a:txBody>
                    <a:bodyPr/>
                    <a:lstStyle/>
                    <a:p>
                      <a:pPr algn="ctr"/>
                      <a:r>
                        <a:rPr sz="1500" b="0" i="0">
                          <a:solidFill>
                            <a:srgbClr val="333333"/>
                          </a:solidFill>
                          <a:latin typeface="Calibri"/>
                        </a:rPr>
                        <a:t>Faible</a:t>
                      </a:r>
                    </a:p>
                  </a:txBody>
                  <a:tcPr>
                    <a:solidFill>
                      <a:srgbClr val="FFFFFF"/>
                    </a:solidFill>
                  </a:tcPr>
                </a:tc>
                <a:tc>
                  <a:txBody>
                    <a:bodyPr/>
                    <a:lstStyle/>
                    <a:p>
                      <a:pPr algn="ctr"/>
                      <a:r>
                        <a:rPr sz="1500" b="1" i="0">
                          <a:solidFill>
                            <a:srgbClr val="198754"/>
                          </a:solidFill>
                          <a:latin typeface="Calibri"/>
                        </a:rPr>
                        <a:t>Très élevée</a:t>
                      </a:r>
                    </a:p>
                  </a:txBody>
                  <a:tcPr>
                    <a:solidFill>
                      <a:srgbClr val="FFFFFF"/>
                    </a:solidFill>
                  </a:tcPr>
                </a:tc>
              </a:tr>
              <a:tr h="518160">
                <a:tc>
                  <a:txBody>
                    <a:bodyPr/>
                    <a:lstStyle/>
                    <a:p>
                      <a:pPr algn="l"/>
                      <a:r>
                        <a:rPr sz="1500" b="0" i="0">
                          <a:solidFill>
                            <a:srgbClr val="333333"/>
                          </a:solidFill>
                          <a:latin typeface="Calibri"/>
                        </a:rPr>
                        <a:t>Alerte mobile native</a:t>
                      </a:r>
                    </a:p>
                  </a:txBody>
                  <a:tcPr>
                    <a:solidFill>
                      <a:srgbClr val="F1F3F5"/>
                    </a:solidFill>
                  </a:tcPr>
                </a:tc>
                <a:tc>
                  <a:txBody>
                    <a:bodyPr/>
                    <a:lstStyle/>
                    <a:p>
                      <a:pPr algn="ctr"/>
                      <a:r>
                        <a:rPr sz="1500" b="0" i="0">
                          <a:solidFill>
                            <a:srgbClr val="333333"/>
                          </a:solidFill>
                          <a:latin typeface="Calibri"/>
                        </a:rPr>
                        <a:t>Plugin</a:t>
                      </a:r>
                    </a:p>
                  </a:txBody>
                  <a:tcPr>
                    <a:solidFill>
                      <a:srgbClr val="F1F3F5"/>
                    </a:solidFill>
                  </a:tcPr>
                </a:tc>
                <a:tc>
                  <a:txBody>
                    <a:bodyPr/>
                    <a:lstStyle/>
                    <a:p>
                      <a:pPr algn="ctr"/>
                      <a:r>
                        <a:rPr sz="1500" b="0" i="0">
                          <a:solidFill>
                            <a:srgbClr val="333333"/>
                          </a:solidFill>
                          <a:latin typeface="Calibri"/>
                        </a:rPr>
                        <a:t>Appli</a:t>
                      </a:r>
                    </a:p>
                  </a:txBody>
                  <a:tcPr>
                    <a:solidFill>
                      <a:srgbClr val="F1F3F5"/>
                    </a:solidFill>
                  </a:tcPr>
                </a:tc>
                <a:tc>
                  <a:txBody>
                    <a:bodyPr/>
                    <a:lstStyle/>
                    <a:p>
                      <a:pPr algn="ctr"/>
                      <a:r>
                        <a:rPr sz="1500" b="1" i="0">
                          <a:solidFill>
                            <a:srgbClr val="198754"/>
                          </a:solidFill>
                          <a:latin typeface="Calibri"/>
                        </a:rPr>
                        <a:t>Telegram natif</a:t>
                      </a:r>
                    </a:p>
                  </a:txBody>
                  <a:tcPr>
                    <a:solidFill>
                      <a:srgbClr val="F1F3F5"/>
                    </a:solidFill>
                  </a:tcPr>
                </a:tc>
              </a:tr>
              <a:tr h="518160">
                <a:tc>
                  <a:txBody>
                    <a:bodyPr/>
                    <a:lstStyle/>
                    <a:p>
                      <a:pPr algn="l"/>
                      <a:r>
                        <a:rPr sz="1500" b="0" i="0">
                          <a:solidFill>
                            <a:srgbClr val="333333"/>
                          </a:solidFill>
                          <a:latin typeface="Calibri"/>
                        </a:rPr>
                        <a:t>Sur-mesure / ouvert</a:t>
                      </a:r>
                    </a:p>
                  </a:txBody>
                  <a:tcPr>
                    <a:solidFill>
                      <a:srgbClr val="FFFFFF"/>
                    </a:solidFill>
                  </a:tcPr>
                </a:tc>
                <a:tc>
                  <a:txBody>
                    <a:bodyPr/>
                    <a:lstStyle/>
                    <a:p>
                      <a:pPr algn="ctr"/>
                      <a:r>
                        <a:rPr sz="1500" b="0" i="0">
                          <a:solidFill>
                            <a:srgbClr val="333333"/>
                          </a:solidFill>
                          <a:latin typeface="Calibri"/>
                        </a:rPr>
                        <a:t>Limité</a:t>
                      </a:r>
                    </a:p>
                  </a:txBody>
                  <a:tcPr>
                    <a:solidFill>
                      <a:srgbClr val="FFFFFF"/>
                    </a:solidFill>
                  </a:tcPr>
                </a:tc>
                <a:tc>
                  <a:txBody>
                    <a:bodyPr/>
                    <a:lstStyle/>
                    <a:p>
                      <a:pPr algn="ctr"/>
                      <a:r>
                        <a:rPr sz="1500" b="0" i="0">
                          <a:solidFill>
                            <a:srgbClr val="333333"/>
                          </a:solidFill>
                          <a:latin typeface="Calibri"/>
                        </a:rPr>
                        <a:t>Non</a:t>
                      </a:r>
                    </a:p>
                  </a:txBody>
                  <a:tcPr>
                    <a:solidFill>
                      <a:srgbClr val="FFFFFF"/>
                    </a:solidFill>
                  </a:tcPr>
                </a:tc>
                <a:tc>
                  <a:txBody>
                    <a:bodyPr/>
                    <a:lstStyle/>
                    <a:p>
                      <a:pPr algn="ctr"/>
                      <a:r>
                        <a:rPr sz="1500" b="1" i="0">
                          <a:solidFill>
                            <a:srgbClr val="198754"/>
                          </a:solidFill>
                          <a:latin typeface="Calibri"/>
                        </a:rPr>
                        <a:t>Total</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Stratégie : ne pas affronter les géants sur le haut de gamme, mais dominer le segment délaissé des petites structures (« océan bleu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10</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Prévisions financières</a:t>
            </a:r>
          </a:p>
        </p:txBody>
      </p:sp>
      <p:sp>
        <p:nvSpPr>
          <p:cNvPr id="5" name="TextBox 4"/>
          <p:cNvSpPr txBox="1"/>
          <p:nvPr/>
        </p:nvSpPr>
        <p:spPr>
          <a:xfrm>
            <a:off x="640080" y="1234440"/>
            <a:ext cx="5394960" cy="457200"/>
          </a:xfrm>
          <a:prstGeom prst="rect">
            <a:avLst/>
          </a:prstGeom>
          <a:noFill/>
        </p:spPr>
        <p:txBody>
          <a:bodyPr wrap="square">
            <a:spAutoFit/>
          </a:bodyPr>
          <a:lstStyle/>
          <a:p>
            <a:r>
              <a:rPr sz="1700" b="1" i="0">
                <a:solidFill>
                  <a:srgbClr val="0D3B66"/>
                </a:solidFill>
                <a:latin typeface="Calibri"/>
              </a:rPr>
              <a:t>Coûts de mise en place</a:t>
            </a:r>
          </a:p>
        </p:txBody>
      </p:sp>
      <p:graphicFrame>
        <p:nvGraphicFramePr>
          <p:cNvPr id="6" name="Table 5"/>
          <p:cNvGraphicFramePr>
            <a:graphicFrameLocks noGrp="1"/>
          </p:cNvGraphicFramePr>
          <p:nvPr/>
        </p:nvGraphicFramePr>
        <p:xfrm>
          <a:off x="640080" y="1737360"/>
          <a:ext cx="5394960" cy="2377440"/>
        </p:xfrm>
        <a:graphic>
          <a:graphicData uri="http://schemas.openxmlformats.org/drawingml/2006/table">
            <a:tbl>
              <a:tblPr firstRow="1" bandRow="1">
                <a:tableStyleId>{5C22544A-7EE6-4342-B048-85BDC9FD1C3A}</a:tableStyleId>
              </a:tblPr>
              <a:tblGrid>
                <a:gridCol w="2697480"/>
                <a:gridCol w="2697480"/>
              </a:tblGrid>
              <a:tr h="475488">
                <a:tc>
                  <a:txBody>
                    <a:bodyPr/>
                    <a:lstStyle/>
                    <a:p>
                      <a:pPr algn="ctr"/>
                      <a:r>
                        <a:rPr sz="1500" b="1" i="0">
                          <a:solidFill>
                            <a:srgbClr val="FFFFFF"/>
                          </a:solidFill>
                          <a:latin typeface="Calibri"/>
                        </a:rPr>
                        <a:t>Poste</a:t>
                      </a:r>
                    </a:p>
                  </a:txBody>
                  <a:tcPr>
                    <a:solidFill>
                      <a:srgbClr val="0D3B66"/>
                    </a:solidFill>
                  </a:tcPr>
                </a:tc>
                <a:tc>
                  <a:txBody>
                    <a:bodyPr/>
                    <a:lstStyle/>
                    <a:p>
                      <a:pPr algn="ctr"/>
                      <a:r>
                        <a:rPr sz="1500" b="1" i="0">
                          <a:solidFill>
                            <a:srgbClr val="FFFFFF"/>
                          </a:solidFill>
                          <a:latin typeface="Calibri"/>
                        </a:rPr>
                        <a:t>Coût</a:t>
                      </a:r>
                    </a:p>
                  </a:txBody>
                  <a:tcPr>
                    <a:solidFill>
                      <a:srgbClr val="0D3B66"/>
                    </a:solidFill>
                  </a:tcPr>
                </a:tc>
              </a:tr>
              <a:tr h="475488">
                <a:tc>
                  <a:txBody>
                    <a:bodyPr/>
                    <a:lstStyle/>
                    <a:p>
                      <a:pPr algn="l"/>
                      <a:r>
                        <a:rPr sz="1500" b="0" i="0">
                          <a:solidFill>
                            <a:srgbClr val="333333"/>
                          </a:solidFill>
                          <a:latin typeface="Calibri"/>
                        </a:rPr>
                        <a:t>Licences logicielles</a:t>
                      </a:r>
                    </a:p>
                  </a:txBody>
                  <a:tcPr>
                    <a:solidFill>
                      <a:srgbClr val="FFFFFF"/>
                    </a:solidFill>
                  </a:tcPr>
                </a:tc>
                <a:tc>
                  <a:txBody>
                    <a:bodyPr/>
                    <a:lstStyle/>
                    <a:p>
                      <a:pPr algn="ctr"/>
                      <a:r>
                        <a:rPr sz="1500" b="0" i="0">
                          <a:solidFill>
                            <a:srgbClr val="333333"/>
                          </a:solidFill>
                          <a:latin typeface="Calibri"/>
                        </a:rPr>
                        <a:t>0 € (open-source)</a:t>
                      </a:r>
                    </a:p>
                  </a:txBody>
                  <a:tcPr>
                    <a:solidFill>
                      <a:srgbClr val="FFFFFF"/>
                    </a:solidFill>
                  </a:tcPr>
                </a:tc>
              </a:tr>
              <a:tr h="475488">
                <a:tc>
                  <a:txBody>
                    <a:bodyPr/>
                    <a:lstStyle/>
                    <a:p>
                      <a:pPr algn="l"/>
                      <a:r>
                        <a:rPr sz="1500" b="0" i="0">
                          <a:solidFill>
                            <a:srgbClr val="333333"/>
                          </a:solidFill>
                          <a:latin typeface="Calibri"/>
                        </a:rPr>
                        <a:t>Serveur (VM / mini-PC)</a:t>
                      </a:r>
                    </a:p>
                  </a:txBody>
                  <a:tcPr>
                    <a:solidFill>
                      <a:srgbClr val="F1F3F5"/>
                    </a:solidFill>
                  </a:tcPr>
                </a:tc>
                <a:tc>
                  <a:txBody>
                    <a:bodyPr/>
                    <a:lstStyle/>
                    <a:p>
                      <a:pPr algn="ctr"/>
                      <a:r>
                        <a:rPr sz="1500" b="0" i="0">
                          <a:solidFill>
                            <a:srgbClr val="333333"/>
                          </a:solidFill>
                          <a:latin typeface="Calibri"/>
                        </a:rPr>
                        <a:t>~150–300 €</a:t>
                      </a:r>
                    </a:p>
                  </a:txBody>
                  <a:tcPr>
                    <a:solidFill>
                      <a:srgbClr val="F1F3F5"/>
                    </a:solidFill>
                  </a:tcPr>
                </a:tc>
              </a:tr>
              <a:tr h="475488">
                <a:tc>
                  <a:txBody>
                    <a:bodyPr/>
                    <a:lstStyle/>
                    <a:p>
                      <a:pPr algn="l"/>
                      <a:r>
                        <a:rPr sz="1500" b="0" i="0">
                          <a:solidFill>
                            <a:srgbClr val="333333"/>
                          </a:solidFill>
                          <a:latin typeface="Calibri"/>
                        </a:rPr>
                        <a:t>Déploiement (temps)</a:t>
                      </a:r>
                    </a:p>
                  </a:txBody>
                  <a:tcPr>
                    <a:solidFill>
                      <a:srgbClr val="FFFFFF"/>
                    </a:solidFill>
                  </a:tcPr>
                </a:tc>
                <a:tc>
                  <a:txBody>
                    <a:bodyPr/>
                    <a:lstStyle/>
                    <a:p>
                      <a:pPr algn="ctr"/>
                      <a:r>
                        <a:rPr sz="1500" b="0" i="0">
                          <a:solidFill>
                            <a:srgbClr val="333333"/>
                          </a:solidFill>
                          <a:latin typeface="Calibri"/>
                        </a:rPr>
                        <a:t>~1 j de prestation</a:t>
                      </a:r>
                    </a:p>
                  </a:txBody>
                  <a:tcPr>
                    <a:solidFill>
                      <a:srgbClr val="FFFFFF"/>
                    </a:solidFill>
                  </a:tcPr>
                </a:tc>
              </a:tr>
              <a:tr h="475488">
                <a:tc>
                  <a:txBody>
                    <a:bodyPr/>
                    <a:lstStyle/>
                    <a:p>
                      <a:pPr algn="l"/>
                      <a:r>
                        <a:rPr sz="1500" b="0" i="0">
                          <a:solidFill>
                            <a:srgbClr val="333333"/>
                          </a:solidFill>
                          <a:latin typeface="Calibri"/>
                        </a:rPr>
                        <a:t>Total entrée</a:t>
                      </a:r>
                    </a:p>
                  </a:txBody>
                  <a:tcPr>
                    <a:solidFill>
                      <a:srgbClr val="F1F3F5"/>
                    </a:solidFill>
                  </a:tcPr>
                </a:tc>
                <a:tc>
                  <a:txBody>
                    <a:bodyPr/>
                    <a:lstStyle/>
                    <a:p>
                      <a:pPr algn="ctr"/>
                      <a:r>
                        <a:rPr sz="1500" b="0" i="0">
                          <a:solidFill>
                            <a:srgbClr val="333333"/>
                          </a:solidFill>
                          <a:latin typeface="Calibri"/>
                        </a:rPr>
                        <a:t>≈ 200 €</a:t>
                      </a:r>
                    </a:p>
                  </a:txBody>
                  <a:tcPr>
                    <a:solidFill>
                      <a:srgbClr val="F1F3F5"/>
                    </a:solidFill>
                  </a:tcPr>
                </a:tc>
              </a:tr>
            </a:tbl>
          </a:graphicData>
        </a:graphic>
      </p:graphicFrame>
      <p:sp>
        <p:nvSpPr>
          <p:cNvPr id="7" name="TextBox 6"/>
          <p:cNvSpPr txBox="1"/>
          <p:nvPr/>
        </p:nvSpPr>
        <p:spPr>
          <a:xfrm>
            <a:off x="6309360" y="1234440"/>
            <a:ext cx="5394960" cy="457200"/>
          </a:xfrm>
          <a:prstGeom prst="rect">
            <a:avLst/>
          </a:prstGeom>
          <a:noFill/>
        </p:spPr>
        <p:txBody>
          <a:bodyPr wrap="square">
            <a:spAutoFit/>
          </a:bodyPr>
          <a:lstStyle/>
          <a:p>
            <a:r>
              <a:rPr sz="1700" b="1" i="0">
                <a:solidFill>
                  <a:srgbClr val="0D3B66"/>
                </a:solidFill>
                <a:latin typeface="Calibri"/>
              </a:rPr>
              <a:t>Revenus (scénario prestataire, an 1)</a:t>
            </a:r>
          </a:p>
        </p:txBody>
      </p:sp>
      <p:graphicFrame>
        <p:nvGraphicFramePr>
          <p:cNvPr id="8" name="Table 7"/>
          <p:cNvGraphicFramePr>
            <a:graphicFrameLocks noGrp="1"/>
          </p:cNvGraphicFramePr>
          <p:nvPr/>
        </p:nvGraphicFramePr>
        <p:xfrm>
          <a:off x="6309360" y="1737360"/>
          <a:ext cx="5394960" cy="2377440"/>
        </p:xfrm>
        <a:graphic>
          <a:graphicData uri="http://schemas.openxmlformats.org/drawingml/2006/table">
            <a:tbl>
              <a:tblPr firstRow="1" bandRow="1">
                <a:tableStyleId>{5C22544A-7EE6-4342-B048-85BDC9FD1C3A}</a:tableStyleId>
              </a:tblPr>
              <a:tblGrid>
                <a:gridCol w="1798320"/>
                <a:gridCol w="1798320"/>
                <a:gridCol w="1798320"/>
              </a:tblGrid>
              <a:tr h="475488">
                <a:tc>
                  <a:txBody>
                    <a:bodyPr/>
                    <a:lstStyle/>
                    <a:p>
                      <a:pPr algn="ctr"/>
                      <a:r>
                        <a:rPr sz="1400" b="1" i="0">
                          <a:solidFill>
                            <a:srgbClr val="FFFFFF"/>
                          </a:solidFill>
                          <a:latin typeface="Calibri"/>
                        </a:rPr>
                        <a:t>Source</a:t>
                      </a:r>
                    </a:p>
                  </a:txBody>
                  <a:tcPr>
                    <a:solidFill>
                      <a:srgbClr val="0D3B66"/>
                    </a:solidFill>
                  </a:tcPr>
                </a:tc>
                <a:tc>
                  <a:txBody>
                    <a:bodyPr/>
                    <a:lstStyle/>
                    <a:p>
                      <a:pPr algn="ctr"/>
                      <a:r>
                        <a:rPr sz="1400" b="1" i="0">
                          <a:solidFill>
                            <a:srgbClr val="FFFFFF"/>
                          </a:solidFill>
                          <a:latin typeface="Calibri"/>
                        </a:rPr>
                        <a:t>Hypothèse</a:t>
                      </a:r>
                    </a:p>
                  </a:txBody>
                  <a:tcPr>
                    <a:solidFill>
                      <a:srgbClr val="0D3B66"/>
                    </a:solidFill>
                  </a:tcPr>
                </a:tc>
                <a:tc>
                  <a:txBody>
                    <a:bodyPr/>
                    <a:lstStyle/>
                    <a:p>
                      <a:pPr algn="ctr"/>
                      <a:r>
                        <a:rPr sz="1400" b="1" i="0">
                          <a:solidFill>
                            <a:srgbClr val="FFFFFF"/>
                          </a:solidFill>
                          <a:latin typeface="Calibri"/>
                        </a:rPr>
                        <a:t>Revenu</a:t>
                      </a:r>
                    </a:p>
                  </a:txBody>
                  <a:tcPr>
                    <a:solidFill>
                      <a:srgbClr val="0D3B66"/>
                    </a:solidFill>
                  </a:tcPr>
                </a:tc>
              </a:tr>
              <a:tr h="475488">
                <a:tc>
                  <a:txBody>
                    <a:bodyPr/>
                    <a:lstStyle/>
                    <a:p>
                      <a:pPr algn="l"/>
                      <a:r>
                        <a:rPr sz="1400" b="0" i="0">
                          <a:solidFill>
                            <a:srgbClr val="333333"/>
                          </a:solidFill>
                          <a:latin typeface="Calibri"/>
                        </a:rPr>
                        <a:t>Installation+formation</a:t>
                      </a:r>
                    </a:p>
                  </a:txBody>
                  <a:tcPr>
                    <a:solidFill>
                      <a:srgbClr val="FFFFFF"/>
                    </a:solidFill>
                  </a:tcPr>
                </a:tc>
                <a:tc>
                  <a:txBody>
                    <a:bodyPr/>
                    <a:lstStyle/>
                    <a:p>
                      <a:pPr algn="ctr"/>
                      <a:r>
                        <a:rPr sz="1400" b="0" i="0">
                          <a:solidFill>
                            <a:srgbClr val="333333"/>
                          </a:solidFill>
                          <a:latin typeface="Calibri"/>
                        </a:rPr>
                        <a:t>10 × 300 €</a:t>
                      </a:r>
                    </a:p>
                  </a:txBody>
                  <a:tcPr>
                    <a:solidFill>
                      <a:srgbClr val="FFFFFF"/>
                    </a:solidFill>
                  </a:tcPr>
                </a:tc>
                <a:tc>
                  <a:txBody>
                    <a:bodyPr/>
                    <a:lstStyle/>
                    <a:p>
                      <a:pPr algn="ctr"/>
                      <a:r>
                        <a:rPr sz="1400" b="1" i="0">
                          <a:solidFill>
                            <a:srgbClr val="198754"/>
                          </a:solidFill>
                          <a:latin typeface="Calibri"/>
                        </a:rPr>
                        <a:t>3 000 €</a:t>
                      </a:r>
                    </a:p>
                  </a:txBody>
                  <a:tcPr>
                    <a:solidFill>
                      <a:srgbClr val="FFFFFF"/>
                    </a:solidFill>
                  </a:tcPr>
                </a:tc>
              </a:tr>
              <a:tr h="475488">
                <a:tc>
                  <a:txBody>
                    <a:bodyPr/>
                    <a:lstStyle/>
                    <a:p>
                      <a:pPr algn="l"/>
                      <a:r>
                        <a:rPr sz="1400" b="0" i="0">
                          <a:solidFill>
                            <a:srgbClr val="333333"/>
                          </a:solidFill>
                          <a:latin typeface="Calibri"/>
                        </a:rPr>
                        <a:t>Support (abonnement)</a:t>
                      </a:r>
                    </a:p>
                  </a:txBody>
                  <a:tcPr>
                    <a:solidFill>
                      <a:srgbClr val="F1F3F5"/>
                    </a:solidFill>
                  </a:tcPr>
                </a:tc>
                <a:tc>
                  <a:txBody>
                    <a:bodyPr/>
                    <a:lstStyle/>
                    <a:p>
                      <a:pPr algn="ctr"/>
                      <a:r>
                        <a:rPr sz="1400" b="0" i="0">
                          <a:solidFill>
                            <a:srgbClr val="333333"/>
                          </a:solidFill>
                          <a:latin typeface="Calibri"/>
                        </a:rPr>
                        <a:t>10 × 40 €/mois</a:t>
                      </a:r>
                    </a:p>
                  </a:txBody>
                  <a:tcPr>
                    <a:solidFill>
                      <a:srgbClr val="F1F3F5"/>
                    </a:solidFill>
                  </a:tcPr>
                </a:tc>
                <a:tc>
                  <a:txBody>
                    <a:bodyPr/>
                    <a:lstStyle/>
                    <a:p>
                      <a:pPr algn="ctr"/>
                      <a:r>
                        <a:rPr sz="1400" b="1" i="0">
                          <a:solidFill>
                            <a:srgbClr val="198754"/>
                          </a:solidFill>
                          <a:latin typeface="Calibri"/>
                        </a:rPr>
                        <a:t>4 800 €</a:t>
                      </a:r>
                    </a:p>
                  </a:txBody>
                  <a:tcPr>
                    <a:solidFill>
                      <a:srgbClr val="F1F3F5"/>
                    </a:solidFill>
                  </a:tcPr>
                </a:tc>
              </a:tr>
              <a:tr h="475488">
                <a:tc>
                  <a:txBody>
                    <a:bodyPr/>
                    <a:lstStyle/>
                    <a:p>
                      <a:pPr algn="l"/>
                      <a:r>
                        <a:rPr sz="1400" b="0" i="0">
                          <a:solidFill>
                            <a:srgbClr val="333333"/>
                          </a:solidFill>
                          <a:latin typeface="Calibri"/>
                        </a:rPr>
                        <a:t>Édition Pro</a:t>
                      </a:r>
                    </a:p>
                  </a:txBody>
                  <a:tcPr>
                    <a:solidFill>
                      <a:srgbClr val="FFFFFF"/>
                    </a:solidFill>
                  </a:tcPr>
                </a:tc>
                <a:tc>
                  <a:txBody>
                    <a:bodyPr/>
                    <a:lstStyle/>
                    <a:p>
                      <a:pPr algn="ctr"/>
                      <a:r>
                        <a:rPr sz="1400" b="0" i="0">
                          <a:solidFill>
                            <a:srgbClr val="333333"/>
                          </a:solidFill>
                          <a:latin typeface="Calibri"/>
                        </a:rPr>
                        <a:t>3 × 500 €</a:t>
                      </a:r>
                    </a:p>
                  </a:txBody>
                  <a:tcPr>
                    <a:solidFill>
                      <a:srgbClr val="FFFFFF"/>
                    </a:solidFill>
                  </a:tcPr>
                </a:tc>
                <a:tc>
                  <a:txBody>
                    <a:bodyPr/>
                    <a:lstStyle/>
                    <a:p>
                      <a:pPr algn="ctr"/>
                      <a:r>
                        <a:rPr sz="1400" b="1" i="0">
                          <a:solidFill>
                            <a:srgbClr val="198754"/>
                          </a:solidFill>
                          <a:latin typeface="Calibri"/>
                        </a:rPr>
                        <a:t>1 500 €</a:t>
                      </a:r>
                    </a:p>
                  </a:txBody>
                  <a:tcPr>
                    <a:solidFill>
                      <a:srgbClr val="FFFFFF"/>
                    </a:solidFill>
                  </a:tcPr>
                </a:tc>
              </a:tr>
              <a:tr h="475488">
                <a:tc>
                  <a:txBody>
                    <a:bodyPr/>
                    <a:lstStyle/>
                    <a:p>
                      <a:pPr algn="l"/>
                      <a:r>
                        <a:rPr sz="1400" b="0" i="0">
                          <a:solidFill>
                            <a:srgbClr val="333333"/>
                          </a:solidFill>
                          <a:latin typeface="Calibri"/>
                        </a:rPr>
                        <a:t>Total an 1</a:t>
                      </a:r>
                    </a:p>
                  </a:txBody>
                  <a:tcPr>
                    <a:solidFill>
                      <a:srgbClr val="F1F3F5"/>
                    </a:solidFill>
                  </a:tcPr>
                </a:tc>
                <a:tc>
                  <a:txBody>
                    <a:bodyPr/>
                    <a:lstStyle/>
                    <a:p>
                      <a:pPr algn="ctr"/>
                      <a:r>
                        <a:rPr sz="1400" b="0" i="0">
                          <a:solidFill>
                            <a:srgbClr val="333333"/>
                          </a:solidFill>
                          <a:latin typeface="Calibri"/>
                        </a:rPr>
                        <a:t/>
                      </a:r>
                    </a:p>
                  </a:txBody>
                  <a:tcPr>
                    <a:solidFill>
                      <a:srgbClr val="F1F3F5"/>
                    </a:solidFill>
                  </a:tcPr>
                </a:tc>
                <a:tc>
                  <a:txBody>
                    <a:bodyPr/>
                    <a:lstStyle/>
                    <a:p>
                      <a:pPr algn="ctr"/>
                      <a:r>
                        <a:rPr sz="1400" b="1" i="0">
                          <a:solidFill>
                            <a:srgbClr val="198754"/>
                          </a:solidFill>
                          <a:latin typeface="Calibri"/>
                        </a:rPr>
                        <a:t>≈ 9 300 €</a:t>
                      </a:r>
                    </a:p>
                  </a:txBody>
                  <a:tcPr>
                    <a:solidFill>
                      <a:srgbClr val="F1F3F5"/>
                    </a:solidFill>
                  </a:tcPr>
                </a:tc>
              </a:tr>
            </a:tbl>
          </a:graphicData>
        </a:graphic>
      </p:graphicFrame>
      <p:sp>
        <p:nvSpPr>
          <p:cNvPr id="9" name="Rectangle 8"/>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ROI client : 1 h de panne évitée ≫ coût de la solution (≈ 200 €). Elle s'autofinance dès le premier incident majeur évité.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Limites du projet et perspectives</a:t>
            </a:r>
          </a:p>
        </p:txBody>
      </p:sp>
      <p:sp>
        <p:nvSpPr>
          <p:cNvPr id="5" name="TextBox 4"/>
          <p:cNvSpPr txBox="1"/>
          <p:nvPr/>
        </p:nvSpPr>
        <p:spPr>
          <a:xfrm>
            <a:off x="640080" y="1280160"/>
            <a:ext cx="10881360" cy="4937760"/>
          </a:xfrm>
          <a:prstGeom prst="rect">
            <a:avLst/>
          </a:prstGeom>
          <a:noFill/>
        </p:spPr>
        <p:txBody>
          <a:bodyPr wrap="square">
            <a:spAutoFit/>
          </a:bodyPr>
          <a:lstStyle/>
          <a:p>
            <a:pPr>
              <a:spcAft>
                <a:spcPts val="600"/>
              </a:spcAft>
            </a:pPr>
            <a:r>
              <a:rPr sz="1800" b="1" i="0">
                <a:solidFill>
                  <a:srgbClr val="D62828"/>
                </a:solidFill>
                <a:latin typeface="Calibri"/>
              </a:rPr>
              <a:t>•  Limites assumées :</a:t>
            </a:r>
          </a:p>
          <a:p>
            <a:pPr lvl="1">
              <a:spcAft>
                <a:spcPts val="600"/>
              </a:spcAft>
            </a:pPr>
            <a:r>
              <a:rPr sz="1600" b="0" i="0">
                <a:solidFill>
                  <a:srgbClr val="333333"/>
                </a:solidFill>
                <a:latin typeface="Calibri"/>
              </a:rPr>
              <a:t>–  Supervision active → pas de métriques internes (CPU/RAM) sans SNMP</a:t>
            </a:r>
          </a:p>
          <a:p>
            <a:pPr lvl="1">
              <a:spcAft>
                <a:spcPts val="600"/>
              </a:spcAft>
            </a:pPr>
            <a:r>
              <a:rPr sz="1600" b="0" i="0">
                <a:solidFill>
                  <a:srgbClr val="333333"/>
                </a:solidFill>
                <a:latin typeface="Calibri"/>
              </a:rPr>
              <a:t>–  Réactivité bornée par l'intervalle de cycle (2 min)</a:t>
            </a:r>
          </a:p>
          <a:p>
            <a:pPr lvl="1">
              <a:spcAft>
                <a:spcPts val="600"/>
              </a:spcAft>
            </a:pPr>
            <a:r>
              <a:rPr sz="1600" b="0" i="0">
                <a:solidFill>
                  <a:srgbClr val="333333"/>
                </a:solidFill>
                <a:latin typeface="Calibri"/>
              </a:rPr>
              <a:t>–  Alertes dépendantes de la connectivité sortante</a:t>
            </a:r>
          </a:p>
          <a:p>
            <a:pPr lvl="1">
              <a:spcAft>
                <a:spcPts val="600"/>
              </a:spcAft>
            </a:pPr>
            <a:r>
              <a:rPr sz="1600" b="0" i="0">
                <a:solidFill>
                  <a:srgbClr val="333333"/>
                </a:solidFill>
                <a:latin typeface="Calibri"/>
              </a:rPr>
              <a:t>–  « Qui surveille le surveillant ? » → besoin de redondance</a:t>
            </a:r>
          </a:p>
          <a:p>
            <a:pPr>
              <a:spcAft>
                <a:spcPts val="600"/>
              </a:spcAft>
            </a:pPr>
            <a:r>
              <a:rPr sz="1800" b="0" i="0">
                <a:solidFill>
                  <a:srgbClr val="333333"/>
                </a:solidFill>
                <a:latin typeface="Calibri"/>
              </a:rPr>
              <a:t/>
            </a:r>
          </a:p>
          <a:p>
            <a:pPr>
              <a:spcAft>
                <a:spcPts val="600"/>
              </a:spcAft>
            </a:pPr>
            <a:r>
              <a:rPr sz="1800" b="1" i="0">
                <a:solidFill>
                  <a:srgbClr val="198754"/>
                </a:solidFill>
                <a:latin typeface="Calibri"/>
              </a:rPr>
              <a:t>•  Perspectives :</a:t>
            </a:r>
          </a:p>
          <a:p>
            <a:pPr lvl="1">
              <a:spcAft>
                <a:spcPts val="600"/>
              </a:spcAft>
            </a:pPr>
            <a:r>
              <a:rPr sz="1600" b="0" i="0">
                <a:solidFill>
                  <a:srgbClr val="333333"/>
                </a:solidFill>
                <a:latin typeface="Calibri"/>
              </a:rPr>
              <a:t>–  Intégration SNMP (performances détaillées)</a:t>
            </a:r>
          </a:p>
          <a:p>
            <a:pPr lvl="1">
              <a:spcAft>
                <a:spcPts val="600"/>
              </a:spcAft>
            </a:pPr>
            <a:r>
              <a:rPr sz="1600" b="0" i="0">
                <a:solidFill>
                  <a:srgbClr val="333333"/>
                </a:solidFill>
                <a:latin typeface="Calibri"/>
              </a:rPr>
              <a:t>–  Machine Learning : détection d'anomalies</a:t>
            </a:r>
          </a:p>
          <a:p>
            <a:pPr lvl="1">
              <a:spcAft>
                <a:spcPts val="600"/>
              </a:spcAft>
            </a:pPr>
            <a:r>
              <a:rPr sz="1600" b="0" i="0">
                <a:solidFill>
                  <a:srgbClr val="333333"/>
                </a:solidFill>
                <a:latin typeface="Calibri"/>
              </a:rPr>
              <a:t>–  Maintenance prédictive (anticiper la panne) · Auto-remédiation (AIOps)</a:t>
            </a:r>
          </a:p>
          <a:p>
            <a:pPr lvl="1">
              <a:spcAft>
                <a:spcPts val="600"/>
              </a:spcAft>
            </a:pPr>
            <a:r>
              <a:rPr sz="1600" b="0" i="0">
                <a:solidFill>
                  <a:srgbClr val="333333"/>
                </a:solidFill>
                <a:latin typeface="Calibri"/>
              </a:rPr>
              <a:t>–  Conteneurisation (Docker/K8s) · Canaux SMS, Slack, Teams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Conclusion</a:t>
            </a:r>
          </a:p>
        </p:txBody>
      </p:sp>
      <p:sp>
        <p:nvSpPr>
          <p:cNvPr id="4" name="TextBox 3"/>
          <p:cNvSpPr txBox="1"/>
          <p:nvPr/>
        </p:nvSpPr>
        <p:spPr>
          <a:xfrm>
            <a:off x="640080" y="1463040"/>
            <a:ext cx="10881360" cy="2560320"/>
          </a:xfrm>
          <a:prstGeom prst="rect">
            <a:avLst/>
          </a:prstGeom>
          <a:noFill/>
        </p:spPr>
        <p:txBody>
          <a:bodyPr wrap="square">
            <a:spAutoFit/>
          </a:bodyPr>
          <a:lstStyle/>
          <a:p>
            <a:pPr>
              <a:spcAft>
                <a:spcPts val="1400"/>
              </a:spcAft>
            </a:pPr>
            <a:r>
              <a:rPr sz="2200" b="1" i="0">
                <a:solidFill>
                  <a:srgbClr val="198754"/>
                </a:solidFill>
                <a:latin typeface="Calibri"/>
              </a:rPr>
              <a:t>•  Un produit fonctionnel, testé, 100 % open-source</a:t>
            </a:r>
          </a:p>
          <a:p>
            <a:pPr>
              <a:spcAft>
                <a:spcPts val="1400"/>
              </a:spcAft>
            </a:pPr>
            <a:r>
              <a:rPr sz="2200" b="1" i="0">
                <a:solidFill>
                  <a:srgbClr val="198754"/>
                </a:solidFill>
                <a:latin typeface="Calibri"/>
              </a:rPr>
              <a:t>•  Détection temps réel (&lt; 2 min) &amp; temps d'intervention réduit</a:t>
            </a:r>
          </a:p>
          <a:p>
            <a:pPr>
              <a:spcAft>
                <a:spcPts val="1400"/>
              </a:spcAft>
            </a:pPr>
            <a:r>
              <a:rPr sz="2200" b="1" i="0">
                <a:solidFill>
                  <a:srgbClr val="198754"/>
                </a:solidFill>
                <a:latin typeface="Calibri"/>
              </a:rPr>
              <a:t>•  Un modèle économique viable (open-core) sur un segment délaissé</a:t>
            </a:r>
          </a:p>
          <a:p>
            <a:pPr>
              <a:spcAft>
                <a:spcPts val="1400"/>
              </a:spcAft>
            </a:pPr>
            <a:r>
              <a:rPr sz="2200" b="1" i="0">
                <a:solidFill>
                  <a:srgbClr val="198754"/>
                </a:solidFill>
                <a:latin typeface="Calibri"/>
              </a:rPr>
              <a:t>•  Une base extensible vers l'IA et la maintenance prédictive</a:t>
            </a:r>
          </a:p>
        </p:txBody>
      </p:sp>
      <p:sp>
        <p:nvSpPr>
          <p:cNvPr id="5" name="Rectangle 4"/>
          <p:cNvSpPr/>
          <p:nvPr/>
        </p:nvSpPr>
        <p:spPr>
          <a:xfrm>
            <a:off x="640080" y="4572000"/>
            <a:ext cx="109728" cy="14630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4572000"/>
            <a:ext cx="10771632" cy="146304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De la supervision réactive vers une supervision proactive, accessible et intelligente. L'automatisation transforme la disponibilité réseau en avantage à la portée de toutes les organisations.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914400" y="2560320"/>
            <a:ext cx="10332720" cy="1828800"/>
          </a:xfrm>
          <a:prstGeom prst="rect">
            <a:avLst/>
          </a:prstGeom>
          <a:noFill/>
        </p:spPr>
        <p:txBody>
          <a:bodyPr wrap="square" anchor="ctr">
            <a:spAutoFit/>
          </a:bodyPr>
          <a:lstStyle/>
          <a:p>
            <a:pPr algn="ctr"/>
            <a:r>
              <a:rPr sz="4000" b="1" i="0">
                <a:solidFill>
                  <a:srgbClr val="FFFFFF"/>
                </a:solidFill>
                <a:latin typeface="Calibri"/>
              </a:rPr>
              <a:t>Merci de votre attention</a:t>
            </a:r>
          </a:p>
          <a:p>
            <a:pPr algn="ctr"/>
            <a:r>
              <a:rPr sz="2000" b="0" i="1">
                <a:solidFill>
                  <a:srgbClr val="DDE6F2"/>
                </a:solidFill>
                <a:latin typeface="Calibri"/>
              </a:rPr>
              <a:t>Je me tiens à votre disposition pour vos questions</a:t>
            </a:r>
          </a:p>
          <a:p>
            <a:pPr algn="ctr"/>
            <a:r>
              <a:rPr sz="1600" b="1" i="0">
                <a:solidFill>
                  <a:srgbClr val="FFFFFF"/>
                </a:solidFill>
                <a:latin typeface="Calibri"/>
              </a:rPr>
              <a:t>
[NOM Prénom] — Master 2 RIT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