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dont la relation utilisateur-équipement - vers le modèle logique - six tables, dont une table associative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tableau de bord réel : en un coup d'œil, l'équipe d'OPEN MOISE voit le nombre d'équipements en ligne, le taux de disponibilité, les alertes actives et l'état détaillé du parc. Ici, deux équipements sont en panne (DOWN), signalés en rouge.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détection déclenche en moins de deux minutes une alerte multi-canal. À gauche, la notification Telegram telle que la reçoit l'astreinte d'OPEN MOISE sur son smartphone. À droite, l'historique des alertes, qui assure la traçabilité et sert de preuve du respect des SLA auprès du client.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page de gestion des équipements présente l'inventaire du parc client, alimenté automatiquement par la découverte réseau. OPEN MOISE y ajoute ou retire des équipements en quelques clics.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chaque écran de l'application apporte une preuve concrète de valeur pour OPEN MOISE, de la supervision temps réel jusqu'à la preuve de SLA exportable pour le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déployée au sein d'OPEN MOISE (ESN d'infogérance)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D3B66"/>
                </a:solidFill>
                <a:latin typeface="Calibri"/>
              </a:rPr>
              <a:t>•  Introduction — L'annonce du sujet</a:t>
            </a:r>
          </a:p>
          <a:p>
            <a:pPr>
              <a:spcAft>
                <a:spcPts val="1400"/>
              </a:spcAft>
            </a:pPr>
            <a:r>
              <a:rPr sz="1600" b="0" i="0">
                <a:solidFill>
                  <a:srgbClr val="333333"/>
                </a:solidFill>
                <a:latin typeface="Calibri"/>
              </a:rPr>
              <a:t>•  1.  Contexte et identification du problème</a:t>
            </a:r>
          </a:p>
          <a:p>
            <a:pPr>
              <a:spcAft>
                <a:spcPts val="1400"/>
              </a:spcAft>
            </a:pPr>
            <a:r>
              <a:rPr sz="1600" b="0" i="0">
                <a:solidFill>
                  <a:srgbClr val="333333"/>
                </a:solidFill>
                <a:latin typeface="Calibri"/>
              </a:rPr>
              <a:t>•  2.  Objectifs et résultats attendus</a:t>
            </a:r>
          </a:p>
          <a:p>
            <a:pPr>
              <a:spcAft>
                <a:spcPts val="1400"/>
              </a:spcAft>
            </a:pPr>
            <a:r>
              <a:rPr sz="1600" b="0" i="0">
                <a:solidFill>
                  <a:srgbClr val="333333"/>
                </a:solidFill>
                <a:latin typeface="Calibri"/>
              </a:rPr>
              <a:t>•  3.  Démarche méthodologique</a:t>
            </a:r>
          </a:p>
          <a:p>
            <a:pPr>
              <a:spcAft>
                <a:spcPts val="1400"/>
              </a:spcAft>
            </a:pPr>
            <a:r>
              <a:rPr sz="1600" b="0" i="0">
                <a:solidFill>
                  <a:srgbClr val="333333"/>
                </a:solidFill>
                <a:latin typeface="Calibri"/>
              </a:rPr>
              <a:t>•  4.  État des lieux des solutions existantes et solution proposée</a:t>
            </a:r>
          </a:p>
          <a:p>
            <a:pPr>
              <a:spcAft>
                <a:spcPts val="1400"/>
              </a:spcAft>
            </a:pPr>
            <a:r>
              <a:rPr sz="1600" b="0" i="0">
                <a:solidFill>
                  <a:srgbClr val="333333"/>
                </a:solidFill>
                <a:latin typeface="Calibri"/>
              </a:rPr>
              <a:t>•  5.  L'axe de différenciation (innovation technologique)</a:t>
            </a:r>
          </a:p>
          <a:p>
            <a:pPr>
              <a:spcAft>
                <a:spcPts val="1400"/>
              </a:spcAft>
            </a:pPr>
            <a:r>
              <a:rPr sz="1600" b="0" i="0">
                <a:solidFill>
                  <a:srgbClr val="333333"/>
                </a:solidFill>
                <a:latin typeface="Calibri"/>
              </a:rPr>
              <a:t>•  6.  Étude de faisabilité et conception de la solution</a:t>
            </a:r>
          </a:p>
        </p:txBody>
      </p:sp>
      <p:sp>
        <p:nvSpPr>
          <p:cNvPr id="5" name="TextBox 4"/>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333333"/>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333333"/>
                </a:solidFill>
                <a:latin typeface="Calibri"/>
              </a:rPr>
              <a:t>•  9.  Marketing, vente et concurrence</a:t>
            </a:r>
          </a:p>
          <a:p>
            <a:pPr>
              <a:spcAft>
                <a:spcPts val="1400"/>
              </a:spcAft>
            </a:pPr>
            <a:r>
              <a:rPr sz="1600" b="0" i="0">
                <a:solidFill>
                  <a:srgbClr val="333333"/>
                </a:solidFill>
                <a:latin typeface="Calibri"/>
              </a:rPr>
              <a:t>•  10. Prévisions financières</a:t>
            </a:r>
          </a:p>
          <a:p>
            <a:pPr>
              <a:spcAft>
                <a:spcPts val="1400"/>
              </a:spcAft>
            </a:pPr>
            <a:r>
              <a:rPr sz="1600" b="0" i="0">
                <a:solidFill>
                  <a:srgbClr val="333333"/>
                </a:solidFill>
                <a:latin typeface="Calibri"/>
              </a:rPr>
              <a:t>•  11. Limites du projet et perspectives</a:t>
            </a:r>
          </a:p>
          <a:p>
            <a:pPr>
              <a:spcAft>
                <a:spcPts val="1400"/>
              </a:spcAft>
            </a:pPr>
            <a:r>
              <a:rPr sz="1600" b="0" i="0">
                <a:solidFill>
                  <a:srgbClr val="333333"/>
                </a:solidFill>
                <a:latin typeface="Calibri"/>
              </a:rPr>
              <a:t/>
            </a:r>
          </a:p>
          <a:p>
            <a:pPr>
              <a:spcAft>
                <a:spcPts val="1400"/>
              </a:spcAft>
            </a:pPr>
            <a:r>
              <a:rPr sz="16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333333"/>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Pourquoi ce thème ?</a:t>
            </a:r>
          </a:p>
          <a:p>
            <a:pPr lvl="1">
              <a:spcAft>
                <a:spcPts val="800"/>
              </a:spcAft>
            </a:pPr>
            <a:r>
              <a:rPr sz="1700" b="0" i="0">
                <a:solidFill>
                  <a:srgbClr val="333333"/>
                </a:solidFill>
                <a:latin typeface="Calibri"/>
              </a:rPr>
              <a:t>–  Le réseau est le « système nerveux » des clients d'OPEN MOISE</a:t>
            </a:r>
          </a:p>
          <a:p>
            <a:pPr lvl="1">
              <a:spcAft>
                <a:spcPts val="800"/>
              </a:spcAft>
            </a:pPr>
            <a:r>
              <a:rPr sz="1700" b="0" i="0">
                <a:solidFill>
                  <a:srgbClr val="333333"/>
                </a:solidFill>
                <a:latin typeface="Calibri"/>
              </a:rPr>
              <a:t>–  Une minute d'indisponibilité menace les engagements de service (SLA)</a:t>
            </a:r>
          </a:p>
          <a:p>
            <a:pPr lvl="1">
              <a:spcAft>
                <a:spcPts val="800"/>
              </a:spcAft>
            </a:pPr>
            <a:r>
              <a:rPr sz="1700" b="0" i="0">
                <a:solidFill>
                  <a:srgbClr val="333333"/>
                </a:solidFill>
                <a:latin typeface="Calibri"/>
              </a:rPr>
              <a:t>–  Vécu de terrain chez OPEN MOISE : pannes des parcs clients découvertes trop tard, souvent signalées par le client lui-même</a:t>
            </a:r>
          </a:p>
          <a:p>
            <a:pPr lvl="1">
              <a:spcAft>
                <a:spcPts val="800"/>
              </a:spcAft>
            </a:pPr>
            <a:r>
              <a:rPr sz="1700" b="0" i="0">
                <a:solidFill>
                  <a:srgbClr val="333333"/>
                </a:solidFill>
                <a:latin typeface="Calibri"/>
              </a:rPr>
              <a:t>–  Conviction : l'open-source permet d'industrialiser la supervision sans licence</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333333"/>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Constat de terrain chez OPEN MOISE :</a:t>
            </a:r>
          </a:p>
          <a:p>
            <a:pPr lvl="1">
              <a:spcAft>
                <a:spcPts val="800"/>
              </a:spcAft>
            </a:pPr>
            <a:r>
              <a:rPr sz="1700" b="0" i="0">
                <a:solidFill>
                  <a:srgbClr val="333333"/>
                </a:solidFill>
                <a:latin typeface="Calibri"/>
              </a:rPr>
              <a:t>–  Supervision largement manuelle et épisodique (ping à la main)</a:t>
            </a:r>
          </a:p>
          <a:p>
            <a:pPr lvl="1">
              <a:spcAft>
                <a:spcPts val="800"/>
              </a:spcAft>
            </a:pPr>
            <a:r>
              <a:rPr sz="1700" b="0" i="0">
                <a:solidFill>
                  <a:srgbClr val="333333"/>
                </a:solidFill>
                <a:latin typeface="Calibri"/>
              </a:rPr>
              <a:t>–  Pannes des parcs clients signalées par le client → réaction tardive</a:t>
            </a:r>
          </a:p>
          <a:p>
            <a:pPr lvl="1">
              <a:spcAft>
                <a:spcPts val="800"/>
              </a:spcAft>
            </a:pPr>
            <a:r>
              <a:rPr sz="1700" b="0" i="0">
                <a:solidFill>
                  <a:srgbClr val="333333"/>
                </a:solidFill>
                <a:latin typeface="Calibri"/>
              </a:rPr>
              <a:t>–  Aucune traçabilité des incidents → SLA difficiles à prouver</a:t>
            </a:r>
          </a:p>
          <a:p>
            <a:pPr lvl="1">
              <a:spcAft>
                <a:spcPts val="800"/>
              </a:spcAft>
            </a:pPr>
            <a:r>
              <a:rPr sz="1700" b="0" i="0">
                <a:solidFill>
                  <a:srgbClr val="333333"/>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D3B66"/>
                </a:solidFill>
                <a:latin typeface="Calibri"/>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FCFA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D3B66"/>
                </a:solidFill>
                <a:latin typeface="Calibri"/>
              </a:rPr>
              <a:t>•  Un outil de supervision pour OPEN MOISE, automatisé, modulaire et 100 % open-source, qui :</a:t>
            </a:r>
          </a:p>
          <a:p>
            <a:pPr lvl="1">
              <a:spcAft>
                <a:spcPts val="800"/>
              </a:spcAft>
            </a:pPr>
            <a:r>
              <a:rPr sz="1700" b="0" i="0">
                <a:solidFill>
                  <a:srgbClr val="333333"/>
                </a:solidFill>
                <a:latin typeface="Calibri"/>
              </a:rPr>
              <a:t>–  découvre automatiquement les équipements des réseaux clients</a:t>
            </a:r>
          </a:p>
          <a:p>
            <a:pPr lvl="1">
              <a:spcAft>
                <a:spcPts val="800"/>
              </a:spcAft>
            </a:pPr>
            <a:r>
              <a:rPr sz="1700" b="0" i="0">
                <a:solidFill>
                  <a:srgbClr val="333333"/>
                </a:solidFill>
                <a:latin typeface="Calibri"/>
              </a:rPr>
              <a:t>–  sonde en continu la disponibilité (ICMP) et les services (TCP)</a:t>
            </a:r>
          </a:p>
          <a:p>
            <a:pPr lvl="1">
              <a:spcAft>
                <a:spcPts val="800"/>
              </a:spcAft>
            </a:pPr>
            <a:r>
              <a:rPr sz="1700" b="0" i="0">
                <a:solidFill>
                  <a:srgbClr val="333333"/>
                </a:solidFill>
                <a:latin typeface="Calibri"/>
              </a:rPr>
              <a:t>–  confirme la panne (anti-faux positif) et journalise tout (preuve de SLA)</a:t>
            </a:r>
          </a:p>
          <a:p>
            <a:pPr lvl="1">
              <a:spcAft>
                <a:spcPts val="800"/>
              </a:spcAft>
            </a:pPr>
            <a:r>
              <a:rPr sz="1700" b="0" i="0">
                <a:solidFill>
                  <a:srgbClr val="333333"/>
                </a:solidFill>
                <a:latin typeface="Calibri"/>
              </a:rPr>
              <a:t>–  alerte les équipes d'OPEN MOISE par e-mail ET Telegram (push mobile)</a:t>
            </a:r>
          </a:p>
          <a:p>
            <a:pPr lvl="1">
              <a:spcAft>
                <a:spcPts val="800"/>
              </a:spcAft>
            </a:pPr>
            <a:r>
              <a:rPr sz="1700" b="0" i="0">
                <a:solidFill>
                  <a:srgbClr val="333333"/>
                </a:solidFill>
                <a:latin typeface="Calibri"/>
              </a:rPr>
              <a:t>–  offre un tableau de bord web temps réel + rapports clients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L'axe de différenciation (innovation technologique)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D3B66"/>
                    </a:solidFill>
                  </a:tcPr>
                </a:tc>
                <a:tc>
                  <a:txBody>
                    <a:bodyPr/>
                    <a:lstStyle/>
                    <a:p>
                      <a:pPr algn="ctr"/>
                      <a:r>
                        <a:rPr sz="1500" b="1" i="0">
                          <a:solidFill>
                            <a:srgbClr val="FFFFFF"/>
                          </a:solidFill>
                          <a:latin typeface="Calibri"/>
                        </a:rPr>
                        <a:t>Bénéfice pour OPEN MOISE</a:t>
                      </a:r>
                    </a:p>
                  </a:txBody>
                  <a:tcPr>
                    <a:solidFill>
                      <a:srgbClr val="0D3B66"/>
                    </a:solidFill>
                  </a:tcPr>
                </a:tc>
              </a:tr>
              <a:tr h="518160">
                <a:tc>
                  <a:txBody>
                    <a:bodyPr/>
                    <a:lstStyle/>
                    <a:p>
                      <a:pPr algn="l"/>
                      <a:r>
                        <a:rPr sz="1500" b="0" i="0">
                          <a:solidFill>
                            <a:srgbClr val="333333"/>
                          </a:solidFill>
                          <a:latin typeface="Calibri"/>
                        </a:rPr>
                        <a:t>Alerte Telegram native</a:t>
                      </a:r>
                    </a:p>
                  </a:txBody>
                  <a:tcPr>
                    <a:solidFill>
                      <a:srgbClr val="FFFFFF"/>
                    </a:solidFill>
                  </a:tcPr>
                </a:tc>
                <a:tc>
                  <a:txBody>
                    <a:bodyPr/>
                    <a:lstStyle/>
                    <a:p>
                      <a:pPr algn="ctr"/>
                      <a:r>
                        <a:rPr sz="1500" b="0" i="0">
                          <a:solidFill>
                            <a:srgbClr val="333333"/>
                          </a:solidFill>
                          <a:latin typeface="Calibri"/>
                        </a:rPr>
                        <a:t>Astreinte alertée partout, sans coût de notification</a:t>
                      </a:r>
                    </a:p>
                  </a:txBody>
                  <a:tcPr>
                    <a:solidFill>
                      <a:srgbClr val="FFFFFF"/>
                    </a:solidFill>
                  </a:tcPr>
                </a:tc>
              </a:tr>
              <a:tr h="518160">
                <a:tc>
                  <a:txBody>
                    <a:bodyPr/>
                    <a:lstStyle/>
                    <a:p>
                      <a:pPr algn="l"/>
                      <a:r>
                        <a:rPr sz="1500" b="0" i="0">
                          <a:solidFill>
                            <a:srgbClr val="333333"/>
                          </a:solidFill>
                          <a:latin typeface="Calibri"/>
                        </a:rPr>
                        <a:t>Ultra-légère</a:t>
                      </a:r>
                    </a:p>
                  </a:txBody>
                  <a:tcPr>
                    <a:solidFill>
                      <a:srgbClr val="F1F3F5"/>
                    </a:solidFill>
                  </a:tcPr>
                </a:tc>
                <a:tc>
                  <a:txBody>
                    <a:bodyPr/>
                    <a:lstStyle/>
                    <a:p>
                      <a:pPr algn="ctr"/>
                      <a:r>
                        <a:rPr sz="1500" b="0" i="0">
                          <a:solidFill>
                            <a:srgbClr val="333333"/>
                          </a:solidFill>
                          <a:latin typeface="Calibri"/>
                        </a:rPr>
                        <a:t>1 VM par client / mutualisée : coûts d'exploitation réduits</a:t>
                      </a:r>
                    </a:p>
                  </a:txBody>
                  <a:tcPr>
                    <a:solidFill>
                      <a:srgbClr val="F1F3F5"/>
                    </a:solidFill>
                  </a:tcPr>
                </a:tc>
              </a:tr>
              <a:tr h="518160">
                <a:tc>
                  <a:txBody>
                    <a:bodyPr/>
                    <a:lstStyle/>
                    <a:p>
                      <a:pPr algn="l"/>
                      <a:r>
                        <a:rPr sz="1500" b="0" i="0">
                          <a:solidFill>
                            <a:srgbClr val="333333"/>
                          </a:solidFill>
                          <a:latin typeface="Calibri"/>
                        </a:rPr>
                        <a:t>Code 100 % ouvert &amp; maîtrisé</a:t>
                      </a:r>
                    </a:p>
                  </a:txBody>
                  <a:tcPr>
                    <a:solidFill>
                      <a:srgbClr val="FFFFFF"/>
                    </a:solidFill>
                  </a:tcPr>
                </a:tc>
                <a:tc>
                  <a:txBody>
                    <a:bodyPr/>
                    <a:lstStyle/>
                    <a:p>
                      <a:pPr algn="ctr"/>
                      <a:r>
                        <a:rPr sz="1500" b="0" i="0">
                          <a:solidFill>
                            <a:srgbClr val="333333"/>
                          </a:solidFill>
                          <a:latin typeface="Calibri"/>
                        </a:rPr>
                        <a:t>Adaptable à chaque client, zéro vendor lock-in</a:t>
                      </a:r>
                    </a:p>
                  </a:txBody>
                  <a:tcPr>
                    <a:solidFill>
                      <a:srgbClr val="FFFFFF"/>
                    </a:solidFill>
                  </a:tcPr>
                </a:tc>
              </a:tr>
              <a:tr h="518160">
                <a:tc>
                  <a:txBody>
                    <a:bodyPr/>
                    <a:lstStyle/>
                    <a:p>
                      <a:pPr algn="l"/>
                      <a:r>
                        <a:rPr sz="1500" b="0" i="0">
                          <a:solidFill>
                            <a:srgbClr val="333333"/>
                          </a:solidFill>
                          <a:latin typeface="Calibri"/>
                        </a:rPr>
                        <a:t>« Plug &amp; supervise »</a:t>
                      </a:r>
                    </a:p>
                  </a:txBody>
                  <a:tcPr>
                    <a:solidFill>
                      <a:srgbClr val="F1F3F5"/>
                    </a:solidFill>
                  </a:tcPr>
                </a:tc>
                <a:tc>
                  <a:txBody>
                    <a:bodyPr/>
                    <a:lstStyle/>
                    <a:p>
                      <a:pPr algn="ctr"/>
                      <a:r>
                        <a:rPr sz="1500" b="0" i="0">
                          <a:solidFill>
                            <a:srgbClr val="333333"/>
                          </a:solidFill>
                          <a:latin typeface="Calibri"/>
                        </a:rPr>
                        <a:t>Onboarding d'un nouveau client en &lt; 30 min</a:t>
                      </a:r>
                    </a:p>
                  </a:txBody>
                  <a:tcPr>
                    <a:solidFill>
                      <a:srgbClr val="F1F3F5"/>
                    </a:solidFill>
                  </a:tcPr>
                </a:tc>
              </a:tr>
              <a:tr h="518160">
                <a:tc>
                  <a:txBody>
                    <a:bodyPr/>
                    <a:lstStyle/>
                    <a:p>
                      <a:pPr algn="l"/>
                      <a:r>
                        <a:rPr sz="1500" b="0" i="0">
                          <a:solidFill>
                            <a:srgbClr val="333333"/>
                          </a:solidFill>
                          <a:latin typeface="Calibri"/>
                        </a:rPr>
                        <a:t>Prête pour l'IA</a:t>
                      </a:r>
                    </a:p>
                  </a:txBody>
                  <a:tcPr>
                    <a:solidFill>
                      <a:srgbClr val="FFFFFF"/>
                    </a:solidFill>
                  </a:tcPr>
                </a:tc>
                <a:tc>
                  <a:txBody>
                    <a:bodyPr/>
                    <a:lstStyle/>
                    <a:p>
                      <a:pPr algn="ctr"/>
                      <a:r>
                        <a:rPr sz="1500" b="0" i="0">
                          <a:solidFill>
                            <a:srgbClr val="333333"/>
                          </a:solidFill>
                          <a:latin typeface="Calibri"/>
                        </a:rPr>
                        <a:t>Historique structuré → futur service prédictif vendable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et conception de la solution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déjà présentes chez OPEN MOISE, prototype réalisé et testé.</a:t>
            </a:r>
          </a:p>
          <a:p>
            <a:pPr>
              <a:spcAft>
                <a:spcPts val="800"/>
              </a:spcAft>
            </a:pPr>
            <a:r>
              <a:rPr sz="1900" b="0" i="0">
                <a:solidFill>
                  <a:srgbClr val="198754"/>
                </a:solidFill>
                <a:latin typeface="Calibri"/>
              </a:rPr>
              <a:t>•  Faisabilité économique ✓ — coût de licence nul, matériel mutualisé OPEN MOISE.</a:t>
            </a:r>
          </a:p>
          <a:p>
            <a:pPr>
              <a:spcAft>
                <a:spcPts val="800"/>
              </a:spcAft>
            </a:pPr>
            <a:r>
              <a:rPr sz="1900" b="0" i="0">
                <a:solidFill>
                  <a:srgbClr val="198754"/>
                </a:solidFill>
                <a:latin typeface="Calibri"/>
              </a:rPr>
              <a:t>•  Faisabilité organisationnelle ✓ — intégrable au processus d'astreinte d'OPEN MOISE.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(6 tables, dont une associative)</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6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1245620" y="1600200"/>
            <a:ext cx="3726679" cy="4572000"/>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4376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de la solution : point de vue technique</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Tableau de bord temps réel</a:t>
            </a:r>
          </a:p>
        </p:txBody>
      </p:sp>
      <p:pic>
        <p:nvPicPr>
          <p:cNvPr id="5" name="Picture 4" descr="capture-dashboard.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Vue d'ensemble OPEN MOISE : KPI, anneau de disponibilité (75 %), alertes actives et état de chaque équipement supervisé.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détection et alerte instantanée</a:t>
            </a:r>
          </a:p>
        </p:txBody>
      </p:sp>
      <p:pic>
        <p:nvPicPr>
          <p:cNvPr id="5" name="Picture 4" descr="capture-telegram.png"/>
          <p:cNvPicPr>
            <a:picLocks noChangeAspect="1"/>
          </p:cNvPicPr>
          <p:nvPr/>
        </p:nvPicPr>
        <p:blipFill>
          <a:blip r:embed="rId2"/>
          <a:stretch>
            <a:fillRect/>
          </a:stretch>
        </p:blipFill>
        <p:spPr>
          <a:xfrm>
            <a:off x="640080" y="1325880"/>
            <a:ext cx="2598202" cy="4754880"/>
          </a:xfrm>
          <a:prstGeom prst="rect">
            <a:avLst/>
          </a:prstGeom>
        </p:spPr>
      </p:pic>
      <p:sp>
        <p:nvSpPr>
          <p:cNvPr id="6" name="TextBox 5"/>
          <p:cNvSpPr txBox="1"/>
          <p:nvPr/>
        </p:nvSpPr>
        <p:spPr>
          <a:xfrm>
            <a:off x="457200" y="6172200"/>
            <a:ext cx="3108960" cy="457200"/>
          </a:xfrm>
          <a:prstGeom prst="rect">
            <a:avLst/>
          </a:prstGeom>
          <a:noFill/>
        </p:spPr>
        <p:txBody>
          <a:bodyPr wrap="square">
            <a:spAutoFit/>
          </a:bodyPr>
          <a:lstStyle/>
          <a:p>
            <a:pPr algn="ctr"/>
            <a:r>
              <a:rPr sz="1200" b="1" i="0">
                <a:solidFill>
                  <a:srgbClr val="0D3B66"/>
                </a:solidFill>
                <a:latin typeface="Calibri"/>
              </a:rPr>
              <a:t>Notification Telegram (astreinte OPEN MOISE)</a:t>
            </a:r>
          </a:p>
        </p:txBody>
      </p:sp>
      <p:pic>
        <p:nvPicPr>
          <p:cNvPr id="7" name="Picture 6" descr="capture-alertes.png"/>
          <p:cNvPicPr>
            <a:picLocks noChangeAspect="1"/>
          </p:cNvPicPr>
          <p:nvPr/>
        </p:nvPicPr>
        <p:blipFill>
          <a:blip r:embed="rId3"/>
          <a:stretch>
            <a:fillRect/>
          </a:stretch>
        </p:blipFill>
        <p:spPr>
          <a:xfrm>
            <a:off x="4023360" y="1554480"/>
            <a:ext cx="4892672" cy="3108960"/>
          </a:xfrm>
          <a:prstGeom prst="rect">
            <a:avLst/>
          </a:prstGeom>
        </p:spPr>
      </p:pic>
      <p:sp>
        <p:nvSpPr>
          <p:cNvPr id="8" name="TextBox 7"/>
          <p:cNvSpPr txBox="1"/>
          <p:nvPr/>
        </p:nvSpPr>
        <p:spPr>
          <a:xfrm>
            <a:off x="4023360" y="1325880"/>
            <a:ext cx="7589520" cy="320040"/>
          </a:xfrm>
          <a:prstGeom prst="rect">
            <a:avLst/>
          </a:prstGeom>
          <a:noFill/>
        </p:spPr>
        <p:txBody>
          <a:bodyPr wrap="square">
            <a:spAutoFit/>
          </a:bodyPr>
          <a:lstStyle/>
          <a:p>
            <a:pPr algn="ctr"/>
            <a:r>
              <a:rPr sz="1200" b="1" i="0">
                <a:solidFill>
                  <a:srgbClr val="0D3B66"/>
                </a:solidFill>
                <a:latin typeface="Calibri"/>
              </a:rPr>
              <a:t>Historique des alertes (traçabilité + acquittement)</a:t>
            </a:r>
          </a:p>
        </p:txBody>
      </p:sp>
      <p:sp>
        <p:nvSpPr>
          <p:cNvPr id="9" name="Rectangle 8"/>
          <p:cNvSpPr/>
          <p:nvPr/>
        </p:nvSpPr>
        <p:spPr>
          <a:xfrm>
            <a:off x="4023360" y="5029200"/>
            <a:ext cx="109728" cy="10972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33088" y="5029200"/>
            <a:ext cx="7479792" cy="10972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Chaîne complète : panne détectée → alerte e-mail + Telegram en &lt; 2 min → acquittement → preuve de SLA dans l'historique.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gestion des équipements</a:t>
            </a:r>
          </a:p>
        </p:txBody>
      </p:sp>
      <p:pic>
        <p:nvPicPr>
          <p:cNvPr id="5" name="Picture 4" descr="capture-equipements.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Inventaire du parc client : découverte automatique, statut, service supervisé et emplacement.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ce que chaque écran prouve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 pour OPEN MOISE</a:t>
                      </a:r>
                    </a:p>
                  </a:txBody>
                  <a:tcPr>
                    <a:solidFill>
                      <a:srgbClr val="0D3B66"/>
                    </a:solidFill>
                  </a:tcPr>
                </a:tc>
              </a:tr>
              <a:tr h="518160">
                <a:tc>
                  <a:txBody>
                    <a:bodyPr/>
                    <a:lstStyle/>
                    <a:p>
                      <a:pPr algn="l"/>
                      <a:r>
                        <a:rPr sz="1600" b="0" i="0">
                          <a:solidFill>
                            <a:srgbClr val="333333"/>
                          </a:solidFill>
                          <a:latin typeface="Calibri"/>
                        </a:rPr>
                        <a:t>Tableau de bord</a:t>
                      </a:r>
                    </a:p>
                  </a:txBody>
                  <a:tcPr>
                    <a:solidFill>
                      <a:srgbClr val="FFFFFF"/>
                    </a:solidFill>
                  </a:tcPr>
                </a:tc>
                <a:tc>
                  <a:txBody>
                    <a:bodyPr/>
                    <a:lstStyle/>
                    <a:p>
                      <a:pPr algn="ctr"/>
                      <a:r>
                        <a:rPr sz="1600" b="0" i="0">
                          <a:solidFill>
                            <a:srgbClr val="333333"/>
                          </a:solidFill>
                          <a:latin typeface="Calibri"/>
                        </a:rPr>
                        <a:t>Supervision temps réel, KPI, anneau de disponibilité</a:t>
                      </a:r>
                    </a:p>
                  </a:txBody>
                  <a:tcPr>
                    <a:solidFill>
                      <a:srgbClr val="FFFFFF"/>
                    </a:solidFill>
                  </a:tcPr>
                </a:tc>
              </a:tr>
              <a:tr h="518160">
                <a:tc>
                  <a:txBody>
                    <a:bodyPr/>
                    <a:lstStyle/>
                    <a:p>
                      <a:pPr algn="l"/>
                      <a:r>
                        <a:rPr sz="1600" b="0" i="0">
                          <a:solidFill>
                            <a:srgbClr val="333333"/>
                          </a:solidFill>
                          <a:latin typeface="Calibri"/>
                        </a:rPr>
                        <a:t>Équipements</a:t>
                      </a:r>
                    </a:p>
                  </a:txBody>
                  <a:tcPr>
                    <a:solidFill>
                      <a:srgbClr val="F1F3F5"/>
                    </a:solidFill>
                  </a:tcPr>
                </a:tc>
                <a:tc>
                  <a:txBody>
                    <a:bodyPr/>
                    <a:lstStyle/>
                    <a:p>
                      <a:pPr algn="ctr"/>
                      <a:r>
                        <a:rPr sz="1600" b="0" i="0">
                          <a:solidFill>
                            <a:srgbClr val="333333"/>
                          </a:solidFill>
                          <a:latin typeface="Calibri"/>
                        </a:rPr>
                        <a:t>Inventaire + découverte automatique des parcs clients</a:t>
                      </a:r>
                    </a:p>
                  </a:txBody>
                  <a:tcPr>
                    <a:solidFill>
                      <a:srgbClr val="F1F3F5"/>
                    </a:solidFill>
                  </a:tcPr>
                </a:tc>
              </a:tr>
              <a:tr h="518160">
                <a:tc>
                  <a:txBody>
                    <a:bodyPr/>
                    <a:lstStyle/>
                    <a:p>
                      <a:pPr algn="l"/>
                      <a:r>
                        <a:rPr sz="1600" b="0" i="0">
                          <a:solidFill>
                            <a:srgbClr val="333333"/>
                          </a:solidFill>
                          <a:latin typeface="Calibri"/>
                        </a:rPr>
                        <a:t>Alertes</a:t>
                      </a:r>
                    </a:p>
                  </a:txBody>
                  <a:tcPr>
                    <a:solidFill>
                      <a:srgbClr val="FFFFFF"/>
                    </a:solidFill>
                  </a:tcPr>
                </a:tc>
                <a:tc>
                  <a:txBody>
                    <a:bodyPr/>
                    <a:lstStyle/>
                    <a:p>
                      <a:pPr algn="ctr"/>
                      <a:r>
                        <a:rPr sz="1600" b="0" i="0">
                          <a:solidFill>
                            <a:srgbClr val="333333"/>
                          </a:solidFill>
                          <a:latin typeface="Calibri"/>
                        </a:rPr>
                        <a:t>Traçabilité + acquittement (preuve de SLA)</a:t>
                      </a:r>
                    </a:p>
                  </a:txBody>
                  <a:tcPr>
                    <a:solidFill>
                      <a:srgbClr val="FFFFFF"/>
                    </a:solidFill>
                  </a:tcPr>
                </a:tc>
              </a:tr>
              <a:tr h="518160">
                <a:tc>
                  <a:txBody>
                    <a:bodyPr/>
                    <a:lstStyle/>
                    <a:p>
                      <a:pPr algn="l"/>
                      <a:r>
                        <a:rPr sz="1600" b="0" i="0">
                          <a:solidFill>
                            <a:srgbClr val="333333"/>
                          </a:solidFill>
                          <a:latin typeface="Calibri"/>
                        </a:rPr>
                        <a:t>Notification Telegram</a:t>
                      </a:r>
                    </a:p>
                  </a:txBody>
                  <a:tcPr>
                    <a:solidFill>
                      <a:srgbClr val="F1F3F5"/>
                    </a:solidFill>
                  </a:tcPr>
                </a:tc>
                <a:tc>
                  <a:txBody>
                    <a:bodyPr/>
                    <a:lstStyle/>
                    <a:p>
                      <a:pPr algn="ctr"/>
                      <a:r>
                        <a:rPr sz="1600" b="0" i="0">
                          <a:solidFill>
                            <a:srgbClr val="333333"/>
                          </a:solidFill>
                          <a:latin typeface="Calibri"/>
                        </a:rPr>
                        <a:t>Astreinte alertée sur smartphone en &lt; 2 min</a:t>
                      </a:r>
                    </a:p>
                  </a:txBody>
                  <a:tcPr>
                    <a:solidFill>
                      <a:srgbClr val="F1F3F5"/>
                    </a:solidFill>
                  </a:tcPr>
                </a:tc>
              </a:tr>
              <a:tr h="518160">
                <a:tc>
                  <a:txBody>
                    <a:bodyPr/>
                    <a:lstStyle/>
                    <a:p>
                      <a:pPr algn="l"/>
                      <a:r>
                        <a:rPr sz="1600" b="0" i="0">
                          <a:solidFill>
                            <a:srgbClr val="333333"/>
                          </a:solidFill>
                          <a:latin typeface="Calibri"/>
                        </a:rPr>
                        <a:t>Rapports</a:t>
                      </a:r>
                    </a:p>
                  </a:txBody>
                  <a:tcPr>
                    <a:solidFill>
                      <a:srgbClr val="FFFFFF"/>
                    </a:solidFill>
                  </a:tcPr>
                </a:tc>
                <a:tc>
                  <a:txBody>
                    <a:bodyPr/>
                    <a:lstStyle/>
                    <a:p>
                      <a:pPr algn="ctr"/>
                      <a:r>
                        <a:rPr sz="1600" b="0" i="0">
                          <a:solidFill>
                            <a:srgbClr val="333333"/>
                          </a:solidFill>
                          <a:latin typeface="Calibri"/>
                        </a:rPr>
                        <a:t>Statistiques &amp; rapports de disponibilité exportables</a:t>
                      </a:r>
                    </a:p>
                  </a:txBody>
                  <a:tcPr>
                    <a:solidFill>
                      <a:srgbClr val="FFFFFF"/>
                    </a:solidFill>
                  </a:tcPr>
                </a:tc>
              </a:tr>
            </a:tbl>
          </a:graphicData>
        </a:graphic>
      </p:graphicFrame>
      <p:sp>
        <p:nvSpPr>
          <p:cNvPr id="6" name="Rectangle 5"/>
          <p:cNvSpPr/>
          <p:nvPr/>
        </p:nvSpPr>
        <p:spPr>
          <a:xfrm>
            <a:off x="640080" y="49377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Toutes ces captures proviennent de l'application réellement développée (Flask + Bootstrap), avec un parc client d'exemple.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D3B66"/>
                </a:solidFill>
                <a:latin typeface="Calibri"/>
              </a:rPr>
              <a:t>•  Double valeur pour OPEN MOISE :</a:t>
            </a:r>
          </a:p>
          <a:p>
            <a:pPr lvl="1">
              <a:spcAft>
                <a:spcPts val="800"/>
              </a:spcAft>
            </a:pPr>
            <a:r>
              <a:rPr sz="1500" b="0" i="0">
                <a:solidFill>
                  <a:srgbClr val="333333"/>
                </a:solidFill>
                <a:latin typeface="Calibri"/>
              </a:rPr>
              <a:t>–  Outil INTERNE : industrialise la supervision, fiabilise les SLA, réduit l'astreinte</a:t>
            </a:r>
          </a:p>
          <a:p>
            <a:pPr lvl="1">
              <a:spcAft>
                <a:spcPts val="800"/>
              </a:spcAft>
            </a:pPr>
            <a:r>
              <a:rPr sz="1500" b="0" i="0">
                <a:solidFill>
                  <a:srgbClr val="333333"/>
                </a:solidFill>
                <a:latin typeface="Calibri"/>
              </a:rPr>
              <a:t>–  Nouvelle OFFRE : « Supervision managée » vendue aux clients d'OPEN MOISE</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Proposition de valeur d'OPEN MOISE à ses clients :</a:t>
            </a:r>
          </a:p>
          <a:p>
            <a:pPr lvl="1">
              <a:spcAft>
                <a:spcPts val="800"/>
              </a:spcAft>
            </a:pPr>
            <a:r>
              <a:rPr sz="1500" b="0" i="0">
                <a:solidFill>
                  <a:srgbClr val="0D6EFD"/>
                </a:solidFill>
                <a:latin typeface="Calibri"/>
              </a:rPr>
              <a:t>–  « OPEN MOISE surveille votre réseau 24/7 et intervient avant que vous ne constatiez la panne. »</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Monétisation (offre de service) :</a:t>
            </a:r>
          </a:p>
          <a:p>
            <a:pPr lvl="1">
              <a:spcAft>
                <a:spcPts val="800"/>
              </a:spcAft>
            </a:pPr>
            <a:r>
              <a:rPr sz="1500" b="0" i="0">
                <a:solidFill>
                  <a:srgbClr val="333333"/>
                </a:solidFill>
                <a:latin typeface="Calibri"/>
              </a:rPr>
              <a:t>–  Abonnement mensuel de supervision managée (par site / par équipement)</a:t>
            </a:r>
          </a:p>
          <a:p>
            <a:pPr lvl="1">
              <a:spcAft>
                <a:spcPts val="800"/>
              </a:spcAft>
            </a:pPr>
            <a:r>
              <a:rPr sz="1500" b="0" i="0">
                <a:solidFill>
                  <a:srgbClr val="333333"/>
                </a:solidFill>
                <a:latin typeface="Calibri"/>
              </a:rPr>
              <a:t>–  Option Pro : SNMP, multi-sites, IA prédictive, rapports SLA avancés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Solution OPEN MOISE</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 (OPEN MOISE)</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Investissement d'OPEN MOISE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FCFA (open-source)</a:t>
                      </a:r>
                    </a:p>
                  </a:txBody>
                  <a:tcPr>
                    <a:solidFill>
                      <a:srgbClr val="FFFFFF"/>
                    </a:solidFill>
                  </a:tcPr>
                </a:tc>
              </a:tr>
              <a:tr h="475488">
                <a:tc>
                  <a:txBody>
                    <a:bodyPr/>
                    <a:lstStyle/>
                    <a:p>
                      <a:pPr algn="l"/>
                      <a:r>
                        <a:rPr sz="1500" b="0" i="0">
                          <a:solidFill>
                            <a:srgbClr val="333333"/>
                          </a:solidFill>
                          <a:latin typeface="Calibri"/>
                        </a:rPr>
                        <a:t>Serveur / VM (mutualisé)</a:t>
                      </a:r>
                    </a:p>
                  </a:txBody>
                  <a:tcPr>
                    <a:solidFill>
                      <a:srgbClr val="F1F3F5"/>
                    </a:solidFill>
                  </a:tcPr>
                </a:tc>
                <a:tc>
                  <a:txBody>
                    <a:bodyPr/>
                    <a:lstStyle/>
                    <a:p>
                      <a:pPr algn="ctr"/>
                      <a:r>
                        <a:rPr sz="1500" b="0" i="0">
                          <a:solidFill>
                            <a:srgbClr val="333333"/>
                          </a:solidFill>
                          <a:latin typeface="Calibri"/>
                        </a:rPr>
                        <a:t>~100 000 – 200 000 FCFA</a:t>
                      </a:r>
                    </a:p>
                  </a:txBody>
                  <a:tcPr>
                    <a:solidFill>
                      <a:srgbClr val="F1F3F5"/>
                    </a:solidFill>
                  </a:tcPr>
                </a:tc>
              </a:tr>
              <a:tr h="475488">
                <a:tc>
                  <a:txBody>
                    <a:bodyPr/>
                    <a:lstStyle/>
                    <a:p>
                      <a:pPr algn="l"/>
                      <a:r>
                        <a:rPr sz="1500" b="0" i="0">
                          <a:solidFill>
                            <a:srgbClr val="333333"/>
                          </a:solidFill>
                          <a:latin typeface="Calibri"/>
                        </a:rPr>
                        <a:t>Développement &amp; déploiement</a:t>
                      </a:r>
                    </a:p>
                  </a:txBody>
                  <a:tcPr>
                    <a:solidFill>
                      <a:srgbClr val="FFFFFF"/>
                    </a:solidFill>
                  </a:tcPr>
                </a:tc>
                <a:tc>
                  <a:txBody>
                    <a:bodyPr/>
                    <a:lstStyle/>
                    <a:p>
                      <a:pPr algn="ctr"/>
                      <a:r>
                        <a:rPr sz="1500" b="0" i="0">
                          <a:solidFill>
                            <a:srgbClr val="333333"/>
                          </a:solidFill>
                          <a:latin typeface="Calibri"/>
                        </a:rPr>
                        <a:t>Interne (réalisé)</a:t>
                      </a:r>
                    </a:p>
                  </a:txBody>
                  <a:tcPr>
                    <a:solidFill>
                      <a:srgbClr val="FFFFFF"/>
                    </a:solidFill>
                  </a:tcPr>
                </a:tc>
              </a:tr>
              <a:tr h="475488">
                <a:tc>
                  <a:txBody>
                    <a:bodyPr/>
                    <a:lstStyle/>
                    <a:p>
                      <a:pPr algn="l"/>
                      <a:r>
                        <a:rPr sz="1500" b="0" i="0">
                          <a:solidFill>
                            <a:srgbClr val="333333"/>
                          </a:solidFill>
                          <a:latin typeface="Calibri"/>
                        </a:rPr>
                        <a:t>Total d'entrée</a:t>
                      </a:r>
                    </a:p>
                  </a:txBody>
                  <a:tcPr>
                    <a:solidFill>
                      <a:srgbClr val="F1F3F5"/>
                    </a:solidFill>
                  </a:tcPr>
                </a:tc>
                <a:tc>
                  <a:txBody>
                    <a:bodyPr/>
                    <a:lstStyle/>
                    <a:p>
                      <a:pPr algn="ctr"/>
                      <a:r>
                        <a:rPr sz="1500" b="0" i="0">
                          <a:solidFill>
                            <a:srgbClr val="333333"/>
                          </a:solidFill>
                          <a:latin typeface="Calibri"/>
                        </a:rPr>
                        <a:t>≈ 130 000 FCFA</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600" b="1" i="0">
                <a:solidFill>
                  <a:srgbClr val="0D3B66"/>
                </a:solidFill>
                <a:latin typeface="Calibri"/>
              </a:rPr>
              <a:t>Revenus &amp; gains pour OPEN MOISE (an 1)</a:t>
            </a:r>
          </a:p>
        </p:txBody>
      </p:sp>
      <p:graphicFrame>
        <p:nvGraphicFramePr>
          <p:cNvPr id="8" name="Table 7"/>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D3B66"/>
                    </a:solidFill>
                  </a:tcPr>
                </a:tc>
                <a:tc>
                  <a:txBody>
                    <a:bodyPr/>
                    <a:lstStyle/>
                    <a:p>
                      <a:pPr algn="ctr"/>
                      <a:r>
                        <a:rPr sz="1300" b="1" i="0">
                          <a:solidFill>
                            <a:srgbClr val="FFFFFF"/>
                          </a:solidFill>
                          <a:latin typeface="Calibri"/>
                        </a:rPr>
                        <a:t>Hypothèse</a:t>
                      </a:r>
                    </a:p>
                  </a:txBody>
                  <a:tcPr>
                    <a:solidFill>
                      <a:srgbClr val="0D3B66"/>
                    </a:solidFill>
                  </a:tcPr>
                </a:tc>
                <a:tc>
                  <a:txBody>
                    <a:bodyPr/>
                    <a:lstStyle/>
                    <a:p>
                      <a:pPr algn="ctr"/>
                      <a:r>
                        <a:rPr sz="1300" b="1" i="0">
                          <a:solidFill>
                            <a:srgbClr val="FFFFFF"/>
                          </a:solidFill>
                          <a:latin typeface="Calibri"/>
                        </a:rPr>
                        <a:t>Montant</a:t>
                      </a:r>
                    </a:p>
                  </a:txBody>
                  <a:tcPr>
                    <a:solidFill>
                      <a:srgbClr val="0D3B66"/>
                    </a:solidFill>
                  </a:tcPr>
                </a:tc>
              </a:tr>
              <a:tr h="441960">
                <a:tc>
                  <a:txBody>
                    <a:bodyPr/>
                    <a:lstStyle/>
                    <a:p>
                      <a:pPr algn="l"/>
                      <a:r>
                        <a:rPr sz="1300" b="0" i="0">
                          <a:solidFill>
                            <a:srgbClr val="333333"/>
                          </a:solidFill>
                          <a:latin typeface="Calibri"/>
                        </a:rPr>
                        <a:t>Supervision managée</a:t>
                      </a:r>
                    </a:p>
                  </a:txBody>
                  <a:tcPr>
                    <a:solidFill>
                      <a:srgbClr val="FFFFFF"/>
                    </a:solidFill>
                  </a:tcPr>
                </a:tc>
                <a:tc>
                  <a:txBody>
                    <a:bodyPr/>
                    <a:lstStyle/>
                    <a:p>
                      <a:pPr algn="ctr"/>
                      <a:r>
                        <a:rPr sz="1300" b="0" i="0">
                          <a:solidFill>
                            <a:srgbClr val="333333"/>
                          </a:solidFill>
                          <a:latin typeface="Calibri"/>
                        </a:rPr>
                        <a:t>10 clients × 25 000 FCFA/mois</a:t>
                      </a:r>
                    </a:p>
                  </a:txBody>
                  <a:tcPr>
                    <a:solidFill>
                      <a:srgbClr val="FFFFFF"/>
                    </a:solidFill>
                  </a:tcPr>
                </a:tc>
                <a:tc>
                  <a:txBody>
                    <a:bodyPr/>
                    <a:lstStyle/>
                    <a:p>
                      <a:pPr algn="ctr"/>
                      <a:r>
                        <a:rPr sz="1300" b="1" i="0">
                          <a:solidFill>
                            <a:srgbClr val="198754"/>
                          </a:solidFill>
                          <a:latin typeface="Calibri"/>
                        </a:rPr>
                        <a:t>3 000 000 FCFA</a:t>
                      </a:r>
                    </a:p>
                  </a:txBody>
                  <a:tcPr>
                    <a:solidFill>
                      <a:srgbClr val="FFFFFF"/>
                    </a:solidFill>
                  </a:tcPr>
                </a:tc>
              </a:tr>
              <a:tr h="441960">
                <a:tc>
                  <a:txBody>
                    <a:bodyPr/>
                    <a:lstStyle/>
                    <a:p>
                      <a:pPr algn="l"/>
                      <a:r>
                        <a:rPr sz="1300" b="0" i="0">
                          <a:solidFill>
                            <a:srgbClr val="333333"/>
                          </a:solidFill>
                          <a:latin typeface="Calibri"/>
                        </a:rPr>
                        <a:t>Mise en service client</a:t>
                      </a:r>
                    </a:p>
                  </a:txBody>
                  <a:tcPr>
                    <a:solidFill>
                      <a:srgbClr val="F1F3F5"/>
                    </a:solidFill>
                  </a:tcPr>
                </a:tc>
                <a:tc>
                  <a:txBody>
                    <a:bodyPr/>
                    <a:lstStyle/>
                    <a:p>
                      <a:pPr algn="ctr"/>
                      <a:r>
                        <a:rPr sz="1300" b="0" i="0">
                          <a:solidFill>
                            <a:srgbClr val="333333"/>
                          </a:solidFill>
                          <a:latin typeface="Calibri"/>
                        </a:rPr>
                        <a:t>10 × 200 000 FCFA</a:t>
                      </a:r>
                    </a:p>
                  </a:txBody>
                  <a:tcPr>
                    <a:solidFill>
                      <a:srgbClr val="F1F3F5"/>
                    </a:solidFill>
                  </a:tcPr>
                </a:tc>
                <a:tc>
                  <a:txBody>
                    <a:bodyPr/>
                    <a:lstStyle/>
                    <a:p>
                      <a:pPr algn="ctr"/>
                      <a:r>
                        <a:rPr sz="1300" b="1" i="0">
                          <a:solidFill>
                            <a:srgbClr val="198754"/>
                          </a:solidFill>
                          <a:latin typeface="Calibri"/>
                        </a:rPr>
                        <a:t>2 000 000 FCFA</a:t>
                      </a:r>
                    </a:p>
                  </a:txBody>
                  <a:tcPr>
                    <a:solidFill>
                      <a:srgbClr val="F1F3F5"/>
                    </a:solidFill>
                  </a:tcPr>
                </a:tc>
              </a:tr>
              <a:tr h="441960">
                <a:tc>
                  <a:txBody>
                    <a:bodyPr/>
                    <a:lstStyle/>
                    <a:p>
                      <a:pPr algn="l"/>
                      <a:r>
                        <a:rPr sz="1300" b="0" i="0">
                          <a:solidFill>
                            <a:srgbClr val="333333"/>
                          </a:solidFill>
                          <a:latin typeface="Calibri"/>
                        </a:rPr>
                        <a:t>Option Pro (SNMP/IA)</a:t>
                      </a:r>
                    </a:p>
                  </a:txBody>
                  <a:tcPr>
                    <a:solidFill>
                      <a:srgbClr val="FFFFFF"/>
                    </a:solidFill>
                  </a:tcPr>
                </a:tc>
                <a:tc>
                  <a:txBody>
                    <a:bodyPr/>
                    <a:lstStyle/>
                    <a:p>
                      <a:pPr algn="ctr"/>
                      <a:r>
                        <a:rPr sz="1300" b="0" i="0">
                          <a:solidFill>
                            <a:srgbClr val="333333"/>
                          </a:solidFill>
                          <a:latin typeface="Calibri"/>
                        </a:rPr>
                        <a:t>3 × 325 000 FCFA</a:t>
                      </a:r>
                    </a:p>
                  </a:txBody>
                  <a:tcPr>
                    <a:solidFill>
                      <a:srgbClr val="FFFFFF"/>
                    </a:solidFill>
                  </a:tcPr>
                </a:tc>
                <a:tc>
                  <a:txBody>
                    <a:bodyPr/>
                    <a:lstStyle/>
                    <a:p>
                      <a:pPr algn="ctr"/>
                      <a:r>
                        <a:rPr sz="1300" b="1" i="0">
                          <a:solidFill>
                            <a:srgbClr val="198754"/>
                          </a:solidFill>
                          <a:latin typeface="Calibri"/>
                        </a:rPr>
                        <a:t>975 000 FCFA</a:t>
                      </a:r>
                    </a:p>
                  </a:txBody>
                  <a:tcPr>
                    <a:solidFill>
                      <a:srgbClr val="FFFFFF"/>
                    </a:solidFill>
                  </a:tcPr>
                </a:tc>
              </a:tr>
              <a:tr h="441960">
                <a:tc>
                  <a:txBody>
                    <a:bodyPr/>
                    <a:lstStyle/>
                    <a:p>
                      <a:pPr algn="l"/>
                      <a:r>
                        <a:rPr sz="1300" b="0" i="0">
                          <a:solidFill>
                            <a:srgbClr val="333333"/>
                          </a:solidFill>
                          <a:latin typeface="Calibri"/>
                        </a:rPr>
                        <a:t>Pénalités SLA évitées</a:t>
                      </a:r>
                    </a:p>
                  </a:txBody>
                  <a:tcPr>
                    <a:solidFill>
                      <a:srgbClr val="F1F3F5"/>
                    </a:solidFill>
                  </a:tcPr>
                </a:tc>
                <a:tc>
                  <a:txBody>
                    <a:bodyPr/>
                    <a:lstStyle/>
                    <a:p>
                      <a:pPr algn="ctr"/>
                      <a:r>
                        <a:rPr sz="1300" b="0" i="0">
                          <a:solidFill>
                            <a:srgbClr val="333333"/>
                          </a:solidFill>
                          <a:latin typeface="Calibri"/>
                        </a:rPr>
                        <a:t>estimation</a:t>
                      </a:r>
                    </a:p>
                  </a:txBody>
                  <a:tcPr>
                    <a:solidFill>
                      <a:srgbClr val="F1F3F5"/>
                    </a:solidFill>
                  </a:tcPr>
                </a:tc>
                <a:tc>
                  <a:txBody>
                    <a:bodyPr/>
                    <a:lstStyle/>
                    <a:p>
                      <a:pPr algn="ctr"/>
                      <a:r>
                        <a:rPr sz="1300" b="1" i="0">
                          <a:solidFill>
                            <a:srgbClr val="198754"/>
                          </a:solidFill>
                          <a:latin typeface="Calibri"/>
                        </a:rPr>
                        <a:t>+ gains</a:t>
                      </a:r>
                    </a:p>
                  </a:txBody>
                  <a:tcPr>
                    <a:solidFill>
                      <a:srgbClr val="F1F3F5"/>
                    </a:solidFill>
                  </a:tcPr>
                </a:tc>
              </a:tr>
              <a:tr h="441960">
                <a:tc>
                  <a:txBody>
                    <a:bodyPr/>
                    <a:lstStyle/>
                    <a:p>
                      <a:pPr algn="l"/>
                      <a:r>
                        <a:rPr sz="1300" b="0" i="0">
                          <a:solidFill>
                            <a:srgbClr val="333333"/>
                          </a:solidFill>
                          <a:latin typeface="Calibri"/>
                        </a:rPr>
                        <a:t>Total an 1</a:t>
                      </a:r>
                    </a:p>
                  </a:txBody>
                  <a:tcPr>
                    <a:solidFill>
                      <a:srgbClr val="FFFFFF"/>
                    </a:solidFill>
                  </a:tcPr>
                </a:tc>
                <a:tc>
                  <a:txBody>
                    <a:bodyPr/>
                    <a:lstStyle/>
                    <a:p>
                      <a:pPr algn="ctr"/>
                      <a:r>
                        <a:rPr sz="1300" b="0" i="0">
                          <a:solidFill>
                            <a:srgbClr val="333333"/>
                          </a:solidFill>
                          <a:latin typeface="Calibri"/>
                        </a:rPr>
                        <a:t/>
                      </a:r>
                    </a:p>
                  </a:txBody>
                  <a:tcPr>
                    <a:solidFill>
                      <a:srgbClr val="FFFFFF"/>
                    </a:solidFill>
                  </a:tcPr>
                </a:tc>
                <a:tc>
                  <a:txBody>
                    <a:bodyPr/>
                    <a:lstStyle/>
                    <a:p>
                      <a:pPr algn="ctr"/>
                      <a:r>
                        <a:rPr sz="1300" b="1" i="0">
                          <a:solidFill>
                            <a:srgbClr val="198754"/>
                          </a:solidFill>
                          <a:latin typeface="Calibri"/>
                        </a:rPr>
                        <a:t>≈ 6 000 000 FCFA</a:t>
                      </a:r>
                    </a:p>
                  </a:txBody>
                  <a:tcPr>
                    <a:solidFill>
                      <a:srgbClr val="FFFFFF"/>
                    </a:solidFill>
                  </a:tcPr>
                </a:tc>
              </a:tr>
            </a:tbl>
          </a:graphicData>
        </a:graphic>
      </p:graphicFrame>
      <p:sp>
        <p:nvSpPr>
          <p:cNvPr id="9" name="Rectangle 8"/>
          <p:cNvSpPr/>
          <p:nvPr/>
        </p:nvSpPr>
        <p:spPr>
          <a:xfrm>
            <a:off x="640080" y="5349240"/>
            <a:ext cx="109728" cy="8686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349240"/>
            <a:ext cx="10771632"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Double retour pour OPEN MOISE : revenus récurrents (offre managée) + économies internes (moins d'astreinte, pénalités SLA évitées). Investissement ≈ 130 000 FCFA amorti dès le 1er client.</a:t>
            </a:r>
          </a:p>
        </p:txBody>
      </p:sp>
      <p:sp>
        <p:nvSpPr>
          <p:cNvPr id="11" name="TextBox 10"/>
          <p:cNvSpPr txBox="1"/>
          <p:nvPr/>
        </p:nvSpPr>
        <p:spPr>
          <a:xfrm>
            <a:off x="640080" y="6355080"/>
            <a:ext cx="10972800" cy="320040"/>
          </a:xfrm>
          <a:prstGeom prst="rect">
            <a:avLst/>
          </a:prstGeom>
          <a:noFill/>
        </p:spPr>
        <p:txBody>
          <a:bodyPr wrap="square">
            <a:spAutoFit/>
          </a:bodyPr>
          <a:lstStyle/>
          <a:p>
            <a:r>
              <a:rPr sz="1000" b="0" i="1">
                <a:solidFill>
                  <a:srgbClr val="333333"/>
                </a:solidFill>
                <a:latin typeface="Calibri"/>
              </a:rPr>
              <a:t>Montants en francs CFA (XOF) — hypothèses indicatives à ajuster. Parité fixe : 1 € = 655,957 FCFA.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(feuille de route OPEN MOISE) :</a:t>
            </a:r>
          </a:p>
          <a:p>
            <a:pPr lvl="1">
              <a:spcAft>
                <a:spcPts val="600"/>
              </a:spcAft>
            </a:pPr>
            <a:r>
              <a:rPr sz="1600" b="0" i="0">
                <a:solidFill>
                  <a:srgbClr val="333333"/>
                </a:solidFill>
                <a:latin typeface="Calibri"/>
              </a:rPr>
              <a:t>–  Intégration SNMP (performances détaillées des équipements clients)</a:t>
            </a:r>
          </a:p>
          <a:p>
            <a:pPr lvl="1">
              <a:spcAft>
                <a:spcPts val="600"/>
              </a:spcAft>
            </a:pPr>
            <a:r>
              <a:rPr sz="1600" b="0" i="0">
                <a:solidFill>
                  <a:srgbClr val="333333"/>
                </a:solidFill>
                <a:latin typeface="Calibri"/>
              </a:rPr>
              <a:t>–  Machine Learning : détection d'anomalies sur l'historique multi-clients</a:t>
            </a:r>
          </a:p>
          <a:p>
            <a:pPr lvl="1">
              <a:spcAft>
                <a:spcPts val="600"/>
              </a:spcAft>
            </a:pPr>
            <a:r>
              <a:rPr sz="1600" b="0" i="0">
                <a:solidFill>
                  <a:srgbClr val="333333"/>
                </a:solidFill>
                <a:latin typeface="Calibri"/>
              </a:rPr>
              <a:t>–  Maintenance prédictive vendable comme offre premium · Auto-remédiation (AIOps)</a:t>
            </a:r>
          </a:p>
          <a:p>
            <a:pPr lvl="1">
              <a:spcAft>
                <a:spcPts val="600"/>
              </a:spcAft>
            </a:pPr>
            <a:r>
              <a:rPr sz="1600" b="0" i="0">
                <a:solidFill>
                  <a:srgbClr val="333333"/>
                </a:solidFill>
                <a:latin typeface="Calibri"/>
              </a:rPr>
              <a:t>–  Portail multi-clients · Conteneurisation (Docker/K8s) · SMS, Slack,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98754"/>
                </a:solidFill>
                <a:latin typeface="Calibri"/>
              </a:rPr>
              <a:t>•  Pour OPEN MOISE : un outil fonctionnel, testé, 100 % open-source</a:t>
            </a:r>
          </a:p>
          <a:p>
            <a:pPr>
              <a:spcAft>
                <a:spcPts val="1400"/>
              </a:spcAft>
            </a:pPr>
            <a:r>
              <a:rPr sz="2100" b="1" i="0">
                <a:solidFill>
                  <a:srgbClr val="198754"/>
                </a:solidFill>
                <a:latin typeface="Calibri"/>
              </a:rPr>
              <a:t>•  Détection temps réel (&lt; 2 min) → SLA clients mieux respectés</a:t>
            </a:r>
          </a:p>
          <a:p>
            <a:pPr>
              <a:spcAft>
                <a:spcPts val="1400"/>
              </a:spcAft>
            </a:pPr>
            <a:r>
              <a:rPr sz="2100" b="1" i="0">
                <a:solidFill>
                  <a:srgbClr val="198754"/>
                </a:solidFill>
                <a:latin typeface="Calibri"/>
              </a:rPr>
              <a:t>•  Double valeur : économies internes + nouvelle offre managée</a:t>
            </a:r>
          </a:p>
          <a:p>
            <a:pPr>
              <a:spcAft>
                <a:spcPts val="1400"/>
              </a:spcAft>
            </a:pPr>
            <a:r>
              <a:rPr sz="21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293042" y="1234440"/>
            <a:ext cx="7605611"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6 tables : utilisateurs, equipements, journaux, alertes, responsabilite (associative), statistiques — avec clés primaires (PK) et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