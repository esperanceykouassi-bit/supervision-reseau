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76" r:id="rId11"/>
    <p:sldId id="277" r:id="rId12"/>
    <p:sldId id="266" r:id="rId13"/>
    <p:sldId id="273" r:id="rId14"/>
    <p:sldId id="274" r:id="rId15"/>
    <p:sldId id="267" r:id="rId16"/>
    <p:sldId id="278" r:id="rId26"/>
    <p:sldId id="279" r:id="rId27"/>
    <p:sldId id="280" r:id="rId28"/>
    <p:sldId id="281" r:id="rId29"/>
    <p:sldId id="268" r:id="rId17"/>
    <p:sldId id="269" r:id="rId18"/>
    <p:sldId id="270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Coûts cumulés</c:v>
                </c:pt>
              </c:strCache>
            </c:strRef>
          </c:tx>
          <c:spPr>
            <a:solidFill>
              <a:srgbClr val="94A8B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Année 1</c:v>
                </c:pt>
                <c:pt idx="1">
                  <c:v>Année 2</c:v>
                </c:pt>
                <c:pt idx="2">
                  <c:v>Année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</c:v>
                </c:pt>
                <c:pt idx="1">
                  <c:v>4.0999999999999996</c:v>
                </c:pt>
                <c:pt idx="2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63-4EA0-BA38-2AC651CC33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Économies cumulées (pannes évitées)</c:v>
                </c:pt>
              </c:strCache>
            </c:strRef>
          </c:tx>
          <c:spPr>
            <a:solidFill>
              <a:srgbClr val="1C7C8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Année 1</c:v>
                </c:pt>
                <c:pt idx="1">
                  <c:v>Année 2</c:v>
                </c:pt>
                <c:pt idx="2">
                  <c:v>Année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3.9</c:v>
                </c:pt>
                <c:pt idx="1">
                  <c:v>9.8000000000000007</c:v>
                </c:pt>
                <c:pt idx="2">
                  <c:v>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63-4EA0-BA38-2AC651CC33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4748B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614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J'ai</a:t>
            </a:r>
            <a:r>
              <a:rPr dirty="0"/>
              <a:t> </a:t>
            </a:r>
            <a:r>
              <a:rPr dirty="0" err="1"/>
              <a:t>formalisé</a:t>
            </a:r>
            <a:r>
              <a:rPr dirty="0"/>
              <a:t> </a:t>
            </a:r>
            <a:r>
              <a:rPr dirty="0" err="1"/>
              <a:t>toute</a:t>
            </a:r>
            <a:r>
              <a:rPr dirty="0"/>
              <a:t> la conception avec sept </a:t>
            </a:r>
            <a:r>
              <a:rPr dirty="0" err="1"/>
              <a:t>diagrammes</a:t>
            </a:r>
            <a:r>
              <a:rPr dirty="0"/>
              <a:t> UML, du </a:t>
            </a:r>
            <a:r>
              <a:rPr dirty="0" err="1"/>
              <a:t>diagramme</a:t>
            </a:r>
            <a:r>
              <a:rPr dirty="0"/>
              <a:t> de </a:t>
            </a:r>
            <a:r>
              <a:rPr dirty="0" err="1"/>
              <a:t>contexte</a:t>
            </a:r>
            <a:r>
              <a:rPr dirty="0"/>
              <a:t> au </a:t>
            </a:r>
            <a:r>
              <a:rPr dirty="0" err="1"/>
              <a:t>diagramme</a:t>
            </a:r>
            <a:r>
              <a:rPr dirty="0"/>
              <a:t> de </a:t>
            </a:r>
            <a:r>
              <a:rPr dirty="0" err="1"/>
              <a:t>déploiement</a:t>
            </a:r>
            <a:r>
              <a:rPr dirty="0"/>
              <a:t>. Les versions </a:t>
            </a:r>
            <a:r>
              <a:rPr dirty="0" err="1"/>
              <a:t>pleine</a:t>
            </a:r>
            <a:r>
              <a:rPr dirty="0"/>
              <a:t> page </a:t>
            </a:r>
            <a:r>
              <a:rPr dirty="0" err="1"/>
              <a:t>figurent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annexe</a:t>
            </a:r>
            <a:r>
              <a:rPr dirty="0"/>
              <a:t> pour le </a:t>
            </a:r>
            <a:r>
              <a:rPr dirty="0" err="1"/>
              <a:t>détail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Pour la base de données, j'ai suivi la méthode MERISE : du modèle conceptuel - les entités et leurs associations, dont la relation utilisateur-équipement - vers le modèle logique - six tables, dont une table associative - implémenté ensuite en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26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484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768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6.png"/><Relationship Id="rId9" Type="http://schemas.openxmlformats.org/officeDocument/2006/relationships/image" Target="../media/image25.png"/><Relationship Id="rId10" Type="http://schemas.openxmlformats.org/officeDocument/2006/relationships/image" Target="../media/image4.png"/><Relationship Id="rId11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40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Relationship Id="rId4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777240" y="2057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PROJET DE FIN D'ÉTUDES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Automatisation de la Supervision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de la Détection des Pannes Réseau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777240" y="4343400"/>
            <a:ext cx="2377440" cy="411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8"/>
          <p:cNvSpPr/>
          <p:nvPr/>
        </p:nvSpPr>
        <p:spPr>
          <a:xfrm>
            <a:off x="803708" y="4384548"/>
            <a:ext cx="3829251" cy="1085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</a:t>
            </a: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Kouassi Yoo Nyong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Kra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Espérance</a:t>
            </a:r>
            <a:endParaRPr lang="en-US" sz="1300" b="1" dirty="0"/>
          </a:p>
        </p:txBody>
      </p:sp>
      <p:sp>
        <p:nvSpPr>
          <p:cNvPr id="12" name="Text 9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Reseaux Informatique et </a:t>
            </a:r>
            <a:r>
              <a:rPr lang="en-US" sz="1200" dirty="0" err="1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Télécomunication</a:t>
            </a:r>
            <a:endParaRPr lang="en-US" sz="1200" dirty="0">
              <a:solidFill>
                <a:srgbClr val="1C7C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r>
              <a:rPr lang="en-US" sz="12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académique 2025 – 2026</a:t>
            </a:r>
            <a:endParaRPr lang="en-US" sz="1200" dirty="0"/>
          </a:p>
        </p:txBody>
      </p:sp>
      <p:pic>
        <p:nvPicPr>
          <p:cNvPr id="19" name="Image 18" descr="Une image contenant clipart, Graphique, conceptio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E2FA862-5F77-F184-2B2F-8B3AA45F8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3332"/>
            <a:ext cx="1098081" cy="1098081"/>
          </a:xfrm>
          <a:prstGeom prst="rect">
            <a:avLst/>
          </a:prstGeom>
        </p:spPr>
      </p:pic>
      <p:pic>
        <p:nvPicPr>
          <p:cNvPr id="21" name="Image 20" descr="Une image contenant logo, Graphique, clipart, symbole&#10;&#10;Le contenu généré par l’IA peut être incorrect.">
            <a:extLst>
              <a:ext uri="{FF2B5EF4-FFF2-40B4-BE49-F238E27FC236}">
                <a16:creationId xmlns:a16="http://schemas.microsoft.com/office/drawing/2014/main" id="{1327C4F4-F8BA-43E7-60CB-E20541660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6199" y="228600"/>
            <a:ext cx="1098081" cy="1098081"/>
          </a:xfrm>
          <a:prstGeom prst="rect">
            <a:avLst/>
          </a:prstGeom>
        </p:spPr>
      </p:pic>
      <p:sp>
        <p:nvSpPr>
          <p:cNvPr id="22" name="Text 8">
            <a:extLst>
              <a:ext uri="{FF2B5EF4-FFF2-40B4-BE49-F238E27FC236}">
                <a16:creationId xmlns:a16="http://schemas.microsoft.com/office/drawing/2014/main" id="{5B647EE5-3E34-9E67-1302-79AB94BFBEFA}"/>
              </a:ext>
            </a:extLst>
          </p:cNvPr>
          <p:cNvSpPr/>
          <p:nvPr/>
        </p:nvSpPr>
        <p:spPr>
          <a:xfrm>
            <a:off x="6080759" y="4577614"/>
            <a:ext cx="5983705" cy="981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B0F19"/>
                </a:solidFill>
                <a:latin typeface="Inter Bold"/>
                <a:ea typeface="Inter Bold"/>
                <a:cs typeface="Inter Bold"/>
                <a:sym typeface="Inter Bold"/>
              </a:rPr>
              <a:t>Dr Alain CAPO-CHICHI</a:t>
            </a:r>
          </a:p>
          <a:p>
            <a:r>
              <a:rPr lang="en-US" sz="1400" b="1" i="1" dirty="0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Maître de </a:t>
            </a:r>
            <a:r>
              <a:rPr lang="en-US" sz="1400" b="1" i="1" dirty="0" err="1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Conférence</a:t>
            </a:r>
            <a:r>
              <a:rPr lang="en-US" sz="1400" b="1" i="1" dirty="0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des </a:t>
            </a:r>
            <a:r>
              <a:rPr lang="en-US" sz="1400" b="1" i="1" dirty="0" err="1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Universités</a:t>
            </a:r>
            <a:r>
              <a:rPr lang="en-US" sz="1400" b="1" i="1" dirty="0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du CAMES </a:t>
            </a:r>
            <a:r>
              <a:rPr lang="en-US" sz="1400" b="1" i="1" dirty="0" err="1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en</a:t>
            </a:r>
            <a:r>
              <a:rPr lang="en-US" sz="1400" b="1" i="1" dirty="0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sz="1400" b="1" i="1" dirty="0" err="1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Génie</a:t>
            </a:r>
            <a:r>
              <a:rPr lang="en-US" sz="1400" b="1" i="1" dirty="0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Informatique</a:t>
            </a:r>
          </a:p>
          <a:p>
            <a:pPr marL="0" indent="0">
              <a:buNone/>
            </a:pPr>
            <a:endParaRPr lang="en-US" sz="1400" b="1" dirty="0">
              <a:solidFill>
                <a:srgbClr val="0B0F19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L'annonce du sujet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6629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informatique est aujourd'hui le système nerveux de toute organisation : entreprises, banques, opérateurs télécoms, hôpitaux et administrations en dépendent en permanence. Or, sa supervision reste souvent manuelle et réactive : on intervient une fois la panne survenue, parfois signalée par l'utilisateur lui-même.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 thème 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6629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pannes réseau coûtent cher : interruptions de service, pertes financières et atteinte à l'image.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infrastructures deviennent vastes et complexes : difficiles à surveiller à l'œil humain.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L'automatisation et l'IA permettent désormais de détecter, voire d'anticiper, les incidents.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sujet à forte valeur métier, technique et professionnelle (DevOps, NOC, AIOps).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43800" y="1417320"/>
            <a:ext cx="4069080" cy="4663440"/>
          </a:xfrm>
          <a:prstGeom prst="roundRect">
            <a:avLst>
              <a:gd name="adj" fmla="val 2022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18120" y="1737360"/>
            <a:ext cx="822960" cy="82296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95681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L'enjeu en chiffres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18120" y="2670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5,4 M FCFA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81812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moyen d'une minute d'indisponibilité*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18120" y="36758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80 %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781812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incidents détectés trop tardivement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818120" y="46817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7818120" y="5212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aujourd'hui exigée par le métier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18120" y="5779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*ordre de grandeur sectoriel, à titre illustratif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530352"/>
            <a:ext cx="822960" cy="82296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31520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664208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CENTRAL DU PROJET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7280" y="2057400"/>
            <a:ext cx="9966960" cy="2331720"/>
          </a:xfrm>
          <a:prstGeom prst="roundRect">
            <a:avLst>
              <a:gd name="adj" fmla="val 3529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63040" y="2423160"/>
            <a:ext cx="2194560" cy="457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2606040"/>
            <a:ext cx="9235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100" b="1" i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Comment automatiser la supervision d'une infrastructure réseau afin de détecter — voire d'anticiper — les pannes en temps réel, tout en réduisant significativement le temps moyen de résolution (MTTR) et la charge des équipes techniques ? »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97280" y="4572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problématique se décline en trois questions clés 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97280" y="4983480"/>
            <a:ext cx="3200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353312" y="5221224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5349240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52212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Quoi surveiller ?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353312" y="57698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indicateurs et équipements suivre en continu ?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480560" y="4983480"/>
            <a:ext cx="3200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36592" y="5221224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5349240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52212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détecter ?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736592" y="57698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distinguer une anomalie d'un comportement normal ?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863840" y="4983480"/>
            <a:ext cx="3200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19872" y="5221224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5349240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32520" y="52212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réagir ?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8119872" y="57698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alerter et corriger automatiquement la panne ?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identification du problème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infrastructure de plus en plus critique, mais une supervision qui n'a pas suivi.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194560"/>
            <a:ext cx="621792" cy="62179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3408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2128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digitale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834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des équipements à surveiller : routeurs, switchs, serveurs, liens et services.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91072" y="19202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47104" y="2194560"/>
            <a:ext cx="621792" cy="62179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34086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42632" y="22128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artisanale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65392" y="2834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encore manuelle : scripts isolés, vérifications ponctuelles, pas de vue d'ensemble.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813048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087368"/>
            <a:ext cx="621792" cy="621792"/>
          </a:xfrm>
          <a:prstGeom prst="ellipse">
            <a:avLst/>
          </a:prstGeom>
          <a:solidFill>
            <a:srgbClr val="FFB703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23367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10565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tardive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14400" y="47274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L'incident est souvent découvert tard, voire signalé par l'utilisateur final lui-même.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91072" y="3813048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47104" y="4087368"/>
            <a:ext cx="621792" cy="62179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23367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42632" y="410565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MTTR élevé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565392" y="47274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lent et manuel : le temps moyen de résolution des pannes reste trop important.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56692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96112" y="5797296"/>
            <a:ext cx="530352" cy="530352"/>
          </a:xfrm>
          <a:prstGeom prst="ellipse">
            <a:avLst/>
          </a:prstGeom>
          <a:solidFill>
            <a:srgbClr val="FFB703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91616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57150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 </a:t>
            </a:r>
            <a:r>
              <a:rPr lang="en-US" sz="1300" dirty="0">
                <a:solidFill>
                  <a:srgbClr val="E5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outils existants puissants mais souvent réactifs, complexes ou coûteux — peu adaptés à une détection rapide et accessible des pannes.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et résultats attendus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AF2F6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72768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099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4630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général   </a:t>
            </a: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mettre en place une plateforme automatisée de supervision réseau capable de détecter et notifier les pannes en temps réel et de réduire le temps d'intervention des équipes.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spécifiques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880360"/>
            <a:ext cx="54864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30632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✓"/>
            </a:pPr>
            <a:r>
              <a:rPr sz="1250">
                <a:solidFill>
                  <a:srgbClr val="0F1B2D"/>
                </a:solidFill>
                <a:latin typeface="Calibri"/>
              </a:rPr>
              <a:t>Découvrir et superviser automatiquement les équipements (sondes ICMP et TCP).</a:t>
            </a:r>
            <a:endParaRPr lang="en-US" sz="1250" dirty="0"/>
          </a:p>
          <a:p>
            <a:pPr/>
            <a:r>
              <a:rPr sz="1250">
                <a:solidFill>
                  <a:srgbClr val="0F1B2D"/>
                </a:solidFill>
                <a:latin typeface="Calibri"/>
              </a:rPr>
              <a:t>Centraliser et historiser les données dans une base MySQL (traçabilité / SLA).</a:t>
            </a:r>
          </a:p>
          <a:p>
            <a:pPr/>
            <a:r>
              <a:rPr sz="1250">
                <a:solidFill>
                  <a:srgbClr val="0F1B2D"/>
                </a:solidFill>
                <a:latin typeface="Calibri"/>
              </a:rPr>
              <a:t>Détecter les pannes par seuil d'échecs consécutifs (anti-faux positif).</a:t>
            </a:r>
          </a:p>
          <a:p>
            <a:pPr/>
            <a:r>
              <a:rPr sz="1250">
                <a:solidFill>
                  <a:srgbClr val="0F1B2D"/>
                </a:solidFill>
                <a:latin typeface="Calibri"/>
              </a:rPr>
              <a:t>Émettre des alertes multicanal en temps réel (e-mail + Telegram).</a:t>
            </a:r>
          </a:p>
          <a:p>
            <a:pPr/>
            <a:r>
              <a:rPr sz="1250">
                <a:solidFill>
                  <a:srgbClr val="0F1B2D"/>
                </a:solidFill>
                <a:latin typeface="Calibri"/>
              </a:rPr>
              <a:t>Visualiser l'état du réseau via un tableau de bord web temps réel.</a:t>
            </a:r>
          </a:p>
        </p:txBody>
      </p:sp>
      <p:sp>
        <p:nvSpPr>
          <p:cNvPr id="12" name="Text 9"/>
          <p:cNvSpPr/>
          <p:nvPr/>
        </p:nvSpPr>
        <p:spPr>
          <a:xfrm>
            <a:off x="640080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attendus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288036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3063240"/>
            <a:ext cx="457200" cy="45720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18211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01968" y="35387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−70 %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6601968" y="394106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temps moyen de résolution (MTTR)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9098280" y="288036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299448" y="3063240"/>
            <a:ext cx="457200" cy="45720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318211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99448" y="35387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9299448" y="394106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détection d'une panne critique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400800" y="4453128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4636008"/>
            <a:ext cx="457200" cy="45720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75488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01968" y="51114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601968" y="55138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équipements supervisés en continu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098280" y="4453128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299448" y="4636008"/>
            <a:ext cx="457200" cy="45720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0" y="4754880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99448" y="51114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9299448" y="55138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proactif et automatisé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méthodologique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approche itérative et incrémentale, inspirée des méthodes agiles et du cycle de vie d'un projet d'ingénierie.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2322576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besoins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3108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 des exigences, équipements à superviser, métriques clés.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25112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53712" y="21945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15" name="Text 12"/>
          <p:cNvSpPr/>
          <p:nvPr/>
        </p:nvSpPr>
        <p:spPr>
          <a:xfrm>
            <a:off x="455371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068312" y="219456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2322576"/>
            <a:ext cx="246888" cy="2468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53712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l'existant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53712" y="3108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des outils de supervision et de leurs limites.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10144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38744" y="21945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22" name="Text 18"/>
          <p:cNvSpPr/>
          <p:nvPr/>
        </p:nvSpPr>
        <p:spPr>
          <a:xfrm>
            <a:off x="823874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0753344" y="219456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2322576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38744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238744" y="3108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choix technologiques, modèle de données.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0080" y="3977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29" name="Text 24"/>
          <p:cNvSpPr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3383280" y="420624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334256"/>
            <a:ext cx="246888" cy="2468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68680" y="4754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Implémentation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868680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de la collecte, du stockage, des alertes et dashboards.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325112" y="3977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553712" y="420624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6" name="Text 30"/>
          <p:cNvSpPr/>
          <p:nvPr/>
        </p:nvSpPr>
        <p:spPr>
          <a:xfrm>
            <a:off x="4553712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7068312" y="420624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6328" y="4334256"/>
            <a:ext cx="246888" cy="24688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553712" y="4754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&amp; validation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4553712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 pannes, tests de charge, réglage des seuils/ML.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8010144" y="3977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238744" y="420624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43" name="Text 36"/>
          <p:cNvSpPr/>
          <p:nvPr/>
        </p:nvSpPr>
        <p:spPr>
          <a:xfrm>
            <a:off x="8238744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10753344" y="420624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0" y="4334256"/>
            <a:ext cx="246888" cy="24688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238744" y="4754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</a:t>
            </a:r>
            <a:endParaRPr lang="en-US" sz="1500" dirty="0"/>
          </a:p>
        </p:txBody>
      </p:sp>
      <p:sp>
        <p:nvSpPr>
          <p:cNvPr id="47" name="Text 39"/>
          <p:cNvSpPr/>
          <p:nvPr/>
        </p:nvSpPr>
        <p:spPr>
          <a:xfrm>
            <a:off x="8238744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production, documentation et transfert de compétences.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des lieux &amp; solution proposée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existantes : forces et limites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577840" cy="252374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principale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lourde, surtout réactif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Zabbix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Courbe d'apprentissage, peu de prédictif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Propriétaire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par capteurs, coût élevé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SolarWinds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Propriétaire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Onéreux, peu adapté aux PME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 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détection intelligente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4348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: des outils puissants mais souvent réactifs, complexes et/ou coûteux — peu accessibles aux structures moyennes.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92240" y="173736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6766560" y="1993392"/>
            <a:ext cx="713232" cy="713232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2157984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solution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766560" y="2788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open source, légère et modulaire, qui combine :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58000" y="333756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✓"/>
            </a:pPr>
            <a:r>
              <a:rPr sz="1250">
                <a:solidFill>
                  <a:srgbClr val="FFFFFF"/>
                </a:solidFill>
                <a:latin typeface="Calibri"/>
              </a:rPr>
              <a:t>Découverte automatique des équipements (scan CIDR parallélisé)</a:t>
            </a:r>
            <a:endParaRPr lang="en-US" sz="1250" dirty="0"/>
          </a:p>
          <a:p>
            <a:pPr/>
            <a:r>
              <a:rPr sz="1250">
                <a:solidFill>
                  <a:srgbClr val="FFFFFF"/>
                </a:solidFill>
                <a:latin typeface="Calibri"/>
              </a:rPr>
              <a:t>Supervision temps réel par sondes ICMP et TCP (services)</a:t>
            </a:r>
          </a:p>
          <a:p>
            <a:pPr/>
            <a:r>
              <a:rPr sz="1250">
                <a:solidFill>
                  <a:srgbClr val="FFFFFF"/>
                </a:solidFill>
                <a:latin typeface="Calibri"/>
              </a:rPr>
              <a:t>Alerting multicanal e-mail + Telegram (avec anti-spam)</a:t>
            </a:r>
          </a:p>
          <a:p>
            <a:pPr/>
            <a:r>
              <a:rPr sz="1250">
                <a:solidFill>
                  <a:srgbClr val="FFFFFF"/>
                </a:solidFill>
                <a:latin typeface="Calibri"/>
              </a:rPr>
              <a:t>Journalisation complète : historique et preuve de disponibilité (SLA)</a:t>
            </a:r>
          </a:p>
          <a:p>
            <a:pPr/>
            <a:r>
              <a:rPr sz="1250">
                <a:solidFill>
                  <a:srgbClr val="FFFFFF"/>
                </a:solidFill>
                <a:latin typeface="Calibri"/>
              </a:rPr>
              <a:t>Tableau de bord web (Flask + Bootstrap) clair et accessible</a:t>
            </a:r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Axe de différenciation — Innovation technologique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d'une supervision réactive à une supervision AUTOMATISÉE, TEMPS RÉEL et ACCESSIBLE : la différence clé du projet.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713232" cy="71323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45059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2677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 err="1">
                <a:solidFill>
                  <a:srgbClr val="0A2342"/>
                </a:solidFill>
                <a:latin typeface="Cambria" pitchFamily="34" charset="0"/>
                <a:ea typeface="Cambria" pitchFamily="34" charset="-122"/>
              </a:rPr>
              <a:t>Alerte</a:t>
            </a:r>
            <a:r>
              <a:rPr lang="en-US" sz="16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</a:rPr>
              <a:t> Telegram Native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783080" y="29077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8000"/>
              </a:lnSpc>
            </a:pPr>
            <a:r>
              <a:rPr lang="fr-FR" sz="1200" b="0" i="0" dirty="0">
                <a:solidFill>
                  <a:srgbClr val="333333"/>
                </a:solidFill>
                <a:latin typeface="Calibri"/>
              </a:rPr>
              <a:t>Astreinte alertée partout, sans coût de notification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20116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286000"/>
            <a:ext cx="713232" cy="71323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45059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2677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50" b="1">
                <a:solidFill>
                  <a:srgbClr val="0A2342"/>
                </a:solidFill>
                <a:latin typeface="Cambria"/>
              </a:rPr>
              <a:t>Légèreté &amp; gratuité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452360" y="29077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150">
                <a:solidFill>
                  <a:srgbClr val="64748B"/>
                </a:solidFill>
                <a:latin typeface="Calibri"/>
              </a:rPr>
              <a:t>Tourne sur une simple VM ; 0 FCFA de licence (100 % open-source).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69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343400"/>
            <a:ext cx="713232" cy="71323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50799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3251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50" b="1">
                <a:solidFill>
                  <a:srgbClr val="0A2342"/>
                </a:solidFill>
                <a:latin typeface="Cambria"/>
              </a:rPr>
              <a:t>Code 100 % maîtrisé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783080" y="49651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150">
                <a:solidFill>
                  <a:srgbClr val="64748B"/>
                </a:solidFill>
                <a:latin typeface="Calibri"/>
              </a:rPr>
              <a:t>Solution ouverte et personnalisable, sans dépendance éditeur (vendor lock-in).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309360" y="4069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4343400"/>
            <a:ext cx="713232" cy="71323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450799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43251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50" b="1">
                <a:solidFill>
                  <a:srgbClr val="0A2342"/>
                </a:solidFill>
                <a:latin typeface="Cambria"/>
              </a:rPr>
              <a:t>Traçabilité &amp; anti-faux positif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7452360" y="49651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150">
                <a:solidFill>
                  <a:srgbClr val="64748B"/>
                </a:solidFill>
                <a:latin typeface="Calibri"/>
              </a:rPr>
              <a:t>Seuil d'échecs + une seule alerte par panne ; historique = preuve de SLA.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valeur : simplicité + automatisation + accessibilité, là où les outils classiques s'arrêtent à l'alerte.</a:t>
            </a:r>
            <a:endParaRPr lang="en-US" sz="1150" dirty="0"/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faisabilité et conception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627632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7647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Faisabilité technique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25786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Briques open source matures, compétences disponibles, matériel standard.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3716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1627632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7647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Faisabilité économique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99432" y="25786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d'investissement faibles ; ROI rapide via la baisse des pannes.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1627632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76479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Faisabilité organisationnelle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02752" y="25786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Intégrable au NOC existant ; conduite du changement légère.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</a:t>
            </a:r>
            <a:r>
              <a:rPr lang="en-US" sz="1500" b="1" dirty="0" err="1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conceptuelle</a:t>
            </a:r>
            <a:r>
              <a:rPr lang="en-US" sz="15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(5 couches)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214122" y="3913632"/>
            <a:ext cx="1984248" cy="1810512"/>
          </a:xfrm>
          <a:prstGeom prst="roundRect">
            <a:avLst>
              <a:gd name="adj" fmla="val 45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2" name="Shape 17"/>
          <p:cNvSpPr/>
          <p:nvPr/>
        </p:nvSpPr>
        <p:spPr>
          <a:xfrm>
            <a:off x="785662" y="4018868"/>
            <a:ext cx="585216" cy="585216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921" y="416517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-20915" y="4608255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0" y="5135399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Tableau de bord Flask, </a:t>
            </a:r>
            <a:r>
              <a:rPr lang="en-US" sz="1050" dirty="0" err="1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 Chart.js, API REST</a:t>
            </a:r>
            <a:endParaRPr lang="en-US" sz="10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2378" y="4553712"/>
            <a:ext cx="365760" cy="3657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2674600" y="3919567"/>
            <a:ext cx="2029968" cy="1828800"/>
          </a:xfrm>
          <a:prstGeom prst="roundRect">
            <a:avLst>
              <a:gd name="adj" fmla="val 45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396581" y="4037717"/>
            <a:ext cx="585216" cy="585216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2532955" y="4622933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Notification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2606040" y="5053423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e-mail + Telegram</a:t>
            </a:r>
            <a:endParaRPr lang="en-US" sz="10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1621" y="4604084"/>
            <a:ext cx="365760" cy="36576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113341" y="3952294"/>
            <a:ext cx="2100493" cy="1828800"/>
          </a:xfrm>
          <a:prstGeom prst="roundRect">
            <a:avLst>
              <a:gd name="adj" fmla="val 45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4" name="Shape 25"/>
          <p:cNvSpPr/>
          <p:nvPr/>
        </p:nvSpPr>
        <p:spPr>
          <a:xfrm>
            <a:off x="5786206" y="4086726"/>
            <a:ext cx="585216" cy="585216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2510" y="4233030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042577" y="4640419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Traitement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5138888" y="5134757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 err="1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</a:t>
            </a: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Python, Cron, Sondes ICMP/TCP, </a:t>
            </a:r>
            <a:r>
              <a:rPr lang="en-US" sz="1050" dirty="0" err="1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</a:t>
            </a:r>
            <a:endParaRPr lang="en-US" sz="105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664" y="4651087"/>
            <a:ext cx="365760" cy="36576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7554948" y="3962561"/>
            <a:ext cx="2155894" cy="1828800"/>
          </a:xfrm>
          <a:prstGeom prst="roundRect">
            <a:avLst>
              <a:gd name="adj" fmla="val 45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0" name="Shape 29"/>
          <p:cNvSpPr/>
          <p:nvPr/>
        </p:nvSpPr>
        <p:spPr>
          <a:xfrm>
            <a:off x="8200403" y="4086726"/>
            <a:ext cx="585216" cy="585216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sp>
        <p:nvSpPr>
          <p:cNvPr id="42" name="Text 30"/>
          <p:cNvSpPr/>
          <p:nvPr/>
        </p:nvSpPr>
        <p:spPr>
          <a:xfrm>
            <a:off x="7418765" y="4642585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Données</a:t>
            </a:r>
            <a:endParaRPr lang="en-US" sz="1400" dirty="0"/>
          </a:p>
        </p:txBody>
      </p:sp>
      <p:sp>
        <p:nvSpPr>
          <p:cNvPr id="43" name="Text 31"/>
          <p:cNvSpPr/>
          <p:nvPr/>
        </p:nvSpPr>
        <p:spPr>
          <a:xfrm>
            <a:off x="7457889" y="5075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050">
                <a:solidFill>
                  <a:srgbClr val="C7D7E2"/>
                </a:solidFill>
                <a:latin typeface="Calibri"/>
              </a:rPr>
              <a:t>Base de données</a:t>
            </a:r>
            <a:endParaRPr lang="en-US" sz="1050" dirty="0"/>
          </a:p>
          <a:p>
            <a:pPr algn="ctr"/>
            <a:r>
              <a:rPr sz="1050">
                <a:solidFill>
                  <a:srgbClr val="C7D7E2"/>
                </a:solidFill>
                <a:latin typeface="Calibri"/>
              </a:rPr>
              <a:t>MySQL (équipements,</a:t>
            </a:r>
          </a:p>
          <a:p>
            <a:pPr algn="ctr"/>
            <a:r>
              <a:rPr sz="1050">
                <a:solidFill>
                  <a:srgbClr val="C7D7E2"/>
                </a:solidFill>
                <a:latin typeface="Calibri"/>
              </a:rPr>
              <a:t>journaux, alertes…)</a:t>
            </a:r>
          </a:p>
        </p:txBody>
      </p:sp>
      <p:sp>
        <p:nvSpPr>
          <p:cNvPr id="44" name="Text 32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46" name="Image 8" descr="preencoded.png">
            <a:extLst>
              <a:ext uri="{FF2B5EF4-FFF2-40B4-BE49-F238E27FC236}">
                <a16:creationId xmlns:a16="http://schemas.microsoft.com/office/drawing/2014/main" id="{DD5AC24A-92DC-2E3D-E53C-75DD5BB57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842" y="4654296"/>
            <a:ext cx="365760" cy="365760"/>
          </a:xfrm>
          <a:prstGeom prst="rect">
            <a:avLst/>
          </a:prstGeom>
        </p:spPr>
      </p:pic>
      <p:sp>
        <p:nvSpPr>
          <p:cNvPr id="47" name="Shape 16">
            <a:extLst>
              <a:ext uri="{FF2B5EF4-FFF2-40B4-BE49-F238E27FC236}">
                <a16:creationId xmlns:a16="http://schemas.microsoft.com/office/drawing/2014/main" id="{CEBAC429-C1B5-7FC8-2471-A55AC54BBEAB}"/>
              </a:ext>
            </a:extLst>
          </p:cNvPr>
          <p:cNvSpPr/>
          <p:nvPr/>
        </p:nvSpPr>
        <p:spPr>
          <a:xfrm>
            <a:off x="10078586" y="3953899"/>
            <a:ext cx="1899292" cy="1810512"/>
          </a:xfrm>
          <a:prstGeom prst="roundRect">
            <a:avLst>
              <a:gd name="adj" fmla="val 45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9" name="Text 30">
            <a:extLst>
              <a:ext uri="{FF2B5EF4-FFF2-40B4-BE49-F238E27FC236}">
                <a16:creationId xmlns:a16="http://schemas.microsoft.com/office/drawing/2014/main" id="{F83073B0-566C-8317-5E44-482AAD72B3FF}"/>
              </a:ext>
            </a:extLst>
          </p:cNvPr>
          <p:cNvSpPr/>
          <p:nvPr/>
        </p:nvSpPr>
        <p:spPr>
          <a:xfrm>
            <a:off x="9893722" y="45537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Système</a:t>
            </a:r>
            <a:endParaRPr lang="en-US" sz="1400" dirty="0"/>
          </a:p>
        </p:txBody>
      </p:sp>
      <p:pic>
        <p:nvPicPr>
          <p:cNvPr id="50" name="Image 5" descr="preencoded.png">
            <a:extLst>
              <a:ext uri="{FF2B5EF4-FFF2-40B4-BE49-F238E27FC236}">
                <a16:creationId xmlns:a16="http://schemas.microsoft.com/office/drawing/2014/main" id="{919A2BC3-1CBB-1C04-BE73-0C983E941A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1782" y="4240570"/>
            <a:ext cx="292608" cy="292608"/>
          </a:xfrm>
          <a:prstGeom prst="rect">
            <a:avLst/>
          </a:prstGeom>
        </p:spPr>
      </p:pic>
      <p:pic>
        <p:nvPicPr>
          <p:cNvPr id="51" name="Image 9" descr="preencoded.png">
            <a:extLst>
              <a:ext uri="{FF2B5EF4-FFF2-40B4-BE49-F238E27FC236}">
                <a16:creationId xmlns:a16="http://schemas.microsoft.com/office/drawing/2014/main" id="{1585F485-C546-88BF-A13D-6DD5DD5BD9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412" y="4174597"/>
            <a:ext cx="292608" cy="292608"/>
          </a:xfrm>
          <a:prstGeom prst="rect">
            <a:avLst/>
          </a:prstGeom>
        </p:spPr>
      </p:pic>
      <p:sp>
        <p:nvSpPr>
          <p:cNvPr id="53" name="Text 31">
            <a:extLst>
              <a:ext uri="{FF2B5EF4-FFF2-40B4-BE49-F238E27FC236}">
                <a16:creationId xmlns:a16="http://schemas.microsoft.com/office/drawing/2014/main" id="{45852830-3A4C-DA50-8EBE-0A615026867C}"/>
              </a:ext>
            </a:extLst>
          </p:cNvPr>
          <p:cNvSpPr/>
          <p:nvPr/>
        </p:nvSpPr>
        <p:spPr>
          <a:xfrm>
            <a:off x="9806940" y="5117913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 err="1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Linux Ubuntu Server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22.04 LTS</a:t>
            </a:r>
            <a:endParaRPr lang="en-US" sz="1050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EA7C22E-E4BD-7E9F-CEC2-E3FBDA284F3F}"/>
              </a:ext>
            </a:extLst>
          </p:cNvPr>
          <p:cNvSpPr/>
          <p:nvPr/>
        </p:nvSpPr>
        <p:spPr>
          <a:xfrm>
            <a:off x="10721254" y="4053118"/>
            <a:ext cx="585216" cy="585216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55" name="Image 0" descr="preencoded.png">
            <a:extLst>
              <a:ext uri="{FF2B5EF4-FFF2-40B4-BE49-F238E27FC236}">
                <a16:creationId xmlns:a16="http://schemas.microsoft.com/office/drawing/2014/main" id="{1636230E-B05D-379D-E641-7B22D5B8E1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4406" y="4104775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20040" y="201168"/>
            <a:ext cx="658368" cy="658368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107743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 dirty="0">
                <a:solidFill>
                  <a:srgbClr val="FFFFFF"/>
                </a:solidFill>
                <a:latin typeface="Calibri"/>
              </a:rPr>
              <a:t>Conception UML — les 7 </a:t>
            </a:r>
            <a:r>
              <a:rPr sz="3000" b="1" i="0" dirty="0" err="1">
                <a:solidFill>
                  <a:srgbClr val="FFFFFF"/>
                </a:solidFill>
                <a:latin typeface="Calibri"/>
              </a:rPr>
              <a:t>diagrammes</a:t>
            </a:r>
            <a:endParaRPr sz="30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" name="Picture 4" descr="diagramme-contex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25880"/>
            <a:ext cx="2743200" cy="979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1. Contexte</a:t>
            </a:r>
          </a:p>
        </p:txBody>
      </p:sp>
      <p:pic>
        <p:nvPicPr>
          <p:cNvPr id="7" name="Picture 6" descr="cas-utili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325880"/>
            <a:ext cx="2743200" cy="10654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27832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2. Cas d'utilisation</a:t>
            </a:r>
          </a:p>
        </p:txBody>
      </p:sp>
      <p:pic>
        <p:nvPicPr>
          <p:cNvPr id="9" name="Picture 8" descr="diagramme-sequ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939" y="1325880"/>
            <a:ext cx="274257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35624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3. Séquence</a:t>
            </a:r>
          </a:p>
        </p:txBody>
      </p:sp>
      <p:pic>
        <p:nvPicPr>
          <p:cNvPr id="11" name="Picture 10" descr="diagramme-activ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2744" y="1325880"/>
            <a:ext cx="1344544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3416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4. Activité</a:t>
            </a:r>
          </a:p>
        </p:txBody>
      </p:sp>
      <p:pic>
        <p:nvPicPr>
          <p:cNvPr id="13" name="Picture 12" descr="diagramme-class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977640"/>
            <a:ext cx="2743200" cy="11656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6144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5. Classes</a:t>
            </a:r>
          </a:p>
        </p:txBody>
      </p:sp>
      <p:pic>
        <p:nvPicPr>
          <p:cNvPr id="15" name="Picture 14" descr="diagramme-composa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7832" y="3977640"/>
            <a:ext cx="2743200" cy="15809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27832" y="6144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6. Composants</a:t>
            </a:r>
          </a:p>
        </p:txBody>
      </p:sp>
      <p:pic>
        <p:nvPicPr>
          <p:cNvPr id="17" name="Picture 16" descr="diagramme-deploiem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5624" y="3977640"/>
            <a:ext cx="2743200" cy="11914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35624" y="6144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7. Déploiement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20040" y="201168"/>
            <a:ext cx="658368" cy="658368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107743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MERISE : du MCD au MLD (base MySQL, 6 tables)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3B66"/>
                </a:solidFill>
                <a:latin typeface="Calibri"/>
              </a:rPr>
              <a:t>MCD — Modèle Conceptuel</a:t>
            </a:r>
          </a:p>
        </p:txBody>
      </p:sp>
      <p:pic>
        <p:nvPicPr>
          <p:cNvPr id="6" name="Picture 5" descr="m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620" y="1600200"/>
            <a:ext cx="3726679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3B66"/>
                </a:solidFill>
                <a:latin typeface="Calibri"/>
              </a:rPr>
              <a:t>MLD — Modèle Logique</a:t>
            </a:r>
          </a:p>
        </p:txBody>
      </p:sp>
      <p:pic>
        <p:nvPicPr>
          <p:cNvPr id="8" name="Picture 7" descr="m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00200"/>
            <a:ext cx="5394960" cy="34376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 — point de vue technique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de bout en bout, de la mesure à la réaction automatique.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03120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23113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0312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Collecte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27157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fr-FR" sz="1100" b="0" i="0" dirty="0">
                <a:solidFill>
                  <a:srgbClr val="333333"/>
                </a:solidFill>
                <a:latin typeface="Calibri"/>
              </a:rPr>
              <a:t>CRON déclenche le moteur toutes les 2 minutes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4416552" y="187452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103120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2311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210312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Stockage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45152" y="27157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fr-FR" sz="1100" b="0" i="0" dirty="0">
                <a:solidFill>
                  <a:srgbClr val="333333"/>
                </a:solidFill>
                <a:latin typeface="Calibri"/>
              </a:rPr>
              <a:t>Charge les équipements (MySQL) puis sonde ICMP (ping) + TCP (service)</a:t>
            </a:r>
          </a:p>
        </p:txBody>
      </p:sp>
      <p:sp>
        <p:nvSpPr>
          <p:cNvPr id="16" name="Shape 12"/>
          <p:cNvSpPr/>
          <p:nvPr/>
        </p:nvSpPr>
        <p:spPr>
          <a:xfrm>
            <a:off x="8193024" y="187452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1624" y="2103120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2311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61704" y="210312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Analyse &amp; détection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21624" y="27157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fr-FR" sz="1100" b="0" i="0" dirty="0">
                <a:solidFill>
                  <a:srgbClr val="333333"/>
                </a:solidFill>
                <a:latin typeface="Calibri"/>
              </a:rPr>
              <a:t>Met à jour le statut + journalise chaque vérification</a:t>
            </a:r>
          </a:p>
        </p:txBody>
      </p:sp>
      <p:sp>
        <p:nvSpPr>
          <p:cNvPr id="21" name="Shape 16"/>
          <p:cNvSpPr/>
          <p:nvPr/>
        </p:nvSpPr>
        <p:spPr>
          <a:xfrm>
            <a:off x="640080" y="385876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8680" y="4087368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21538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087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Alerte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68680" y="4700016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sz="1070">
                <a:solidFill>
                  <a:srgbClr val="64748B"/>
                </a:solidFill>
                <a:latin typeface="Calibri"/>
              </a:rPr>
              <a:t>Le gestionnaire d'alertes confirme la panne (seuil d'échecs), évite le spam et route vers e-mail + Telegram.</a:t>
            </a:r>
            <a:endParaRPr lang="en-US" sz="1070" dirty="0"/>
          </a:p>
        </p:txBody>
      </p:sp>
      <p:sp>
        <p:nvSpPr>
          <p:cNvPr id="26" name="Shape 20"/>
          <p:cNvSpPr/>
          <p:nvPr/>
        </p:nvSpPr>
        <p:spPr>
          <a:xfrm>
            <a:off x="4416552" y="385876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45152" y="4087368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21538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85232" y="4087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Réaction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645152" y="4700016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fr-FR" sz="1100" b="0" i="0" dirty="0">
                <a:solidFill>
                  <a:srgbClr val="333333"/>
                </a:solidFill>
                <a:latin typeface="Calibri"/>
              </a:rPr>
              <a:t>Retour en ligne (UP) → notification de rétablissement automatique</a:t>
            </a:r>
            <a:endParaRPr lang="en-US" sz="1070" dirty="0"/>
          </a:p>
        </p:txBody>
      </p:sp>
      <p:sp>
        <p:nvSpPr>
          <p:cNvPr id="31" name="Shape 24"/>
          <p:cNvSpPr/>
          <p:nvPr/>
        </p:nvSpPr>
        <p:spPr>
          <a:xfrm>
            <a:off x="8193024" y="385876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21624" y="4087368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9640" y="421538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61704" y="4087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Visualisation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421624" y="4700016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sz="1070">
                <a:solidFill>
                  <a:srgbClr val="64748B"/>
                </a:solidFill>
                <a:latin typeface="Calibri"/>
              </a:rPr>
              <a:t>Tableau de bord web (Flask) temps réel : KPI, statuts, historiques et rapports pour le pilotage.</a:t>
            </a:r>
            <a:endParaRPr lang="en-US" sz="1070" dirty="0"/>
          </a:p>
        </p:txBody>
      </p:sp>
      <p:sp>
        <p:nvSpPr>
          <p:cNvPr id="36" name="Text 2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91640"/>
            <a:ext cx="777240" cy="77724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7373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de la démo en direct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sz="1250">
                <a:solidFill>
                  <a:srgbClr val="EAF2F6"/>
                </a:solidFill>
                <a:latin typeface="Calibri"/>
              </a:rPr>
              <a:t>Présentation du tableau de bord : état global du réseau en temps réel.</a:t>
            </a:r>
            <a:endParaRPr lang="en-US" sz="1250" dirty="0"/>
          </a:p>
          <a:p>
            <a:pPr/>
            <a:r>
              <a:rPr sz="1250">
                <a:solidFill>
                  <a:srgbClr val="EAF2F6"/>
                </a:solidFill>
                <a:latin typeface="Calibri"/>
              </a:rPr>
              <a:t>Simulation d'une panne (équipement éteint / service arrêté).</a:t>
            </a:r>
          </a:p>
          <a:p>
            <a:pPr/>
            <a:r>
              <a:rPr sz="1250">
                <a:solidFill>
                  <a:srgbClr val="EAF2F6"/>
                </a:solidFill>
                <a:latin typeface="Calibri"/>
              </a:rPr>
              <a:t>Détection automatique au cycle suivant (&lt; 2 min).</a:t>
            </a:r>
          </a:p>
          <a:p>
            <a:pPr/>
            <a:r>
              <a:rPr sz="1250">
                <a:solidFill>
                  <a:srgbClr val="EAF2F6"/>
                </a:solidFill>
                <a:latin typeface="Calibri"/>
              </a:rPr>
              <a:t>Réception de l'alerte par e-mail et Telegram (smartphone).</a:t>
            </a:r>
          </a:p>
          <a:p>
            <a:pPr/>
            <a:r>
              <a:rPr sz="1250">
                <a:solidFill>
                  <a:srgbClr val="EAF2F6"/>
                </a:solidFill>
                <a:latin typeface="Calibri"/>
              </a:rPr>
              <a:t>Acquittement de l'alerte par le technicien.</a:t>
            </a:r>
          </a:p>
          <a:p>
            <a:pPr/>
            <a:r>
              <a:rPr sz="1250">
                <a:solidFill>
                  <a:srgbClr val="EAF2F6"/>
                </a:solidFill>
                <a:latin typeface="Calibri"/>
              </a:rPr>
              <a:t>Retour à la normale visualisé sur le tableau de bord + rapport.</a:t>
            </a:r>
          </a:p>
        </p:txBody>
      </p:sp>
      <p:sp>
        <p:nvSpPr>
          <p:cNvPr id="10" name="Shape 7"/>
          <p:cNvSpPr/>
          <p:nvPr/>
        </p:nvSpPr>
        <p:spPr>
          <a:xfrm>
            <a:off x="6400800" y="1417320"/>
            <a:ext cx="52120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démonstration prouve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20840" y="219456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32257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1762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panne est vue avant tout signalement utilisateur.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720840" y="3127248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325526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60920" y="3108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Réactivité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+ alerte en moins d'une minute.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720840" y="4059936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4187952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60920" y="40416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sz="1300" b="1">
                <a:solidFill>
                  <a:srgbClr val="0A2342"/>
                </a:solidFill>
                <a:latin typeface="Calibri"/>
              </a:rPr>
              <a:t>Traçabilité  Historique horodaté = preuve de SLA pour le client.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720840" y="4992624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856" y="5120640"/>
            <a:ext cx="246888" cy="2468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497433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claire pour décideurs comme techniciens.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675120" y="553212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EAF2F6"/>
          </a:solidFill>
          <a:ln/>
        </p:spPr>
      </p:sp>
      <p:sp>
        <p:nvSpPr>
          <p:cNvPr id="25" name="Text 18"/>
          <p:cNvSpPr/>
          <p:nvPr/>
        </p:nvSpPr>
        <p:spPr>
          <a:xfrm>
            <a:off x="6812280" y="55321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 prévoir une vidéo de secours en cas de souci réseau le jour J.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72092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828800" y="17373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28" name="Picture 4" descr="capture-dashboard.png">
            <a:extLst>
              <a:ext uri="{FF2B5EF4-FFF2-40B4-BE49-F238E27FC236}">
                <a16:creationId xmlns:a16="http://schemas.microsoft.com/office/drawing/2014/main" id="{60FFE8E2-5473-7022-5E22-81A4A109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441" y="1234440"/>
            <a:ext cx="7626812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07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828800" y="17373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de la démo en direct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tableau de bord : état global du réseau en temps réel.</a:t>
            </a:r>
            <a:endParaRPr lang="en-US" sz="1250" dirty="0"/>
          </a:p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volontaire d'une panne (lien coupé / service arrêté).</a:t>
            </a:r>
            <a:endParaRPr lang="en-US" sz="1250" dirty="0"/>
          </a:p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en quelques secondes par la plateforme.</a:t>
            </a:r>
            <a:endParaRPr lang="en-US" sz="1250" dirty="0"/>
          </a:p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de l'alerte sur le canal configuré (e-mail / Telegram).</a:t>
            </a:r>
            <a:endParaRPr lang="en-US" sz="1250" dirty="0"/>
          </a:p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Déclenchement de l'action corrective automatique (auto-healing).</a:t>
            </a:r>
            <a:endParaRPr lang="en-US" sz="1250" dirty="0"/>
          </a:p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à la normale visualisé sur le dashboard + rapport d'incident.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28" name="Picture 4" descr="capture-telegram.png">
            <a:extLst>
              <a:ext uri="{FF2B5EF4-FFF2-40B4-BE49-F238E27FC236}">
                <a16:creationId xmlns:a16="http://schemas.microsoft.com/office/drawing/2014/main" id="{8FD4660B-2556-68AD-D52D-732CFCCEE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598202" cy="4754880"/>
          </a:xfrm>
          <a:prstGeom prst="rect">
            <a:avLst/>
          </a:prstGeom>
        </p:spPr>
      </p:pic>
      <p:pic>
        <p:nvPicPr>
          <p:cNvPr id="29" name="Picture 6" descr="capture-alertes.png">
            <a:extLst>
              <a:ext uri="{FF2B5EF4-FFF2-40B4-BE49-F238E27FC236}">
                <a16:creationId xmlns:a16="http://schemas.microsoft.com/office/drawing/2014/main" id="{0C85F104-5D79-2810-13DD-7A8F3DDED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581563"/>
            <a:ext cx="4892672" cy="310896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377284F-C042-5C62-F77F-A9BB8E1405B4}"/>
              </a:ext>
            </a:extLst>
          </p:cNvPr>
          <p:cNvSpPr/>
          <p:nvPr/>
        </p:nvSpPr>
        <p:spPr>
          <a:xfrm>
            <a:off x="4133088" y="5029200"/>
            <a:ext cx="7479792" cy="109728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700" b="1" i="1" dirty="0" err="1">
                <a:solidFill>
                  <a:srgbClr val="0D3B66"/>
                </a:solidFill>
                <a:latin typeface="Calibri"/>
              </a:rPr>
              <a:t>Chaîne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complète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: panne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détectée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→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alerte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e-mail + Telegram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en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&lt; 2 min →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acquittement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→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preuve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de SLA dans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l'historique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CFEB00-27B8-58A5-AB5D-BC8FD5569BF1}"/>
              </a:ext>
            </a:extLst>
          </p:cNvPr>
          <p:cNvSpPr/>
          <p:nvPr/>
        </p:nvSpPr>
        <p:spPr>
          <a:xfrm>
            <a:off x="4023360" y="5029200"/>
            <a:ext cx="109728" cy="109728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0672288-170C-4D0A-5123-F28ED274AAD1}"/>
              </a:ext>
            </a:extLst>
          </p:cNvPr>
          <p:cNvSpPr txBox="1"/>
          <p:nvPr/>
        </p:nvSpPr>
        <p:spPr>
          <a:xfrm>
            <a:off x="498952" y="6134926"/>
            <a:ext cx="586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0" dirty="0">
                <a:solidFill>
                  <a:srgbClr val="0D3B66"/>
                </a:solidFill>
                <a:latin typeface="Calibri"/>
              </a:rPr>
              <a:t>Notification </a:t>
            </a:r>
            <a:r>
              <a:rPr lang="fr-FR" sz="1200" b="1" i="0" dirty="0" err="1">
                <a:solidFill>
                  <a:srgbClr val="0D3B66"/>
                </a:solidFill>
                <a:latin typeface="Calibri"/>
              </a:rPr>
              <a:t>Telegram</a:t>
            </a:r>
            <a:r>
              <a:rPr lang="fr-FR" sz="1200" b="1" i="0" dirty="0">
                <a:solidFill>
                  <a:srgbClr val="0D3B66"/>
                </a:solidFill>
                <a:latin typeface="Calibri"/>
              </a:rPr>
              <a:t> (astreinte technique)</a:t>
            </a:r>
            <a:endParaRPr lang="fr-FR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Marketing, vente et concurrence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54480" y="196596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PME/PMI, opérateurs, data centers, écoles, administrations disposant d'un réseau critique mais d'un budget limité.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9260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154680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918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économique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554480" y="347472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open source + offre de services : déploiement, support, abonnement de maintenance (SaaS / on-premise).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43484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663440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006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617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Positionnement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54480" y="498348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supervision intelligente accessible » : la puissance de l'IA sans le coût des suites propriétaires.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0" y="1417320"/>
            <a:ext cx="5212080" cy="4526280"/>
          </a:xfrm>
          <a:prstGeom prst="roundRect">
            <a:avLst>
              <a:gd name="adj" fmla="val 1818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75120" y="1673352"/>
            <a:ext cx="685800" cy="68580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1837944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1737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 concurrentiel</a:t>
            </a:r>
            <a:endParaRPr lang="en-US" sz="16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264261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25877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</a:t>
            </a: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à l'achat vs licences élevées</a:t>
            </a:r>
            <a:endParaRPr lang="en-US" sz="12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300984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32320" y="3246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: </a:t>
            </a: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prédictive intégrée</a:t>
            </a:r>
            <a:endParaRPr lang="en-US" sz="12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959352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32320" y="390448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Simplicité : </a:t>
            </a: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rapide, dashboards clairs</a:t>
            </a:r>
            <a:endParaRPr lang="en-US" sz="12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461772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132320" y="456285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Flexibilité : </a:t>
            </a: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Modulaire et adaptable au besoin</a:t>
            </a:r>
            <a:endParaRPr lang="en-US" sz="12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5276088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132320" y="522122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 : </a:t>
            </a: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hébergées en interne possible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Prévisions financières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initial maîtrisé et retour sur investissement rapide (chiffres indicatifs, à ajuster selon le contexte).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299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 b="1">
                <a:solidFill>
                  <a:srgbClr val="1C7C84"/>
                </a:solidFill>
                <a:latin typeface="Cambria"/>
              </a:rPr>
              <a:t>≈ 130 000 FCFA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64748B"/>
                </a:solidFill>
                <a:latin typeface="Calibri"/>
              </a:rPr>
              <a:t>Investissement initial (serveur / VM, mise en place)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0299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 b="1">
                <a:solidFill>
                  <a:srgbClr val="1C7C84"/>
                </a:solidFill>
                <a:latin typeface="Cambria"/>
              </a:rPr>
              <a:t>≈ 6 000 000 FCFA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64748B"/>
                </a:solidFill>
                <a:latin typeface="Calibri"/>
              </a:rPr>
              <a:t>Revenus prévisionnels an 1 (offre de supervision managée)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0299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 b="1">
                <a:solidFill>
                  <a:srgbClr val="5FE3D3"/>
                </a:solidFill>
                <a:latin typeface="Cambria"/>
              </a:rPr>
              <a:t>≈ 1 client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75320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C7D7E2"/>
                </a:solidFill>
                <a:latin typeface="Calibri"/>
              </a:rPr>
              <a:t>Seuil de rentabilité (amorti dès le 1er client)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 sur 3 ans (en millions FCFA)</a:t>
            </a:r>
            <a:endParaRPr lang="en-US" sz="13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40080" y="3794760"/>
          <a:ext cx="6400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7315200" y="3794760"/>
            <a:ext cx="4297680" cy="2331720"/>
          </a:xfrm>
          <a:prstGeom prst="roundRect">
            <a:avLst>
              <a:gd name="adj" fmla="val 3529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589520" y="4041648"/>
            <a:ext cx="640080" cy="64008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197096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66760" y="4069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Rentabilité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89520" y="48006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panne majeure évitée peut couvrir plusieurs mois d'exploitation de la plateforme. Au-delà de l'an 1, le gain net devient nettement positif.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du projet et perspectives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574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→"/>
            </a:pPr>
            <a:r>
              <a:rPr sz="1300">
                <a:solidFill>
                  <a:srgbClr val="0F1B2D"/>
                </a:solidFill>
                <a:latin typeface="Calibri"/>
              </a:rPr>
              <a:t>Supervision active (ICMP/TCP) : pas encore de métriques internes (CPU/RAM) sans SNMP.</a:t>
            </a:r>
            <a:endParaRPr lang="en-US" sz="1300" dirty="0"/>
          </a:p>
          <a:p>
            <a:pPr/>
            <a:r>
              <a:rPr sz="1300">
                <a:solidFill>
                  <a:srgbClr val="0F1B2D"/>
                </a:solidFill>
                <a:latin typeface="Calibri"/>
              </a:rPr>
              <a:t>Réactivité bornée par l'intervalle de cycle (2 minutes).</a:t>
            </a:r>
          </a:p>
          <a:p>
            <a:pPr/>
            <a:r>
              <a:rPr sz="1300">
                <a:solidFill>
                  <a:srgbClr val="0F1B2D"/>
                </a:solidFill>
                <a:latin typeface="Calibri"/>
              </a:rPr>
              <a:t>Les alertes dépendent de la connectivité Internet sortante.</a:t>
            </a:r>
          </a:p>
          <a:p>
            <a:pPr/>
            <a:r>
              <a:rPr sz="1300">
                <a:solidFill>
                  <a:srgbClr val="0F1B2D"/>
                </a:solidFill>
                <a:latin typeface="Calibri"/>
              </a:rPr>
              <a:t>Le serveur de supervision doit être redondé pour les environnements critiques.</a:t>
            </a:r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d'évolution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975104"/>
            <a:ext cx="530352" cy="53035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210312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69480" y="187452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sz="1350" b="1">
                <a:solidFill>
                  <a:srgbClr val="0A2342"/>
                </a:solidFill>
                <a:latin typeface="Calibri"/>
              </a:rPr>
              <a:t>IA &amp; maintenance prédictive</a:t>
            </a:r>
            <a:endParaRPr lang="en-US" sz="1350" dirty="0"/>
          </a:p>
          <a:p>
            <a:pPr/>
            <a:r>
              <a:rPr sz="1350" b="1">
                <a:solidFill>
                  <a:srgbClr val="0A2342"/>
                </a:solidFill>
                <a:latin typeface="Calibri"/>
              </a:rPr>
              <a:t>Détection d'anomalies et anticipation des pannes (apprentissage automatique).</a:t>
            </a:r>
          </a:p>
        </p:txBody>
      </p:sp>
      <p:sp>
        <p:nvSpPr>
          <p:cNvPr id="13" name="Shape 10"/>
          <p:cNvSpPr/>
          <p:nvPr/>
        </p:nvSpPr>
        <p:spPr>
          <a:xfrm>
            <a:off x="6400800" y="2807208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29400" y="2999232"/>
            <a:ext cx="530352" cy="53035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312724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8986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sz="1350" b="1">
                <a:solidFill>
                  <a:srgbClr val="0A2342"/>
                </a:solidFill>
                <a:latin typeface="Calibri"/>
              </a:rPr>
              <a:t>Auto-remédiation (AIOps)</a:t>
            </a:r>
            <a:endParaRPr lang="en-US" sz="1350" dirty="0"/>
          </a:p>
          <a:p>
            <a:pPr/>
            <a:r>
              <a:rPr sz="1350" b="1">
                <a:solidFill>
                  <a:srgbClr val="0A2342"/>
                </a:solidFill>
                <a:latin typeface="Calibri"/>
              </a:rPr>
              <a:t>Actions correctives automatiques (auto-healing) sur scénarios sûrs.</a:t>
            </a:r>
          </a:p>
        </p:txBody>
      </p:sp>
      <p:sp>
        <p:nvSpPr>
          <p:cNvPr id="17" name="Shape 13"/>
          <p:cNvSpPr/>
          <p:nvPr/>
        </p:nvSpPr>
        <p:spPr>
          <a:xfrm>
            <a:off x="6400800" y="3831336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29400" y="4023360"/>
            <a:ext cx="530352" cy="53035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415137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69480" y="3922776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la détection d'intrusions et d'attaques (NDR).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400800" y="4855464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29400" y="5047488"/>
            <a:ext cx="530352" cy="53035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517550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946904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sz="1350" b="1">
                <a:solidFill>
                  <a:srgbClr val="0A2342"/>
                </a:solidFill>
                <a:latin typeface="Calibri"/>
              </a:rPr>
              <a:t>Passage à l'échelle</a:t>
            </a:r>
            <a:endParaRPr lang="en-US" sz="1350" dirty="0"/>
          </a:p>
          <a:p>
            <a:pPr/>
            <a:r>
              <a:rPr sz="1350" b="1">
                <a:solidFill>
                  <a:srgbClr val="0A2342"/>
                </a:solidFill>
                <a:latin typeface="Calibri"/>
              </a:rPr>
              <a:t>Supervision multi-sites, SNMP et environnements cloud / hybrides.</a:t>
            </a:r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65836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répond à un besoin concret : faire passer la supervision réseau d'une logique réactive et manuelle à une approche automatisée, intelligente et temps réel.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108960"/>
            <a:ext cx="603504" cy="60350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25526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Réduction du MTTR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914400" y="41330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et résolution accélérées des incidents.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43400" y="2834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17720" y="3108960"/>
            <a:ext cx="603504" cy="60350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325526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Proactivité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617720" y="41330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pannes plutôt que les subir.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46720" y="2834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21040" y="3108960"/>
            <a:ext cx="603504" cy="60350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3255264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Automatisation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321040" y="41330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Alléger la charge des équipes techniques.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40080" y="48920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d'un outil, c'est une démarche d'ingénierie alliant réseau, automatisation et intelligence artificielle, avec un fort potentiel d'évolution.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731520" cy="731520"/>
          </a:xfrm>
          <a:prstGeom prst="roundRect">
            <a:avLst/>
          </a:prstGeom>
          <a:solidFill>
            <a:srgbClr val="0A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5FE3D3"/>
                </a:solidFill>
                <a:latin typeface="Cambr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10149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A2342"/>
                </a:solidFill>
                <a:latin typeface="Cambria"/>
              </a:rPr>
              <a:t>Démonstration — Connexion sécurisée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1328" y="1207008"/>
            <a:ext cx="137160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pture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295" y="1417320"/>
            <a:ext cx="719510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Automatisation de la Supervision et de la Détection des Pannes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731520" cy="731520"/>
          </a:xfrm>
          <a:prstGeom prst="roundRect">
            <a:avLst/>
          </a:prstGeom>
          <a:solidFill>
            <a:srgbClr val="0A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5FE3D3"/>
                </a:solidFill>
                <a:latin typeface="Cambr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10149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A2342"/>
                </a:solidFill>
                <a:latin typeface="Cambria"/>
              </a:rPr>
              <a:t>Démonstration — Gestion des équipements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1328" y="1207008"/>
            <a:ext cx="137160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pture-equip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295" y="1417320"/>
            <a:ext cx="719510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Automatisation de la Supervision et de la Détection des Pannes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731520" cy="731520"/>
          </a:xfrm>
          <a:prstGeom prst="roundRect">
            <a:avLst/>
          </a:prstGeom>
          <a:solidFill>
            <a:srgbClr val="0A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5FE3D3"/>
                </a:solidFill>
                <a:latin typeface="Cambr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10149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A2342"/>
                </a:solidFill>
                <a:latin typeface="Cambria"/>
              </a:rPr>
              <a:t>Démonstration — Historique des alertes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1328" y="1207008"/>
            <a:ext cx="137160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295" y="1417320"/>
            <a:ext cx="719510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Automatisation de la Supervision et de la Détection des Pannes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731520" cy="731520"/>
          </a:xfrm>
          <a:prstGeom prst="roundRect">
            <a:avLst/>
          </a:prstGeom>
          <a:solidFill>
            <a:srgbClr val="0A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5FE3D3"/>
                </a:solidFill>
                <a:latin typeface="Cambr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10149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A2342"/>
                </a:solidFill>
                <a:latin typeface="Cambria"/>
              </a:rPr>
              <a:t>Démonstration — Rapports et statistiques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1328" y="1207008"/>
            <a:ext cx="137160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pture-rap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295" y="1417320"/>
            <a:ext cx="719510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Automatisation de la Supervision et de la Détection des Pannes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2025</Words>
  <Application>Microsoft Office PowerPoint</Application>
  <PresentationFormat>Grand écran</PresentationFormat>
  <Paragraphs>300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Inter Bold</vt:lpstr>
      <vt:lpstr>Inter Bold Italics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Automatisation de la Supervision et de la Détection des Pannes Réseau</dc:title>
  <dc:subject>PptxGenJS Presentation</dc:subject>
  <dc:creator>Soutenance Mémoire</dc:creator>
  <cp:lastModifiedBy>Espérance Kouassi</cp:lastModifiedBy>
  <cp:revision>2</cp:revision>
  <dcterms:created xsi:type="dcterms:W3CDTF">2026-06-10T20:20:01Z</dcterms:created>
  <dcterms:modified xsi:type="dcterms:W3CDTF">2026-06-10T23:40:58Z</dcterms:modified>
</cp:coreProperties>
</file>